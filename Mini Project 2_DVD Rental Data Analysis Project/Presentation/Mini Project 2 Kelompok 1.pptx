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8288000" cy="10287000"/>
  <p:notesSz cx="6858000" cy="9144000"/>
  <p:embeddedFontLst>
    <p:embeddedFont>
      <p:font typeface="Open Sauce Heavy" charset="1" panose="00000A00000000000000"/>
      <p:regular r:id="rId47"/>
    </p:embeddedFont>
    <p:embeddedFont>
      <p:font typeface="Open Sauce Bold" charset="1" panose="00000800000000000000"/>
      <p:regular r:id="rId48"/>
    </p:embeddedFont>
    <p:embeddedFont>
      <p:font typeface="Open Sauce" charset="1" panose="00000500000000000000"/>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Masters/notesMaster1.xml" Type="http://schemas.openxmlformats.org/officeDocument/2006/relationships/notesMaster"/><Relationship Id="rId51" Target="theme/theme2.xml" Type="http://schemas.openxmlformats.org/officeDocument/2006/relationships/theme"/><Relationship Id="rId52" Target="notesSlides/notesSlide1.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RDBMS (Relational Database Management System) adalah sistem perangkat lunak yang digunakan untuk mengelola, menyimpan, dan mengakses data dalam bentuk tabel baris dan kolom yang saling berelasi. Sistem ini memastikan data tetap terstruktur, konsisten, dan mudah diakses menggunakan bahasa standar SQL (Structured Query Language).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4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4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42000"/>
            </a:blip>
            <a:stretch>
              <a:fillRect l="0" t="0" r="0" b="0"/>
            </a:stretch>
          </a:blipFill>
        </p:spPr>
      </p:sp>
      <p:sp>
        <p:nvSpPr>
          <p:cNvPr name="Freeform 3" id="3"/>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3">
              <a:alphaModFix amt="12000"/>
            </a:blip>
            <a:stretch>
              <a:fillRect l="0" t="0" r="0" b="0"/>
            </a:stretch>
          </a:blipFill>
        </p:spPr>
      </p:sp>
      <p:sp>
        <p:nvSpPr>
          <p:cNvPr name="Freeform 4" id="4"/>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2798186"/>
            <a:ext cx="13017405" cy="4495800"/>
          </a:xfrm>
          <a:prstGeom prst="rect">
            <a:avLst/>
          </a:prstGeom>
        </p:spPr>
        <p:txBody>
          <a:bodyPr anchor="t" rtlCol="false" tIns="0" lIns="0" bIns="0" rIns="0">
            <a:spAutoFit/>
          </a:bodyPr>
          <a:lstStyle/>
          <a:p>
            <a:pPr algn="l">
              <a:lnSpc>
                <a:spcPts val="21000"/>
              </a:lnSpc>
            </a:pPr>
            <a:r>
              <a:rPr lang="en-US" sz="15000" spc="-705" b="true">
                <a:solidFill>
                  <a:srgbClr val="000000"/>
                </a:solidFill>
                <a:latin typeface="Open Sauce Heavy"/>
                <a:ea typeface="Open Sauce Heavy"/>
                <a:cs typeface="Open Sauce Heavy"/>
                <a:sym typeface="Open Sauce Heavy"/>
              </a:rPr>
              <a:t>Sakila</a:t>
            </a:r>
            <a:r>
              <a:rPr lang="en-US" b="true" sz="15000" spc="-705">
                <a:solidFill>
                  <a:srgbClr val="000000"/>
                </a:solidFill>
                <a:latin typeface="Open Sauce Heavy"/>
                <a:ea typeface="Open Sauce Heavy"/>
                <a:cs typeface="Open Sauce Heavy"/>
                <a:sym typeface="Open Sauce Heavy"/>
              </a:rPr>
              <a:t> </a:t>
            </a:r>
          </a:p>
          <a:p>
            <a:pPr algn="l">
              <a:lnSpc>
                <a:spcPts val="9300"/>
              </a:lnSpc>
            </a:pPr>
            <a:r>
              <a:rPr lang="en-US" b="true" sz="15000" spc="-705">
                <a:solidFill>
                  <a:srgbClr val="000000"/>
                </a:solidFill>
                <a:latin typeface="Open Sauce Heavy"/>
                <a:ea typeface="Open Sauce Heavy"/>
                <a:cs typeface="Open Sauce Heavy"/>
                <a:sym typeface="Open Sauce Heavy"/>
              </a:rPr>
              <a:t>~DVD Rental</a:t>
            </a:r>
          </a:p>
        </p:txBody>
      </p:sp>
      <p:sp>
        <p:nvSpPr>
          <p:cNvPr name="AutoShape 6" id="6"/>
          <p:cNvSpPr/>
          <p:nvPr/>
        </p:nvSpPr>
        <p:spPr>
          <a:xfrm>
            <a:off x="1045163" y="1480091"/>
            <a:ext cx="16214137" cy="0"/>
          </a:xfrm>
          <a:prstGeom prst="line">
            <a:avLst/>
          </a:prstGeom>
          <a:ln cap="flat" w="19050">
            <a:solidFill>
              <a:srgbClr val="424242"/>
            </a:solidFill>
            <a:prstDash val="solid"/>
            <a:headEnd type="none" len="sm" w="sm"/>
            <a:tailEnd type="none" len="sm" w="sm"/>
          </a:ln>
        </p:spPr>
      </p:sp>
      <p:sp>
        <p:nvSpPr>
          <p:cNvPr name="TextBox 7" id="7"/>
          <p:cNvSpPr txBox="true"/>
          <p:nvPr/>
        </p:nvSpPr>
        <p:spPr>
          <a:xfrm rot="0">
            <a:off x="14089987" y="7990332"/>
            <a:ext cx="3450154" cy="1134618"/>
          </a:xfrm>
          <a:prstGeom prst="rect">
            <a:avLst/>
          </a:prstGeom>
        </p:spPr>
        <p:txBody>
          <a:bodyPr anchor="t" rtlCol="false" tIns="0" lIns="0" bIns="0" rIns="0">
            <a:spAutoFit/>
          </a:bodyPr>
          <a:lstStyle/>
          <a:p>
            <a:pPr algn="l">
              <a:lnSpc>
                <a:spcPts val="4536"/>
              </a:lnSpc>
            </a:pPr>
            <a:r>
              <a:rPr lang="en-US" b="true" sz="3600" spc="-201">
                <a:solidFill>
                  <a:srgbClr val="000000"/>
                </a:solidFill>
                <a:latin typeface="Open Sauce Bold"/>
                <a:ea typeface="Open Sauce Bold"/>
                <a:cs typeface="Open Sauce Bold"/>
                <a:sym typeface="Open Sauce Bold"/>
              </a:rPr>
              <a:t>Kelompok 1</a:t>
            </a:r>
          </a:p>
          <a:p>
            <a:pPr algn="l">
              <a:lnSpc>
                <a:spcPts val="4536"/>
              </a:lnSpc>
            </a:pPr>
            <a:r>
              <a:rPr lang="en-US" b="true" sz="3600" spc="-201">
                <a:solidFill>
                  <a:srgbClr val="000000"/>
                </a:solidFill>
                <a:latin typeface="Open Sauce Bold"/>
                <a:ea typeface="Open Sauce Bold"/>
                <a:cs typeface="Open Sauce Bold"/>
                <a:sym typeface="Open Sauce Bold"/>
              </a:rPr>
              <a:t>Afif, Aini, Dewi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25852">
            <a:off x="-2330235" y="2657262"/>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4">
              <a:alphaModFix amt="25000"/>
            </a:blip>
            <a:stretch>
              <a:fillRect l="0" t="0" r="0" b="0"/>
            </a:stretch>
          </a:blipFill>
        </p:spPr>
      </p:sp>
      <p:sp>
        <p:nvSpPr>
          <p:cNvPr name="Freeform 4" id="4"/>
          <p:cNvSpPr/>
          <p:nvPr/>
        </p:nvSpPr>
        <p:spPr>
          <a:xfrm flipH="false" flipV="false" rot="0">
            <a:off x="10343327" y="-1437860"/>
            <a:ext cx="12858845" cy="4933121"/>
          </a:xfrm>
          <a:custGeom>
            <a:avLst/>
            <a:gdLst/>
            <a:ahLst/>
            <a:cxnLst/>
            <a:rect r="r" b="b" t="t" l="l"/>
            <a:pathLst>
              <a:path h="4933121" w="12858845">
                <a:moveTo>
                  <a:pt x="0" y="0"/>
                </a:moveTo>
                <a:lnTo>
                  <a:pt x="12858845" y="0"/>
                </a:lnTo>
                <a:lnTo>
                  <a:pt x="12858845" y="4933120"/>
                </a:lnTo>
                <a:lnTo>
                  <a:pt x="0" y="4933120"/>
                </a:lnTo>
                <a:lnTo>
                  <a:pt x="0" y="0"/>
                </a:lnTo>
                <a:close/>
              </a:path>
            </a:pathLst>
          </a:custGeom>
          <a:blipFill>
            <a:blip r:embed="rId5">
              <a:alphaModFix amt="25000"/>
            </a:blip>
            <a:stretch>
              <a:fillRect l="0" t="0" r="0" b="0"/>
            </a:stretch>
          </a:blipFill>
        </p:spPr>
      </p:sp>
      <p:grpSp>
        <p:nvGrpSpPr>
          <p:cNvPr name="Group 5" id="5"/>
          <p:cNvGrpSpPr/>
          <p:nvPr/>
        </p:nvGrpSpPr>
        <p:grpSpPr>
          <a:xfrm rot="0">
            <a:off x="9268640" y="-1913484"/>
            <a:ext cx="8120948" cy="14062990"/>
            <a:chOff x="0" y="0"/>
            <a:chExt cx="2138850" cy="3703833"/>
          </a:xfrm>
        </p:grpSpPr>
        <p:sp>
          <p:nvSpPr>
            <p:cNvPr name="Freeform 6" id="6"/>
            <p:cNvSpPr/>
            <p:nvPr/>
          </p:nvSpPr>
          <p:spPr>
            <a:xfrm flipH="false" flipV="false" rot="0">
              <a:off x="0" y="0"/>
              <a:ext cx="2138850" cy="3703833"/>
            </a:xfrm>
            <a:custGeom>
              <a:avLst/>
              <a:gdLst/>
              <a:ahLst/>
              <a:cxnLst/>
              <a:rect r="r" b="b" t="t" l="l"/>
              <a:pathLst>
                <a:path h="3703833" w="2138850">
                  <a:moveTo>
                    <a:pt x="38133" y="0"/>
                  </a:moveTo>
                  <a:lnTo>
                    <a:pt x="2100717" y="0"/>
                  </a:lnTo>
                  <a:cubicBezTo>
                    <a:pt x="2110831" y="0"/>
                    <a:pt x="2120530" y="4018"/>
                    <a:pt x="2127682" y="11169"/>
                  </a:cubicBezTo>
                  <a:cubicBezTo>
                    <a:pt x="2134833" y="18320"/>
                    <a:pt x="2138850" y="28020"/>
                    <a:pt x="2138850" y="38133"/>
                  </a:cubicBezTo>
                  <a:lnTo>
                    <a:pt x="2138850" y="3665700"/>
                  </a:lnTo>
                  <a:cubicBezTo>
                    <a:pt x="2138850" y="3675813"/>
                    <a:pt x="2134833" y="3685513"/>
                    <a:pt x="2127682" y="3692664"/>
                  </a:cubicBezTo>
                  <a:cubicBezTo>
                    <a:pt x="2120530" y="3699815"/>
                    <a:pt x="2110831" y="3703833"/>
                    <a:pt x="2100717" y="3703833"/>
                  </a:cubicBezTo>
                  <a:lnTo>
                    <a:pt x="38133" y="3703833"/>
                  </a:lnTo>
                  <a:cubicBezTo>
                    <a:pt x="28020" y="3703833"/>
                    <a:pt x="18320" y="3699815"/>
                    <a:pt x="11169" y="3692664"/>
                  </a:cubicBezTo>
                  <a:cubicBezTo>
                    <a:pt x="4018" y="3685513"/>
                    <a:pt x="0" y="3675813"/>
                    <a:pt x="0" y="3665700"/>
                  </a:cubicBezTo>
                  <a:lnTo>
                    <a:pt x="0" y="38133"/>
                  </a:lnTo>
                  <a:cubicBezTo>
                    <a:pt x="0" y="28020"/>
                    <a:pt x="4018" y="18320"/>
                    <a:pt x="11169" y="11169"/>
                  </a:cubicBezTo>
                  <a:cubicBezTo>
                    <a:pt x="18320" y="4018"/>
                    <a:pt x="28020" y="0"/>
                    <a:pt x="38133" y="0"/>
                  </a:cubicBezTo>
                  <a:close/>
                </a:path>
              </a:pathLst>
            </a:custGeom>
            <a:solidFill>
              <a:srgbClr val="D0D7DD"/>
            </a:solidFill>
            <a:ln w="19050" cap="rnd">
              <a:solidFill>
                <a:srgbClr val="424242"/>
              </a:solidFill>
              <a:prstDash val="solid"/>
              <a:round/>
            </a:ln>
          </p:spPr>
        </p:sp>
        <p:sp>
          <p:nvSpPr>
            <p:cNvPr name="TextBox 7" id="7"/>
            <p:cNvSpPr txBox="true"/>
            <p:nvPr/>
          </p:nvSpPr>
          <p:spPr>
            <a:xfrm>
              <a:off x="0" y="-28575"/>
              <a:ext cx="2138850" cy="3732408"/>
            </a:xfrm>
            <a:prstGeom prst="rect">
              <a:avLst/>
            </a:prstGeom>
          </p:spPr>
          <p:txBody>
            <a:bodyPr anchor="ctr" rtlCol="false" tIns="50800" lIns="50800" bIns="50800" rIns="50800"/>
            <a:lstStyle/>
            <a:p>
              <a:pPr algn="ctr">
                <a:lnSpc>
                  <a:spcPts val="2015"/>
                </a:lnSpc>
              </a:pPr>
            </a:p>
          </p:txBody>
        </p:sp>
      </p:grpSp>
      <p:sp>
        <p:nvSpPr>
          <p:cNvPr name="TextBox 8" id="8"/>
          <p:cNvSpPr txBox="true"/>
          <p:nvPr/>
        </p:nvSpPr>
        <p:spPr>
          <a:xfrm rot="0">
            <a:off x="1028700" y="6518917"/>
            <a:ext cx="7628749" cy="1555261"/>
          </a:xfrm>
          <a:prstGeom prst="rect">
            <a:avLst/>
          </a:prstGeom>
        </p:spPr>
        <p:txBody>
          <a:bodyPr anchor="t" rtlCol="false" tIns="0" lIns="0" bIns="0" rIns="0">
            <a:spAutoFit/>
          </a:bodyPr>
          <a:lstStyle/>
          <a:p>
            <a:pPr algn="l">
              <a:lnSpc>
                <a:spcPts val="11464"/>
              </a:lnSpc>
            </a:pPr>
            <a:r>
              <a:rPr lang="en-US" b="true" sz="12196" spc="-573">
                <a:solidFill>
                  <a:srgbClr val="000000"/>
                </a:solidFill>
                <a:latin typeface="Open Sauce Bold"/>
                <a:ea typeface="Open Sauce Bold"/>
                <a:cs typeface="Open Sauce Bold"/>
                <a:sym typeface="Open Sauce Bold"/>
              </a:rPr>
              <a:t>Outline</a:t>
            </a:r>
          </a:p>
        </p:txBody>
      </p:sp>
      <p:sp>
        <p:nvSpPr>
          <p:cNvPr name="TextBox 9" id="9"/>
          <p:cNvSpPr txBox="true"/>
          <p:nvPr/>
        </p:nvSpPr>
        <p:spPr>
          <a:xfrm rot="0">
            <a:off x="10214225" y="1341867"/>
            <a:ext cx="930834" cy="311150"/>
          </a:xfrm>
          <a:prstGeom prst="rect">
            <a:avLst/>
          </a:prstGeom>
        </p:spPr>
        <p:txBody>
          <a:bodyPr anchor="t" rtlCol="false" tIns="0" lIns="0" bIns="0" rIns="0">
            <a:spAutoFit/>
          </a:bodyPr>
          <a:lstStyle/>
          <a:p>
            <a:pPr algn="ctr">
              <a:lnSpc>
                <a:spcPts val="2350"/>
              </a:lnSpc>
            </a:pPr>
            <a:r>
              <a:rPr lang="en-US" b="true" sz="2500" spc="-117">
                <a:solidFill>
                  <a:srgbClr val="000000"/>
                </a:solidFill>
                <a:latin typeface="Open Sauce Heavy"/>
                <a:ea typeface="Open Sauce Heavy"/>
                <a:cs typeface="Open Sauce Heavy"/>
                <a:sym typeface="Open Sauce Heavy"/>
              </a:rPr>
              <a:t>01</a:t>
            </a:r>
          </a:p>
        </p:txBody>
      </p:sp>
      <p:sp>
        <p:nvSpPr>
          <p:cNvPr name="TextBox 10" id="10"/>
          <p:cNvSpPr txBox="true"/>
          <p:nvPr/>
        </p:nvSpPr>
        <p:spPr>
          <a:xfrm rot="0">
            <a:off x="10214225" y="2155661"/>
            <a:ext cx="930834" cy="311150"/>
          </a:xfrm>
          <a:prstGeom prst="rect">
            <a:avLst/>
          </a:prstGeom>
        </p:spPr>
        <p:txBody>
          <a:bodyPr anchor="t" rtlCol="false" tIns="0" lIns="0" bIns="0" rIns="0">
            <a:spAutoFit/>
          </a:bodyPr>
          <a:lstStyle/>
          <a:p>
            <a:pPr algn="ctr">
              <a:lnSpc>
                <a:spcPts val="2350"/>
              </a:lnSpc>
            </a:pPr>
            <a:r>
              <a:rPr lang="en-US" b="true" sz="2500" spc="-117">
                <a:solidFill>
                  <a:srgbClr val="000000"/>
                </a:solidFill>
                <a:latin typeface="Open Sauce Heavy"/>
                <a:ea typeface="Open Sauce Heavy"/>
                <a:cs typeface="Open Sauce Heavy"/>
                <a:sym typeface="Open Sauce Heavy"/>
              </a:rPr>
              <a:t>02</a:t>
            </a:r>
          </a:p>
        </p:txBody>
      </p:sp>
      <p:sp>
        <p:nvSpPr>
          <p:cNvPr name="TextBox 11" id="11"/>
          <p:cNvSpPr txBox="true"/>
          <p:nvPr/>
        </p:nvSpPr>
        <p:spPr>
          <a:xfrm rot="0">
            <a:off x="11409213" y="1341867"/>
            <a:ext cx="5466983" cy="311150"/>
          </a:xfrm>
          <a:prstGeom prst="rect">
            <a:avLst/>
          </a:prstGeom>
        </p:spPr>
        <p:txBody>
          <a:bodyPr anchor="t" rtlCol="false" tIns="0" lIns="0" bIns="0" rIns="0">
            <a:spAutoFit/>
          </a:bodyPr>
          <a:lstStyle/>
          <a:p>
            <a:pPr algn="l">
              <a:lnSpc>
                <a:spcPts val="2350"/>
              </a:lnSpc>
            </a:pPr>
            <a:r>
              <a:rPr lang="en-US" sz="2500" spc="-117">
                <a:solidFill>
                  <a:srgbClr val="000000"/>
                </a:solidFill>
                <a:latin typeface="Open Sauce"/>
                <a:ea typeface="Open Sauce"/>
                <a:cs typeface="Open Sauce"/>
                <a:sym typeface="Open Sauce"/>
              </a:rPr>
              <a:t>Introduction</a:t>
            </a:r>
          </a:p>
        </p:txBody>
      </p:sp>
      <p:sp>
        <p:nvSpPr>
          <p:cNvPr name="TextBox 12" id="12"/>
          <p:cNvSpPr txBox="true"/>
          <p:nvPr/>
        </p:nvSpPr>
        <p:spPr>
          <a:xfrm rot="0">
            <a:off x="11409213" y="2155661"/>
            <a:ext cx="5466983" cy="311150"/>
          </a:xfrm>
          <a:prstGeom prst="rect">
            <a:avLst/>
          </a:prstGeom>
        </p:spPr>
        <p:txBody>
          <a:bodyPr anchor="t" rtlCol="false" tIns="0" lIns="0" bIns="0" rIns="0">
            <a:spAutoFit/>
          </a:bodyPr>
          <a:lstStyle/>
          <a:p>
            <a:pPr algn="l">
              <a:lnSpc>
                <a:spcPts val="2350"/>
              </a:lnSpc>
            </a:pPr>
            <a:r>
              <a:rPr lang="en-US" sz="2500" spc="-117">
                <a:solidFill>
                  <a:srgbClr val="000000"/>
                </a:solidFill>
                <a:latin typeface="Open Sauce"/>
                <a:ea typeface="Open Sauce"/>
                <a:cs typeface="Open Sauce"/>
                <a:sym typeface="Open Sauce"/>
              </a:rPr>
              <a:t>Business Understanding</a:t>
            </a:r>
          </a:p>
        </p:txBody>
      </p:sp>
      <p:sp>
        <p:nvSpPr>
          <p:cNvPr name="TextBox 13" id="13"/>
          <p:cNvSpPr txBox="true"/>
          <p:nvPr/>
        </p:nvSpPr>
        <p:spPr>
          <a:xfrm rot="0">
            <a:off x="10214225" y="2969455"/>
            <a:ext cx="930834" cy="311150"/>
          </a:xfrm>
          <a:prstGeom prst="rect">
            <a:avLst/>
          </a:prstGeom>
        </p:spPr>
        <p:txBody>
          <a:bodyPr anchor="t" rtlCol="false" tIns="0" lIns="0" bIns="0" rIns="0">
            <a:spAutoFit/>
          </a:bodyPr>
          <a:lstStyle/>
          <a:p>
            <a:pPr algn="ctr">
              <a:lnSpc>
                <a:spcPts val="2350"/>
              </a:lnSpc>
            </a:pPr>
            <a:r>
              <a:rPr lang="en-US" b="true" sz="2500" spc="-117">
                <a:solidFill>
                  <a:srgbClr val="000000"/>
                </a:solidFill>
                <a:latin typeface="Open Sauce Heavy"/>
                <a:ea typeface="Open Sauce Heavy"/>
                <a:cs typeface="Open Sauce Heavy"/>
                <a:sym typeface="Open Sauce Heavy"/>
              </a:rPr>
              <a:t>03</a:t>
            </a:r>
          </a:p>
        </p:txBody>
      </p:sp>
      <p:sp>
        <p:nvSpPr>
          <p:cNvPr name="TextBox 14" id="14"/>
          <p:cNvSpPr txBox="true"/>
          <p:nvPr/>
        </p:nvSpPr>
        <p:spPr>
          <a:xfrm rot="0">
            <a:off x="11409213" y="2969455"/>
            <a:ext cx="5466983" cy="311150"/>
          </a:xfrm>
          <a:prstGeom prst="rect">
            <a:avLst/>
          </a:prstGeom>
        </p:spPr>
        <p:txBody>
          <a:bodyPr anchor="t" rtlCol="false" tIns="0" lIns="0" bIns="0" rIns="0">
            <a:spAutoFit/>
          </a:bodyPr>
          <a:lstStyle/>
          <a:p>
            <a:pPr algn="l">
              <a:lnSpc>
                <a:spcPts val="2350"/>
              </a:lnSpc>
            </a:pPr>
            <a:r>
              <a:rPr lang="en-US" sz="2500" spc="-117">
                <a:solidFill>
                  <a:srgbClr val="000000"/>
                </a:solidFill>
                <a:latin typeface="Open Sauce"/>
                <a:ea typeface="Open Sauce"/>
                <a:cs typeface="Open Sauce"/>
                <a:sym typeface="Open Sauce"/>
              </a:rPr>
              <a:t>Dataset Overview</a:t>
            </a:r>
          </a:p>
        </p:txBody>
      </p:sp>
      <p:sp>
        <p:nvSpPr>
          <p:cNvPr name="TextBox 15" id="15"/>
          <p:cNvSpPr txBox="true"/>
          <p:nvPr/>
        </p:nvSpPr>
        <p:spPr>
          <a:xfrm rot="0">
            <a:off x="10214225" y="3783249"/>
            <a:ext cx="930834" cy="311150"/>
          </a:xfrm>
          <a:prstGeom prst="rect">
            <a:avLst/>
          </a:prstGeom>
        </p:spPr>
        <p:txBody>
          <a:bodyPr anchor="t" rtlCol="false" tIns="0" lIns="0" bIns="0" rIns="0">
            <a:spAutoFit/>
          </a:bodyPr>
          <a:lstStyle/>
          <a:p>
            <a:pPr algn="ctr">
              <a:lnSpc>
                <a:spcPts val="2350"/>
              </a:lnSpc>
            </a:pPr>
            <a:r>
              <a:rPr lang="en-US" b="true" sz="2500" spc="-117">
                <a:solidFill>
                  <a:srgbClr val="000000"/>
                </a:solidFill>
                <a:latin typeface="Open Sauce Heavy"/>
                <a:ea typeface="Open Sauce Heavy"/>
                <a:cs typeface="Open Sauce Heavy"/>
                <a:sym typeface="Open Sauce Heavy"/>
              </a:rPr>
              <a:t>04</a:t>
            </a:r>
          </a:p>
        </p:txBody>
      </p:sp>
      <p:sp>
        <p:nvSpPr>
          <p:cNvPr name="TextBox 16" id="16"/>
          <p:cNvSpPr txBox="true"/>
          <p:nvPr/>
        </p:nvSpPr>
        <p:spPr>
          <a:xfrm rot="0">
            <a:off x="11409213" y="3783249"/>
            <a:ext cx="5466983" cy="311150"/>
          </a:xfrm>
          <a:prstGeom prst="rect">
            <a:avLst/>
          </a:prstGeom>
        </p:spPr>
        <p:txBody>
          <a:bodyPr anchor="t" rtlCol="false" tIns="0" lIns="0" bIns="0" rIns="0">
            <a:spAutoFit/>
          </a:bodyPr>
          <a:lstStyle/>
          <a:p>
            <a:pPr algn="l">
              <a:lnSpc>
                <a:spcPts val="2350"/>
              </a:lnSpc>
            </a:pPr>
            <a:r>
              <a:rPr lang="en-US" sz="2500" spc="-117">
                <a:solidFill>
                  <a:srgbClr val="000000"/>
                </a:solidFill>
                <a:latin typeface="Open Sauce"/>
                <a:ea typeface="Open Sauce"/>
                <a:cs typeface="Open Sauce"/>
                <a:sym typeface="Open Sauce"/>
              </a:rPr>
              <a:t>SQL Analysis</a:t>
            </a:r>
          </a:p>
        </p:txBody>
      </p:sp>
      <p:sp>
        <p:nvSpPr>
          <p:cNvPr name="TextBox 17" id="17"/>
          <p:cNvSpPr txBox="true"/>
          <p:nvPr/>
        </p:nvSpPr>
        <p:spPr>
          <a:xfrm rot="0">
            <a:off x="10214225" y="4597043"/>
            <a:ext cx="930834" cy="311150"/>
          </a:xfrm>
          <a:prstGeom prst="rect">
            <a:avLst/>
          </a:prstGeom>
        </p:spPr>
        <p:txBody>
          <a:bodyPr anchor="t" rtlCol="false" tIns="0" lIns="0" bIns="0" rIns="0">
            <a:spAutoFit/>
          </a:bodyPr>
          <a:lstStyle/>
          <a:p>
            <a:pPr algn="ctr">
              <a:lnSpc>
                <a:spcPts val="2350"/>
              </a:lnSpc>
            </a:pPr>
            <a:r>
              <a:rPr lang="en-US" b="true" sz="2500" spc="-117">
                <a:solidFill>
                  <a:srgbClr val="000000"/>
                </a:solidFill>
                <a:latin typeface="Open Sauce Heavy"/>
                <a:ea typeface="Open Sauce Heavy"/>
                <a:cs typeface="Open Sauce Heavy"/>
                <a:sym typeface="Open Sauce Heavy"/>
              </a:rPr>
              <a:t>05</a:t>
            </a:r>
          </a:p>
        </p:txBody>
      </p:sp>
      <p:sp>
        <p:nvSpPr>
          <p:cNvPr name="TextBox 18" id="18"/>
          <p:cNvSpPr txBox="true"/>
          <p:nvPr/>
        </p:nvSpPr>
        <p:spPr>
          <a:xfrm rot="0">
            <a:off x="11409213" y="4597043"/>
            <a:ext cx="5466983" cy="311150"/>
          </a:xfrm>
          <a:prstGeom prst="rect">
            <a:avLst/>
          </a:prstGeom>
        </p:spPr>
        <p:txBody>
          <a:bodyPr anchor="t" rtlCol="false" tIns="0" lIns="0" bIns="0" rIns="0">
            <a:spAutoFit/>
          </a:bodyPr>
          <a:lstStyle/>
          <a:p>
            <a:pPr algn="l">
              <a:lnSpc>
                <a:spcPts val="2350"/>
              </a:lnSpc>
            </a:pPr>
            <a:r>
              <a:rPr lang="en-US" sz="2500" spc="-117">
                <a:solidFill>
                  <a:srgbClr val="000000"/>
                </a:solidFill>
                <a:latin typeface="Open Sauce"/>
                <a:ea typeface="Open Sauce"/>
                <a:cs typeface="Open Sauce"/>
                <a:sym typeface="Open Sauce"/>
              </a:rPr>
              <a:t>Python &amp; EDA</a:t>
            </a:r>
          </a:p>
        </p:txBody>
      </p:sp>
      <p:sp>
        <p:nvSpPr>
          <p:cNvPr name="TextBox 19" id="19"/>
          <p:cNvSpPr txBox="true"/>
          <p:nvPr/>
        </p:nvSpPr>
        <p:spPr>
          <a:xfrm rot="0">
            <a:off x="10214225" y="5410838"/>
            <a:ext cx="930834" cy="311150"/>
          </a:xfrm>
          <a:prstGeom prst="rect">
            <a:avLst/>
          </a:prstGeom>
        </p:spPr>
        <p:txBody>
          <a:bodyPr anchor="t" rtlCol="false" tIns="0" lIns="0" bIns="0" rIns="0">
            <a:spAutoFit/>
          </a:bodyPr>
          <a:lstStyle/>
          <a:p>
            <a:pPr algn="ctr">
              <a:lnSpc>
                <a:spcPts val="2350"/>
              </a:lnSpc>
            </a:pPr>
            <a:r>
              <a:rPr lang="en-US" b="true" sz="2500" spc="-117">
                <a:solidFill>
                  <a:srgbClr val="000000"/>
                </a:solidFill>
                <a:latin typeface="Open Sauce Heavy"/>
                <a:ea typeface="Open Sauce Heavy"/>
                <a:cs typeface="Open Sauce Heavy"/>
                <a:sym typeface="Open Sauce Heavy"/>
              </a:rPr>
              <a:t>06</a:t>
            </a:r>
          </a:p>
        </p:txBody>
      </p:sp>
      <p:sp>
        <p:nvSpPr>
          <p:cNvPr name="TextBox 20" id="20"/>
          <p:cNvSpPr txBox="true"/>
          <p:nvPr/>
        </p:nvSpPr>
        <p:spPr>
          <a:xfrm rot="0">
            <a:off x="11409213" y="5410838"/>
            <a:ext cx="5466983" cy="311150"/>
          </a:xfrm>
          <a:prstGeom prst="rect">
            <a:avLst/>
          </a:prstGeom>
        </p:spPr>
        <p:txBody>
          <a:bodyPr anchor="t" rtlCol="false" tIns="0" lIns="0" bIns="0" rIns="0">
            <a:spAutoFit/>
          </a:bodyPr>
          <a:lstStyle/>
          <a:p>
            <a:pPr algn="l">
              <a:lnSpc>
                <a:spcPts val="2350"/>
              </a:lnSpc>
            </a:pPr>
            <a:r>
              <a:rPr lang="en-US" sz="2500" spc="-117">
                <a:solidFill>
                  <a:srgbClr val="000000"/>
                </a:solidFill>
                <a:latin typeface="Open Sauce"/>
                <a:ea typeface="Open Sauce"/>
                <a:cs typeface="Open Sauce"/>
                <a:sym typeface="Open Sauce"/>
              </a:rPr>
              <a:t>Business Metrics</a:t>
            </a:r>
          </a:p>
        </p:txBody>
      </p:sp>
      <p:sp>
        <p:nvSpPr>
          <p:cNvPr name="TextBox 21" id="21"/>
          <p:cNvSpPr txBox="true"/>
          <p:nvPr/>
        </p:nvSpPr>
        <p:spPr>
          <a:xfrm rot="0">
            <a:off x="10214225" y="6224632"/>
            <a:ext cx="930834" cy="311150"/>
          </a:xfrm>
          <a:prstGeom prst="rect">
            <a:avLst/>
          </a:prstGeom>
        </p:spPr>
        <p:txBody>
          <a:bodyPr anchor="t" rtlCol="false" tIns="0" lIns="0" bIns="0" rIns="0">
            <a:spAutoFit/>
          </a:bodyPr>
          <a:lstStyle/>
          <a:p>
            <a:pPr algn="ctr">
              <a:lnSpc>
                <a:spcPts val="2350"/>
              </a:lnSpc>
            </a:pPr>
            <a:r>
              <a:rPr lang="en-US" b="true" sz="2500" spc="-117">
                <a:solidFill>
                  <a:srgbClr val="000000"/>
                </a:solidFill>
                <a:latin typeface="Open Sauce Heavy"/>
                <a:ea typeface="Open Sauce Heavy"/>
                <a:cs typeface="Open Sauce Heavy"/>
                <a:sym typeface="Open Sauce Heavy"/>
              </a:rPr>
              <a:t>07</a:t>
            </a:r>
          </a:p>
        </p:txBody>
      </p:sp>
      <p:sp>
        <p:nvSpPr>
          <p:cNvPr name="TextBox 22" id="22"/>
          <p:cNvSpPr txBox="true"/>
          <p:nvPr/>
        </p:nvSpPr>
        <p:spPr>
          <a:xfrm rot="0">
            <a:off x="11409213" y="6224632"/>
            <a:ext cx="5466983" cy="311150"/>
          </a:xfrm>
          <a:prstGeom prst="rect">
            <a:avLst/>
          </a:prstGeom>
        </p:spPr>
        <p:txBody>
          <a:bodyPr anchor="t" rtlCol="false" tIns="0" lIns="0" bIns="0" rIns="0">
            <a:spAutoFit/>
          </a:bodyPr>
          <a:lstStyle/>
          <a:p>
            <a:pPr algn="l">
              <a:lnSpc>
                <a:spcPts val="2350"/>
              </a:lnSpc>
            </a:pPr>
            <a:r>
              <a:rPr lang="en-US" sz="2500" spc="-117">
                <a:solidFill>
                  <a:srgbClr val="000000"/>
                </a:solidFill>
                <a:latin typeface="Open Sauce"/>
                <a:ea typeface="Open Sauce"/>
                <a:cs typeface="Open Sauce"/>
                <a:sym typeface="Open Sauce"/>
              </a:rPr>
              <a:t>Insight</a:t>
            </a:r>
          </a:p>
        </p:txBody>
      </p:sp>
      <p:sp>
        <p:nvSpPr>
          <p:cNvPr name="TextBox 23" id="23"/>
          <p:cNvSpPr txBox="true"/>
          <p:nvPr/>
        </p:nvSpPr>
        <p:spPr>
          <a:xfrm rot="0">
            <a:off x="10214225" y="7038426"/>
            <a:ext cx="930834" cy="311150"/>
          </a:xfrm>
          <a:prstGeom prst="rect">
            <a:avLst/>
          </a:prstGeom>
        </p:spPr>
        <p:txBody>
          <a:bodyPr anchor="t" rtlCol="false" tIns="0" lIns="0" bIns="0" rIns="0">
            <a:spAutoFit/>
          </a:bodyPr>
          <a:lstStyle/>
          <a:p>
            <a:pPr algn="ctr">
              <a:lnSpc>
                <a:spcPts val="2350"/>
              </a:lnSpc>
            </a:pPr>
            <a:r>
              <a:rPr lang="en-US" b="true" sz="2500" spc="-117">
                <a:solidFill>
                  <a:srgbClr val="000000"/>
                </a:solidFill>
                <a:latin typeface="Open Sauce Heavy"/>
                <a:ea typeface="Open Sauce Heavy"/>
                <a:cs typeface="Open Sauce Heavy"/>
                <a:sym typeface="Open Sauce Heavy"/>
              </a:rPr>
              <a:t>08</a:t>
            </a:r>
          </a:p>
        </p:txBody>
      </p:sp>
      <p:sp>
        <p:nvSpPr>
          <p:cNvPr name="TextBox 24" id="24"/>
          <p:cNvSpPr txBox="true"/>
          <p:nvPr/>
        </p:nvSpPr>
        <p:spPr>
          <a:xfrm rot="0">
            <a:off x="11409213" y="7038426"/>
            <a:ext cx="5466983" cy="311150"/>
          </a:xfrm>
          <a:prstGeom prst="rect">
            <a:avLst/>
          </a:prstGeom>
        </p:spPr>
        <p:txBody>
          <a:bodyPr anchor="t" rtlCol="false" tIns="0" lIns="0" bIns="0" rIns="0">
            <a:spAutoFit/>
          </a:bodyPr>
          <a:lstStyle/>
          <a:p>
            <a:pPr algn="l">
              <a:lnSpc>
                <a:spcPts val="2350"/>
              </a:lnSpc>
            </a:pPr>
            <a:r>
              <a:rPr lang="en-US" sz="2500" spc="-117">
                <a:solidFill>
                  <a:srgbClr val="000000"/>
                </a:solidFill>
                <a:latin typeface="Open Sauce"/>
                <a:ea typeface="Open Sauce"/>
                <a:cs typeface="Open Sauce"/>
                <a:sym typeface="Open Sauce"/>
              </a:rPr>
              <a:t>Recommendation</a:t>
            </a:r>
          </a:p>
        </p:txBody>
      </p:sp>
      <p:sp>
        <p:nvSpPr>
          <p:cNvPr name="TextBox 25" id="25"/>
          <p:cNvSpPr txBox="true"/>
          <p:nvPr/>
        </p:nvSpPr>
        <p:spPr>
          <a:xfrm rot="0">
            <a:off x="10214225" y="7852220"/>
            <a:ext cx="930834" cy="311150"/>
          </a:xfrm>
          <a:prstGeom prst="rect">
            <a:avLst/>
          </a:prstGeom>
        </p:spPr>
        <p:txBody>
          <a:bodyPr anchor="t" rtlCol="false" tIns="0" lIns="0" bIns="0" rIns="0">
            <a:spAutoFit/>
          </a:bodyPr>
          <a:lstStyle/>
          <a:p>
            <a:pPr algn="ctr">
              <a:lnSpc>
                <a:spcPts val="2350"/>
              </a:lnSpc>
            </a:pPr>
            <a:r>
              <a:rPr lang="en-US" b="true" sz="2500" spc="-117">
                <a:solidFill>
                  <a:srgbClr val="000000"/>
                </a:solidFill>
                <a:latin typeface="Open Sauce Heavy"/>
                <a:ea typeface="Open Sauce Heavy"/>
                <a:cs typeface="Open Sauce Heavy"/>
                <a:sym typeface="Open Sauce Heavy"/>
              </a:rPr>
              <a:t>09</a:t>
            </a:r>
          </a:p>
        </p:txBody>
      </p:sp>
      <p:sp>
        <p:nvSpPr>
          <p:cNvPr name="TextBox 26" id="26"/>
          <p:cNvSpPr txBox="true"/>
          <p:nvPr/>
        </p:nvSpPr>
        <p:spPr>
          <a:xfrm rot="0">
            <a:off x="11409213" y="7852220"/>
            <a:ext cx="5466983" cy="311150"/>
          </a:xfrm>
          <a:prstGeom prst="rect">
            <a:avLst/>
          </a:prstGeom>
        </p:spPr>
        <p:txBody>
          <a:bodyPr anchor="t" rtlCol="false" tIns="0" lIns="0" bIns="0" rIns="0">
            <a:spAutoFit/>
          </a:bodyPr>
          <a:lstStyle/>
          <a:p>
            <a:pPr algn="l">
              <a:lnSpc>
                <a:spcPts val="2350"/>
              </a:lnSpc>
            </a:pPr>
            <a:r>
              <a:rPr lang="en-US" sz="2500" spc="-117">
                <a:solidFill>
                  <a:srgbClr val="000000"/>
                </a:solidFill>
                <a:latin typeface="Open Sauce"/>
                <a:ea typeface="Open Sauce"/>
                <a:cs typeface="Open Sauce"/>
                <a:sym typeface="Open Sauce"/>
              </a:rPr>
              <a:t>Kesimpulan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3">
              <a:alphaModFix amt="28000"/>
            </a:blip>
            <a:stretch>
              <a:fillRect l="0" t="0" r="0" b="0"/>
            </a:stretch>
          </a:blipFill>
        </p:spPr>
      </p:sp>
      <p:sp>
        <p:nvSpPr>
          <p:cNvPr name="TextBox 3" id="3"/>
          <p:cNvSpPr txBox="true"/>
          <p:nvPr/>
        </p:nvSpPr>
        <p:spPr>
          <a:xfrm rot="0">
            <a:off x="1028700" y="1098290"/>
            <a:ext cx="9082683" cy="1555370"/>
          </a:xfrm>
          <a:prstGeom prst="rect">
            <a:avLst/>
          </a:prstGeom>
        </p:spPr>
        <p:txBody>
          <a:bodyPr anchor="t" rtlCol="false" tIns="0" lIns="0" bIns="0" rIns="0">
            <a:spAutoFit/>
          </a:bodyPr>
          <a:lstStyle/>
          <a:p>
            <a:pPr algn="l">
              <a:lnSpc>
                <a:spcPts val="11468"/>
              </a:lnSpc>
            </a:pPr>
            <a:r>
              <a:rPr lang="en-US" sz="12200" spc="-573" b="true">
                <a:solidFill>
                  <a:srgbClr val="000000"/>
                </a:solidFill>
                <a:latin typeface="Open Sauce Heavy"/>
                <a:ea typeface="Open Sauce Heavy"/>
                <a:cs typeface="Open Sauce Heavy"/>
                <a:sym typeface="Open Sauce Heavy"/>
              </a:rPr>
              <a:t>Introduction</a:t>
            </a:r>
          </a:p>
        </p:txBody>
      </p:sp>
      <p:grpSp>
        <p:nvGrpSpPr>
          <p:cNvPr name="Group 4" id="4"/>
          <p:cNvGrpSpPr/>
          <p:nvPr/>
        </p:nvGrpSpPr>
        <p:grpSpPr>
          <a:xfrm rot="0">
            <a:off x="1028700" y="2938408"/>
            <a:ext cx="16230600" cy="6319892"/>
            <a:chOff x="0" y="0"/>
            <a:chExt cx="4274726" cy="1664498"/>
          </a:xfrm>
        </p:grpSpPr>
        <p:sp>
          <p:nvSpPr>
            <p:cNvPr name="Freeform 5" id="5"/>
            <p:cNvSpPr/>
            <p:nvPr/>
          </p:nvSpPr>
          <p:spPr>
            <a:xfrm flipH="false" flipV="false" rot="0">
              <a:off x="0" y="0"/>
              <a:ext cx="4274726" cy="1664498"/>
            </a:xfrm>
            <a:custGeom>
              <a:avLst/>
              <a:gdLst/>
              <a:ahLst/>
              <a:cxnLst/>
              <a:rect r="r" b="b" t="t" l="l"/>
              <a:pathLst>
                <a:path h="1664498" w="4274726">
                  <a:moveTo>
                    <a:pt x="31482" y="0"/>
                  </a:moveTo>
                  <a:lnTo>
                    <a:pt x="4243244" y="0"/>
                  </a:lnTo>
                  <a:cubicBezTo>
                    <a:pt x="4260631" y="0"/>
                    <a:pt x="4274726" y="14095"/>
                    <a:pt x="4274726" y="31482"/>
                  </a:cubicBezTo>
                  <a:lnTo>
                    <a:pt x="4274726" y="1633017"/>
                  </a:lnTo>
                  <a:cubicBezTo>
                    <a:pt x="4274726" y="1650403"/>
                    <a:pt x="4260631" y="1664498"/>
                    <a:pt x="4243244" y="1664498"/>
                  </a:cubicBezTo>
                  <a:lnTo>
                    <a:pt x="31482" y="1664498"/>
                  </a:lnTo>
                  <a:cubicBezTo>
                    <a:pt x="23132" y="1664498"/>
                    <a:pt x="15125" y="1661181"/>
                    <a:pt x="9221" y="1655277"/>
                  </a:cubicBezTo>
                  <a:cubicBezTo>
                    <a:pt x="3317" y="1649374"/>
                    <a:pt x="0" y="1641366"/>
                    <a:pt x="0" y="1633017"/>
                  </a:cubicBezTo>
                  <a:lnTo>
                    <a:pt x="0" y="31482"/>
                  </a:lnTo>
                  <a:cubicBezTo>
                    <a:pt x="0" y="14095"/>
                    <a:pt x="14095" y="0"/>
                    <a:pt x="31482"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274726" cy="1693073"/>
            </a:xfrm>
            <a:prstGeom prst="rect">
              <a:avLst/>
            </a:prstGeom>
          </p:spPr>
          <p:txBody>
            <a:bodyPr anchor="ctr" rtlCol="false" tIns="50800" lIns="50800" bIns="50800" rIns="50800"/>
            <a:lstStyle/>
            <a:p>
              <a:pPr algn="ctr">
                <a:lnSpc>
                  <a:spcPts val="2015"/>
                </a:lnSpc>
              </a:pPr>
            </a:p>
          </p:txBody>
        </p:sp>
      </p:grpSp>
      <p:sp>
        <p:nvSpPr>
          <p:cNvPr name="TextBox 7" id="7"/>
          <p:cNvSpPr txBox="true"/>
          <p:nvPr/>
        </p:nvSpPr>
        <p:spPr>
          <a:xfrm rot="0">
            <a:off x="1460310" y="3140075"/>
            <a:ext cx="15367379" cy="6118225"/>
          </a:xfrm>
          <a:prstGeom prst="rect">
            <a:avLst/>
          </a:prstGeom>
        </p:spPr>
        <p:txBody>
          <a:bodyPr anchor="t" rtlCol="false" tIns="0" lIns="0" bIns="0" rIns="0">
            <a:spAutoFit/>
          </a:bodyPr>
          <a:lstStyle/>
          <a:p>
            <a:pPr algn="l">
              <a:lnSpc>
                <a:spcPts val="3500"/>
              </a:lnSpc>
            </a:pPr>
            <a:r>
              <a:rPr lang="en-US" sz="2500" spc="-117" b="true">
                <a:solidFill>
                  <a:srgbClr val="000000"/>
                </a:solidFill>
                <a:latin typeface="Open Sauce Bold"/>
                <a:ea typeface="Open Sauce Bold"/>
                <a:cs typeface="Open Sauce Bold"/>
                <a:sym typeface="Open Sauce Bold"/>
              </a:rPr>
              <a:t>Sakila Rental </a:t>
            </a:r>
            <a:r>
              <a:rPr lang="en-US" sz="2500" spc="-117" b="true">
                <a:solidFill>
                  <a:srgbClr val="424242"/>
                </a:solidFill>
                <a:latin typeface="Open Sauce Bold"/>
                <a:ea typeface="Open Sauce Bold"/>
                <a:cs typeface="Open Sauce Bold"/>
                <a:sym typeface="Open Sauce Bold"/>
              </a:rPr>
              <a:t>adalah sebuah bisnis </a:t>
            </a:r>
            <a:r>
              <a:rPr lang="en-US" sz="2500" spc="-117" b="true">
                <a:solidFill>
                  <a:srgbClr val="000000"/>
                </a:solidFill>
                <a:latin typeface="Open Sauce Bold"/>
                <a:ea typeface="Open Sauce Bold"/>
                <a:cs typeface="Open Sauce Bold"/>
                <a:sym typeface="Open Sauce Bold"/>
              </a:rPr>
              <a:t>penyewaan DVD</a:t>
            </a:r>
            <a:r>
              <a:rPr lang="en-US" sz="2500" spc="-117" b="true">
                <a:solidFill>
                  <a:srgbClr val="424242"/>
                </a:solidFill>
                <a:latin typeface="Open Sauce Bold"/>
                <a:ea typeface="Open Sauce Bold"/>
                <a:cs typeface="Open Sauce Bold"/>
                <a:sym typeface="Open Sauce Bold"/>
              </a:rPr>
              <a:t> yang mengelola operasionalnya secara terpusat melalui sistem basis data relasional. Struktur bisnis Sakila didukung oleh komponen-komponen utama sebagai berikut:</a:t>
            </a:r>
          </a:p>
          <a:p>
            <a:pPr algn="l" marL="539751" indent="-269876" lvl="1">
              <a:lnSpc>
                <a:spcPts val="3500"/>
              </a:lnSpc>
              <a:buAutoNum type="arabicPeriod" startAt="1"/>
            </a:pPr>
            <a:r>
              <a:rPr lang="en-US" b="true" sz="2500" spc="-117">
                <a:solidFill>
                  <a:srgbClr val="000000"/>
                </a:solidFill>
                <a:latin typeface="Open Sauce Bold"/>
                <a:ea typeface="Open Sauce Bold"/>
                <a:cs typeface="Open Sauce Bold"/>
                <a:sym typeface="Open Sauce Bold"/>
              </a:rPr>
              <a:t>Jaringan Toko (Stores)</a:t>
            </a:r>
            <a:r>
              <a:rPr lang="en-US" b="true" sz="2500" spc="-117">
                <a:solidFill>
                  <a:srgbClr val="424242"/>
                </a:solidFill>
                <a:latin typeface="Open Sauce Bold"/>
                <a:ea typeface="Open Sauce Bold"/>
                <a:cs typeface="Open Sauce Bold"/>
                <a:sym typeface="Open Sauce Bold"/>
              </a:rPr>
              <a:t>: Memiliki beberapa cabang toko fisik yang melayani komunitas lokal dengan karakteristik pengeluaran pelanggan yang berbeda-beda.</a:t>
            </a:r>
          </a:p>
          <a:p>
            <a:pPr algn="l" marL="539751" indent="-269876" lvl="1">
              <a:lnSpc>
                <a:spcPts val="3500"/>
              </a:lnSpc>
              <a:buAutoNum type="arabicPeriod" startAt="1"/>
            </a:pPr>
            <a:r>
              <a:rPr lang="en-US" b="true" sz="2500" spc="-117">
                <a:solidFill>
                  <a:srgbClr val="000000"/>
                </a:solidFill>
                <a:latin typeface="Open Sauce Bold"/>
                <a:ea typeface="Open Sauce Bold"/>
                <a:cs typeface="Open Sauce Bold"/>
                <a:sym typeface="Open Sauce Bold"/>
              </a:rPr>
              <a:t>Manajemen Inventaris (Inventory &amp; Film)</a:t>
            </a:r>
            <a:r>
              <a:rPr lang="en-US" b="true" sz="2500" spc="-117">
                <a:solidFill>
                  <a:srgbClr val="424242"/>
                </a:solidFill>
                <a:latin typeface="Open Sauce Bold"/>
                <a:ea typeface="Open Sauce Bold"/>
                <a:cs typeface="Open Sauce Bold"/>
                <a:sym typeface="Open Sauce Bold"/>
              </a:rPr>
              <a:t>: Mengelola ribuan judul kaset DVD yang diklasifikasikan ke dalam belasan genre film (seperti Sports, Sci-Fi, Animation, dll), lengkap dengan variasi harga sewa (rental rate) dan biaya kompensasi kehilangan (replacement cost).</a:t>
            </a:r>
          </a:p>
          <a:p>
            <a:pPr algn="l" marL="539751" indent="-269876" lvl="1">
              <a:lnSpc>
                <a:spcPts val="3500"/>
              </a:lnSpc>
              <a:buAutoNum type="arabicPeriod" startAt="1"/>
            </a:pPr>
            <a:r>
              <a:rPr lang="en-US" b="true" sz="2500" spc="-117">
                <a:solidFill>
                  <a:srgbClr val="000000"/>
                </a:solidFill>
                <a:latin typeface="Open Sauce Bold"/>
                <a:ea typeface="Open Sauce Bold"/>
                <a:cs typeface="Open Sauce Bold"/>
                <a:sym typeface="Open Sauce Bold"/>
              </a:rPr>
              <a:t>Sumber Daya Manusia (Staff)</a:t>
            </a:r>
            <a:r>
              <a:rPr lang="en-US" b="true" sz="2500" spc="-117">
                <a:solidFill>
                  <a:srgbClr val="424242"/>
                </a:solidFill>
                <a:latin typeface="Open Sauce Bold"/>
                <a:ea typeface="Open Sauce Bold"/>
                <a:cs typeface="Open Sauce Bold"/>
                <a:sym typeface="Open Sauce Bold"/>
              </a:rPr>
              <a:t>: Lini depan pelayanan yang diwakili oleh staf kasir di masing-masing cabang untuk memproses transaksi peminjaman dan pengembalian kaset secara harian.</a:t>
            </a:r>
          </a:p>
          <a:p>
            <a:pPr algn="l" marL="539751" indent="-269876" lvl="1">
              <a:lnSpc>
                <a:spcPts val="3500"/>
              </a:lnSpc>
              <a:buAutoNum type="arabicPeriod" startAt="1"/>
            </a:pPr>
            <a:r>
              <a:rPr lang="en-US" b="true" sz="2500" spc="-117">
                <a:solidFill>
                  <a:srgbClr val="000000"/>
                </a:solidFill>
                <a:latin typeface="Open Sauce Bold"/>
                <a:ea typeface="Open Sauce Bold"/>
                <a:cs typeface="Open Sauce Bold"/>
                <a:sym typeface="Open Sauce Bold"/>
              </a:rPr>
              <a:t>Sistem Transaksi (Rentals &amp; Payments)</a:t>
            </a:r>
            <a:r>
              <a:rPr lang="en-US" b="true" sz="2500" spc="-117">
                <a:solidFill>
                  <a:srgbClr val="424242"/>
                </a:solidFill>
                <a:latin typeface="Open Sauce Bold"/>
                <a:ea typeface="Open Sauce Bold"/>
                <a:cs typeface="Open Sauce Bold"/>
                <a:sym typeface="Open Sauce Bold"/>
              </a:rPr>
              <a:t>: Skema pencatatan otomatis yang memantau durasi sewa aktual, melacak tanggal jatuh tempo pengembalian, serta menghitung akumulasi denda jika terjadi pelanggaran batas waktu sewa.</a:t>
            </a:r>
          </a:p>
          <a:p>
            <a:pPr algn="l">
              <a:lnSpc>
                <a:spcPts val="350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Business Understanding</a:t>
            </a:r>
          </a:p>
        </p:txBody>
      </p:sp>
      <p:grpSp>
        <p:nvGrpSpPr>
          <p:cNvPr name="Group 4" id="4"/>
          <p:cNvGrpSpPr/>
          <p:nvPr/>
        </p:nvGrpSpPr>
        <p:grpSpPr>
          <a:xfrm rot="0">
            <a:off x="901975" y="3936709"/>
            <a:ext cx="7428904" cy="5936914"/>
            <a:chOff x="0" y="0"/>
            <a:chExt cx="1956584" cy="1563632"/>
          </a:xfrm>
        </p:grpSpPr>
        <p:sp>
          <p:nvSpPr>
            <p:cNvPr name="Freeform 5" id="5"/>
            <p:cNvSpPr/>
            <p:nvPr/>
          </p:nvSpPr>
          <p:spPr>
            <a:xfrm flipH="false" flipV="false" rot="0">
              <a:off x="0" y="0"/>
              <a:ext cx="1956584" cy="1563632"/>
            </a:xfrm>
            <a:custGeom>
              <a:avLst/>
              <a:gdLst/>
              <a:ahLst/>
              <a:cxnLst/>
              <a:rect r="r" b="b" t="t" l="l"/>
              <a:pathLst>
                <a:path h="1563632" w="1956584">
                  <a:moveTo>
                    <a:pt x="68781" y="0"/>
                  </a:moveTo>
                  <a:lnTo>
                    <a:pt x="1887803" y="0"/>
                  </a:lnTo>
                  <a:cubicBezTo>
                    <a:pt x="1925790" y="0"/>
                    <a:pt x="1956584" y="30794"/>
                    <a:pt x="1956584" y="68781"/>
                  </a:cubicBezTo>
                  <a:lnTo>
                    <a:pt x="1956584" y="1494851"/>
                  </a:lnTo>
                  <a:cubicBezTo>
                    <a:pt x="1956584" y="1513093"/>
                    <a:pt x="1949337" y="1530587"/>
                    <a:pt x="1936438" y="1543486"/>
                  </a:cubicBezTo>
                  <a:cubicBezTo>
                    <a:pt x="1923540" y="1556385"/>
                    <a:pt x="1906045" y="1563632"/>
                    <a:pt x="1887803" y="1563632"/>
                  </a:cubicBezTo>
                  <a:lnTo>
                    <a:pt x="68781" y="1563632"/>
                  </a:lnTo>
                  <a:cubicBezTo>
                    <a:pt x="30794" y="1563632"/>
                    <a:pt x="0" y="1532837"/>
                    <a:pt x="0" y="1494851"/>
                  </a:cubicBezTo>
                  <a:lnTo>
                    <a:pt x="0" y="68781"/>
                  </a:lnTo>
                  <a:cubicBezTo>
                    <a:pt x="0" y="30794"/>
                    <a:pt x="30794" y="0"/>
                    <a:pt x="6878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1956584" cy="1592207"/>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4846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8784269" y="3936709"/>
            <a:ext cx="7428904" cy="4199956"/>
            <a:chOff x="0" y="0"/>
            <a:chExt cx="1956584" cy="1106161"/>
          </a:xfrm>
        </p:grpSpPr>
        <p:sp>
          <p:nvSpPr>
            <p:cNvPr name="Freeform 11" id="11"/>
            <p:cNvSpPr/>
            <p:nvPr/>
          </p:nvSpPr>
          <p:spPr>
            <a:xfrm flipH="false" flipV="false" rot="0">
              <a:off x="0" y="0"/>
              <a:ext cx="1956584" cy="1106161"/>
            </a:xfrm>
            <a:custGeom>
              <a:avLst/>
              <a:gdLst/>
              <a:ahLst/>
              <a:cxnLst/>
              <a:rect r="r" b="b" t="t" l="l"/>
              <a:pathLst>
                <a:path h="1106161" w="1956584">
                  <a:moveTo>
                    <a:pt x="68781" y="0"/>
                  </a:moveTo>
                  <a:lnTo>
                    <a:pt x="1887803" y="0"/>
                  </a:lnTo>
                  <a:cubicBezTo>
                    <a:pt x="1925790" y="0"/>
                    <a:pt x="1956584" y="30794"/>
                    <a:pt x="1956584" y="68781"/>
                  </a:cubicBezTo>
                  <a:lnTo>
                    <a:pt x="1956584" y="1037380"/>
                  </a:lnTo>
                  <a:cubicBezTo>
                    <a:pt x="1956584" y="1055622"/>
                    <a:pt x="1949337" y="1073117"/>
                    <a:pt x="1936438" y="1086016"/>
                  </a:cubicBezTo>
                  <a:cubicBezTo>
                    <a:pt x="1923540" y="1098915"/>
                    <a:pt x="1906045" y="1106161"/>
                    <a:pt x="1887803" y="1106161"/>
                  </a:cubicBezTo>
                  <a:lnTo>
                    <a:pt x="68781" y="1106161"/>
                  </a:lnTo>
                  <a:cubicBezTo>
                    <a:pt x="30794" y="1106161"/>
                    <a:pt x="0" y="1075367"/>
                    <a:pt x="0" y="1037380"/>
                  </a:cubicBezTo>
                  <a:lnTo>
                    <a:pt x="0" y="68781"/>
                  </a:lnTo>
                  <a:cubicBezTo>
                    <a:pt x="0" y="30794"/>
                    <a:pt x="30794" y="0"/>
                    <a:pt x="68781"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1956584" cy="1134736"/>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9062075" y="3534530"/>
            <a:ext cx="1154202" cy="804358"/>
            <a:chOff x="0" y="0"/>
            <a:chExt cx="303987" cy="211847"/>
          </a:xfrm>
        </p:grpSpPr>
        <p:sp>
          <p:nvSpPr>
            <p:cNvPr name="Freeform 14" id="14"/>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5" id="15"/>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6" id="16"/>
          <p:cNvSpPr txBox="true"/>
          <p:nvPr/>
        </p:nvSpPr>
        <p:spPr>
          <a:xfrm rot="0">
            <a:off x="9214039" y="3762979"/>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02</a:t>
            </a:r>
          </a:p>
        </p:txBody>
      </p:sp>
      <p:sp>
        <p:nvSpPr>
          <p:cNvPr name="TextBox 17" id="17"/>
          <p:cNvSpPr txBox="true"/>
          <p:nvPr/>
        </p:nvSpPr>
        <p:spPr>
          <a:xfrm rot="0">
            <a:off x="1329054" y="37130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01</a:t>
            </a:r>
          </a:p>
        </p:txBody>
      </p:sp>
      <p:sp>
        <p:nvSpPr>
          <p:cNvPr name="TextBox 18" id="18"/>
          <p:cNvSpPr txBox="true"/>
          <p:nvPr/>
        </p:nvSpPr>
        <p:spPr>
          <a:xfrm rot="0">
            <a:off x="1177090" y="2739889"/>
            <a:ext cx="2698973" cy="577214"/>
          </a:xfrm>
          <a:prstGeom prst="rect">
            <a:avLst/>
          </a:prstGeom>
        </p:spPr>
        <p:txBody>
          <a:bodyPr anchor="t" rtlCol="false" tIns="0" lIns="0" bIns="0" rIns="0">
            <a:spAutoFit/>
          </a:bodyPr>
          <a:lstStyle/>
          <a:p>
            <a:pPr algn="l">
              <a:lnSpc>
                <a:spcPts val="4229"/>
              </a:lnSpc>
            </a:pPr>
            <a:r>
              <a:rPr lang="en-US" b="true" sz="4499" spc="-211">
                <a:solidFill>
                  <a:srgbClr val="424242"/>
                </a:solidFill>
                <a:latin typeface="Open Sauce Heavy"/>
                <a:ea typeface="Open Sauce Heavy"/>
                <a:cs typeface="Open Sauce Heavy"/>
                <a:sym typeface="Open Sauce Heavy"/>
              </a:rPr>
              <a:t>Problem</a:t>
            </a:r>
          </a:p>
        </p:txBody>
      </p:sp>
      <p:sp>
        <p:nvSpPr>
          <p:cNvPr name="TextBox 19" id="19"/>
          <p:cNvSpPr txBox="true"/>
          <p:nvPr/>
        </p:nvSpPr>
        <p:spPr>
          <a:xfrm rot="0">
            <a:off x="1223908" y="4459145"/>
            <a:ext cx="6785037" cy="5015865"/>
          </a:xfrm>
          <a:prstGeom prst="rect">
            <a:avLst/>
          </a:prstGeom>
        </p:spPr>
        <p:txBody>
          <a:bodyPr anchor="t" rtlCol="false" tIns="0" lIns="0" bIns="0" rIns="0">
            <a:spAutoFit/>
          </a:bodyPr>
          <a:lstStyle/>
          <a:p>
            <a:pPr algn="just">
              <a:lnSpc>
                <a:spcPts val="3359"/>
              </a:lnSpc>
            </a:pPr>
            <a:r>
              <a:rPr lang="en-US" b="true" sz="2399" spc="-112">
                <a:solidFill>
                  <a:srgbClr val="424242"/>
                </a:solidFill>
                <a:latin typeface="Open Sauce Bold"/>
                <a:ea typeface="Open Sauce Bold"/>
                <a:cs typeface="Open Sauce Bold"/>
                <a:sym typeface="Open Sauce Bold"/>
              </a:rPr>
              <a:t>Meskipun memiliki segmen pasar yang kuat pada genre tertentu (seperti Sports dan Sci-Fi) serta performa Store 1 yang menjanjikan, Sakila Rental menghadapi </a:t>
            </a:r>
            <a:r>
              <a:rPr lang="en-US" b="true" sz="2399" spc="-112">
                <a:solidFill>
                  <a:srgbClr val="000000"/>
                </a:solidFill>
                <a:latin typeface="Open Sauce Bold"/>
                <a:ea typeface="Open Sauce Bold"/>
                <a:cs typeface="Open Sauce Bold"/>
                <a:sym typeface="Open Sauce Bold"/>
              </a:rPr>
              <a:t>masalah stagnansi bisnis dan risiko penurunan operasional yang tajam.</a:t>
            </a:r>
            <a:r>
              <a:rPr lang="en-US" b="true" sz="2399" spc="-112">
                <a:solidFill>
                  <a:srgbClr val="424242"/>
                </a:solidFill>
                <a:latin typeface="Open Sauce Bold"/>
                <a:ea typeface="Open Sauce Bold"/>
                <a:cs typeface="Open Sauce Bold"/>
                <a:sym typeface="Open Sauce Bold"/>
              </a:rPr>
              <a:t> Hal ini dibuktikan dengan anjloknya pendapatan bulanan secara drastis di awal periode, kaku-nya sistem manajemen keterlambatan yang menghambat perputaran aset kaset film, serta kurangnya strategi pemasaran yang agresif dan berbasis data untuk memaksimalkan potensi store lokal maupun kinerja tim lini depan (staf).</a:t>
            </a:r>
          </a:p>
        </p:txBody>
      </p:sp>
      <p:sp>
        <p:nvSpPr>
          <p:cNvPr name="TextBox 20" id="20"/>
          <p:cNvSpPr txBox="true"/>
          <p:nvPr/>
        </p:nvSpPr>
        <p:spPr>
          <a:xfrm rot="0">
            <a:off x="9062075" y="4459145"/>
            <a:ext cx="6785037" cy="3339465"/>
          </a:xfrm>
          <a:prstGeom prst="rect">
            <a:avLst/>
          </a:prstGeom>
        </p:spPr>
        <p:txBody>
          <a:bodyPr anchor="t" rtlCol="false" tIns="0" lIns="0" bIns="0" rIns="0">
            <a:spAutoFit/>
          </a:bodyPr>
          <a:lstStyle/>
          <a:p>
            <a:pPr algn="just">
              <a:lnSpc>
                <a:spcPts val="3359"/>
              </a:lnSpc>
            </a:pPr>
            <a:r>
              <a:rPr lang="en-US" b="true" sz="2399" spc="-112">
                <a:solidFill>
                  <a:srgbClr val="424242"/>
                </a:solidFill>
                <a:latin typeface="Open Sauce Bold"/>
                <a:ea typeface="Open Sauce Bold"/>
                <a:cs typeface="Open Sauce Bold"/>
                <a:sym typeface="Open Sauce Bold"/>
              </a:rPr>
              <a:t>Perusahaan </a:t>
            </a:r>
            <a:r>
              <a:rPr lang="en-US" b="true" sz="2399" spc="-112">
                <a:solidFill>
                  <a:srgbClr val="000000"/>
                </a:solidFill>
                <a:latin typeface="Open Sauce Bold"/>
                <a:ea typeface="Open Sauce Bold"/>
                <a:cs typeface="Open Sauce Bold"/>
                <a:sym typeface="Open Sauce Bold"/>
              </a:rPr>
              <a:t>belum memiliki gambaran yang jelas mengenai pola perilaku pelanggan</a:t>
            </a:r>
            <a:r>
              <a:rPr lang="en-US" b="true" sz="2399" spc="-112">
                <a:solidFill>
                  <a:srgbClr val="424242"/>
                </a:solidFill>
                <a:latin typeface="Open Sauce Bold"/>
                <a:ea typeface="Open Sauce Bold"/>
                <a:cs typeface="Open Sauce Bold"/>
                <a:sym typeface="Open Sauce Bold"/>
              </a:rPr>
              <a:t>, mulai dari lokasi pelanggan potensial, kontribusi revenue pelanggan, preferensi rating film, hingga pola keterlambatan pengembalian. Kurangnya pemahaman ini dapat menyebabkan strategi pemasaran, pengelolaan koleksi film, dan program loyalitas menjadi kurang optimal.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Business Understanding</a:t>
            </a:r>
          </a:p>
        </p:txBody>
      </p:sp>
      <p:grpSp>
        <p:nvGrpSpPr>
          <p:cNvPr name="Group 4" id="4"/>
          <p:cNvGrpSpPr/>
          <p:nvPr/>
        </p:nvGrpSpPr>
        <p:grpSpPr>
          <a:xfrm rot="0">
            <a:off x="1028700" y="3385438"/>
            <a:ext cx="16230600" cy="1481004"/>
            <a:chOff x="0" y="0"/>
            <a:chExt cx="4274726" cy="390059"/>
          </a:xfrm>
        </p:grpSpPr>
        <p:sp>
          <p:nvSpPr>
            <p:cNvPr name="Freeform 5" id="5"/>
            <p:cNvSpPr/>
            <p:nvPr/>
          </p:nvSpPr>
          <p:spPr>
            <a:xfrm flipH="false" flipV="false" rot="0">
              <a:off x="0" y="0"/>
              <a:ext cx="4274726" cy="390059"/>
            </a:xfrm>
            <a:custGeom>
              <a:avLst/>
              <a:gdLst/>
              <a:ahLst/>
              <a:cxnLst/>
              <a:rect r="r" b="b" t="t" l="l"/>
              <a:pathLst>
                <a:path h="390059" w="4274726">
                  <a:moveTo>
                    <a:pt x="31482" y="0"/>
                  </a:moveTo>
                  <a:lnTo>
                    <a:pt x="4243244" y="0"/>
                  </a:lnTo>
                  <a:cubicBezTo>
                    <a:pt x="4260631" y="0"/>
                    <a:pt x="4274726" y="14095"/>
                    <a:pt x="4274726" y="31482"/>
                  </a:cubicBezTo>
                  <a:lnTo>
                    <a:pt x="4274726" y="358577"/>
                  </a:lnTo>
                  <a:cubicBezTo>
                    <a:pt x="4274726" y="366926"/>
                    <a:pt x="4271409" y="374934"/>
                    <a:pt x="4265505" y="380838"/>
                  </a:cubicBezTo>
                  <a:cubicBezTo>
                    <a:pt x="4259601" y="386742"/>
                    <a:pt x="4251594" y="390059"/>
                    <a:pt x="4243244" y="390059"/>
                  </a:cubicBezTo>
                  <a:lnTo>
                    <a:pt x="31482" y="390059"/>
                  </a:lnTo>
                  <a:cubicBezTo>
                    <a:pt x="14095" y="390059"/>
                    <a:pt x="0" y="375964"/>
                    <a:pt x="0" y="358577"/>
                  </a:cubicBezTo>
                  <a:lnTo>
                    <a:pt x="0" y="31482"/>
                  </a:lnTo>
                  <a:cubicBezTo>
                    <a:pt x="0" y="14095"/>
                    <a:pt x="14095" y="0"/>
                    <a:pt x="31482"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274726" cy="418634"/>
            </a:xfrm>
            <a:prstGeom prst="rect">
              <a:avLst/>
            </a:prstGeom>
          </p:spPr>
          <p:txBody>
            <a:bodyPr anchor="ctr" rtlCol="false" tIns="50800" lIns="50800" bIns="50800" rIns="50800"/>
            <a:lstStyle/>
            <a:p>
              <a:pPr algn="ctr">
                <a:lnSpc>
                  <a:spcPts val="2015"/>
                </a:lnSpc>
              </a:pPr>
            </a:p>
          </p:txBody>
        </p:sp>
      </p:grpSp>
      <p:sp>
        <p:nvSpPr>
          <p:cNvPr name="TextBox 7" id="7"/>
          <p:cNvSpPr txBox="true"/>
          <p:nvPr/>
        </p:nvSpPr>
        <p:spPr>
          <a:xfrm rot="0">
            <a:off x="1177090" y="2693923"/>
            <a:ext cx="2057029" cy="577214"/>
          </a:xfrm>
          <a:prstGeom prst="rect">
            <a:avLst/>
          </a:prstGeom>
        </p:spPr>
        <p:txBody>
          <a:bodyPr anchor="t" rtlCol="false" tIns="0" lIns="0" bIns="0" rIns="0">
            <a:spAutoFit/>
          </a:bodyPr>
          <a:lstStyle/>
          <a:p>
            <a:pPr algn="l">
              <a:lnSpc>
                <a:spcPts val="4229"/>
              </a:lnSpc>
            </a:pPr>
            <a:r>
              <a:rPr lang="en-US" b="true" sz="4499" spc="-211">
                <a:solidFill>
                  <a:srgbClr val="424242"/>
                </a:solidFill>
                <a:latin typeface="Open Sauce Heavy"/>
                <a:ea typeface="Open Sauce Heavy"/>
                <a:cs typeface="Open Sauce Heavy"/>
                <a:sym typeface="Open Sauce Heavy"/>
              </a:rPr>
              <a:t>Goals</a:t>
            </a:r>
          </a:p>
        </p:txBody>
      </p:sp>
      <p:sp>
        <p:nvSpPr>
          <p:cNvPr name="TextBox 8" id="8"/>
          <p:cNvSpPr txBox="true"/>
          <p:nvPr/>
        </p:nvSpPr>
        <p:spPr>
          <a:xfrm rot="0">
            <a:off x="1350633" y="3689694"/>
            <a:ext cx="14925600" cy="824865"/>
          </a:xfrm>
          <a:prstGeom prst="rect">
            <a:avLst/>
          </a:prstGeom>
        </p:spPr>
        <p:txBody>
          <a:bodyPr anchor="t" rtlCol="false" tIns="0" lIns="0" bIns="0" rIns="0">
            <a:spAutoFit/>
          </a:bodyPr>
          <a:lstStyle/>
          <a:p>
            <a:pPr algn="just">
              <a:lnSpc>
                <a:spcPts val="3359"/>
              </a:lnSpc>
            </a:pPr>
            <a:r>
              <a:rPr lang="en-US" b="true" sz="2399" spc="-112">
                <a:solidFill>
                  <a:srgbClr val="424242"/>
                </a:solidFill>
                <a:latin typeface="Open Sauce Bold"/>
                <a:ea typeface="Open Sauce Bold"/>
                <a:cs typeface="Open Sauce Bold"/>
                <a:sym typeface="Open Sauce Bold"/>
              </a:rPr>
              <a:t>Memahami faktor-faktor yang memengaruhi </a:t>
            </a:r>
            <a:r>
              <a:rPr lang="en-US" b="true" sz="2399" spc="-112">
                <a:solidFill>
                  <a:srgbClr val="000000"/>
                </a:solidFill>
                <a:latin typeface="Open Sauce Bold"/>
                <a:ea typeface="Open Sauce Bold"/>
                <a:cs typeface="Open Sauce Bold"/>
                <a:sym typeface="Open Sauce Bold"/>
              </a:rPr>
              <a:t>pendapatan</a:t>
            </a:r>
            <a:r>
              <a:rPr lang="en-US" b="true" sz="2399" spc="-112">
                <a:solidFill>
                  <a:srgbClr val="424242"/>
                </a:solidFill>
                <a:latin typeface="Open Sauce Bold"/>
                <a:ea typeface="Open Sauce Bold"/>
                <a:cs typeface="Open Sauce Bold"/>
                <a:sym typeface="Open Sauce Bold"/>
              </a:rPr>
              <a:t>, </a:t>
            </a:r>
            <a:r>
              <a:rPr lang="en-US" b="true" sz="2399" spc="-112">
                <a:solidFill>
                  <a:srgbClr val="000000"/>
                </a:solidFill>
                <a:latin typeface="Open Sauce Bold"/>
                <a:ea typeface="Open Sauce Bold"/>
                <a:cs typeface="Open Sauce Bold"/>
                <a:sym typeface="Open Sauce Bold"/>
              </a:rPr>
              <a:t>performa operasional</a:t>
            </a:r>
            <a:r>
              <a:rPr lang="en-US" b="true" sz="2399" spc="-112">
                <a:solidFill>
                  <a:srgbClr val="424242"/>
                </a:solidFill>
                <a:latin typeface="Open Sauce Bold"/>
                <a:ea typeface="Open Sauce Bold"/>
                <a:cs typeface="Open Sauce Bold"/>
                <a:sym typeface="Open Sauce Bold"/>
              </a:rPr>
              <a:t>, dan </a:t>
            </a:r>
            <a:r>
              <a:rPr lang="en-US" b="true" sz="2399" spc="-112">
                <a:solidFill>
                  <a:srgbClr val="000000"/>
                </a:solidFill>
                <a:latin typeface="Open Sauce Bold"/>
                <a:ea typeface="Open Sauce Bold"/>
                <a:cs typeface="Open Sauce Bold"/>
                <a:sym typeface="Open Sauce Bold"/>
              </a:rPr>
              <a:t>perilaku pelanggan</a:t>
            </a:r>
            <a:r>
              <a:rPr lang="en-US" b="true" sz="2399" spc="-112">
                <a:solidFill>
                  <a:srgbClr val="424242"/>
                </a:solidFill>
                <a:latin typeface="Open Sauce Bold"/>
                <a:ea typeface="Open Sauce Bold"/>
                <a:cs typeface="Open Sauce Bold"/>
                <a:sym typeface="Open Sauce Bold"/>
              </a:rPr>
              <a:t> guna mendukung pengambilan keputusan bisnis yang lebih efektif dan berbasis data</a:t>
            </a:r>
          </a:p>
        </p:txBody>
      </p:sp>
      <p:grpSp>
        <p:nvGrpSpPr>
          <p:cNvPr name="Group 9" id="9"/>
          <p:cNvGrpSpPr/>
          <p:nvPr/>
        </p:nvGrpSpPr>
        <p:grpSpPr>
          <a:xfrm rot="0">
            <a:off x="1028700" y="5977056"/>
            <a:ext cx="16230600" cy="3308801"/>
            <a:chOff x="0" y="0"/>
            <a:chExt cx="4274726" cy="871454"/>
          </a:xfrm>
        </p:grpSpPr>
        <p:sp>
          <p:nvSpPr>
            <p:cNvPr name="Freeform 10" id="10"/>
            <p:cNvSpPr/>
            <p:nvPr/>
          </p:nvSpPr>
          <p:spPr>
            <a:xfrm flipH="false" flipV="false" rot="0">
              <a:off x="0" y="0"/>
              <a:ext cx="4274726" cy="871454"/>
            </a:xfrm>
            <a:custGeom>
              <a:avLst/>
              <a:gdLst/>
              <a:ahLst/>
              <a:cxnLst/>
              <a:rect r="r" b="b" t="t" l="l"/>
              <a:pathLst>
                <a:path h="871454" w="4274726">
                  <a:moveTo>
                    <a:pt x="31482" y="0"/>
                  </a:moveTo>
                  <a:lnTo>
                    <a:pt x="4243244" y="0"/>
                  </a:lnTo>
                  <a:cubicBezTo>
                    <a:pt x="4260631" y="0"/>
                    <a:pt x="4274726" y="14095"/>
                    <a:pt x="4274726" y="31482"/>
                  </a:cubicBezTo>
                  <a:lnTo>
                    <a:pt x="4274726" y="839972"/>
                  </a:lnTo>
                  <a:cubicBezTo>
                    <a:pt x="4274726" y="857359"/>
                    <a:pt x="4260631" y="871454"/>
                    <a:pt x="4243244" y="871454"/>
                  </a:cubicBezTo>
                  <a:lnTo>
                    <a:pt x="31482" y="871454"/>
                  </a:lnTo>
                  <a:cubicBezTo>
                    <a:pt x="23132" y="871454"/>
                    <a:pt x="15125" y="868137"/>
                    <a:pt x="9221" y="862233"/>
                  </a:cubicBezTo>
                  <a:cubicBezTo>
                    <a:pt x="3317" y="856329"/>
                    <a:pt x="0" y="848322"/>
                    <a:pt x="0" y="839972"/>
                  </a:cubicBezTo>
                  <a:lnTo>
                    <a:pt x="0" y="31482"/>
                  </a:lnTo>
                  <a:cubicBezTo>
                    <a:pt x="0" y="14095"/>
                    <a:pt x="14095" y="0"/>
                    <a:pt x="31482"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11" id="11"/>
            <p:cNvSpPr txBox="true"/>
            <p:nvPr/>
          </p:nvSpPr>
          <p:spPr>
            <a:xfrm>
              <a:off x="0" y="-28575"/>
              <a:ext cx="4274726" cy="900029"/>
            </a:xfrm>
            <a:prstGeom prst="rect">
              <a:avLst/>
            </a:prstGeom>
          </p:spPr>
          <p:txBody>
            <a:bodyPr anchor="ctr" rtlCol="false" tIns="50800" lIns="50800" bIns="50800" rIns="50800"/>
            <a:lstStyle/>
            <a:p>
              <a:pPr algn="ctr">
                <a:lnSpc>
                  <a:spcPts val="2015"/>
                </a:lnSpc>
              </a:pPr>
            </a:p>
          </p:txBody>
        </p:sp>
      </p:grpSp>
      <p:sp>
        <p:nvSpPr>
          <p:cNvPr name="TextBox 12" id="12"/>
          <p:cNvSpPr txBox="true"/>
          <p:nvPr/>
        </p:nvSpPr>
        <p:spPr>
          <a:xfrm rot="0">
            <a:off x="1177090" y="5285542"/>
            <a:ext cx="3212302" cy="577214"/>
          </a:xfrm>
          <a:prstGeom prst="rect">
            <a:avLst/>
          </a:prstGeom>
        </p:spPr>
        <p:txBody>
          <a:bodyPr anchor="t" rtlCol="false" tIns="0" lIns="0" bIns="0" rIns="0">
            <a:spAutoFit/>
          </a:bodyPr>
          <a:lstStyle/>
          <a:p>
            <a:pPr algn="l">
              <a:lnSpc>
                <a:spcPts val="4229"/>
              </a:lnSpc>
            </a:pPr>
            <a:r>
              <a:rPr lang="en-US" b="true" sz="4499" spc="-211">
                <a:solidFill>
                  <a:srgbClr val="424242"/>
                </a:solidFill>
                <a:latin typeface="Open Sauce Heavy"/>
                <a:ea typeface="Open Sauce Heavy"/>
                <a:cs typeface="Open Sauce Heavy"/>
                <a:sym typeface="Open Sauce Heavy"/>
              </a:rPr>
              <a:t>Objective</a:t>
            </a:r>
          </a:p>
        </p:txBody>
      </p:sp>
      <p:sp>
        <p:nvSpPr>
          <p:cNvPr name="TextBox 13" id="13"/>
          <p:cNvSpPr txBox="true"/>
          <p:nvPr/>
        </p:nvSpPr>
        <p:spPr>
          <a:xfrm rot="0">
            <a:off x="1350633" y="6347486"/>
            <a:ext cx="14925600" cy="2501265"/>
          </a:xfrm>
          <a:prstGeom prst="rect">
            <a:avLst/>
          </a:prstGeom>
        </p:spPr>
        <p:txBody>
          <a:bodyPr anchor="t" rtlCol="false" tIns="0" lIns="0" bIns="0" rIns="0">
            <a:spAutoFit/>
          </a:bodyPr>
          <a:lstStyle/>
          <a:p>
            <a:pPr algn="just" marL="518158" indent="-259079" lvl="1">
              <a:lnSpc>
                <a:spcPts val="3359"/>
              </a:lnSpc>
              <a:buFont typeface="Arial"/>
              <a:buChar char="•"/>
            </a:pPr>
            <a:r>
              <a:rPr lang="en-US" b="true" sz="2399" spc="-112">
                <a:solidFill>
                  <a:srgbClr val="424242"/>
                </a:solidFill>
                <a:latin typeface="Open Sauce Bold"/>
                <a:ea typeface="Open Sauce Bold"/>
                <a:cs typeface="Open Sauce Bold"/>
                <a:sym typeface="Open Sauce Bold"/>
              </a:rPr>
              <a:t>Menganalisis tren dan sumber pendapatan perusahaan.</a:t>
            </a:r>
          </a:p>
          <a:p>
            <a:pPr algn="just" marL="518158" indent="-259079" lvl="1">
              <a:lnSpc>
                <a:spcPts val="3359"/>
              </a:lnSpc>
              <a:buFont typeface="Arial"/>
              <a:buChar char="•"/>
            </a:pPr>
            <a:r>
              <a:rPr lang="en-US" b="true" sz="2399" spc="-112">
                <a:solidFill>
                  <a:srgbClr val="424242"/>
                </a:solidFill>
                <a:latin typeface="Open Sauce Bold"/>
                <a:ea typeface="Open Sauce Bold"/>
                <a:cs typeface="Open Sauce Bold"/>
                <a:sym typeface="Open Sauce Bold"/>
              </a:rPr>
              <a:t>Mengidentifikasi genre dan rating film yang paling berkontribusi terhadap revenue.</a:t>
            </a:r>
          </a:p>
          <a:p>
            <a:pPr algn="just" marL="518158" indent="-259079" lvl="1">
              <a:lnSpc>
                <a:spcPts val="3359"/>
              </a:lnSpc>
              <a:buFont typeface="Arial"/>
              <a:buChar char="•"/>
            </a:pPr>
            <a:r>
              <a:rPr lang="en-US" b="true" sz="2399" spc="-112">
                <a:solidFill>
                  <a:srgbClr val="424242"/>
                </a:solidFill>
                <a:latin typeface="Open Sauce Bold"/>
                <a:ea typeface="Open Sauce Bold"/>
                <a:cs typeface="Open Sauce Bold"/>
                <a:sym typeface="Open Sauce Bold"/>
              </a:rPr>
              <a:t>Mengevaluasi performa toko dan staf.</a:t>
            </a:r>
          </a:p>
          <a:p>
            <a:pPr algn="just" marL="518158" indent="-259079" lvl="1">
              <a:lnSpc>
                <a:spcPts val="3359"/>
              </a:lnSpc>
              <a:buFont typeface="Arial"/>
              <a:buChar char="•"/>
            </a:pPr>
            <a:r>
              <a:rPr lang="en-US" b="true" sz="2399" spc="-112">
                <a:solidFill>
                  <a:srgbClr val="424242"/>
                </a:solidFill>
                <a:latin typeface="Open Sauce Bold"/>
                <a:ea typeface="Open Sauce Bold"/>
                <a:cs typeface="Open Sauce Bold"/>
                <a:sym typeface="Open Sauce Bold"/>
              </a:rPr>
              <a:t>Memahami perilaku rental serta keterlambatan pelanggan.</a:t>
            </a:r>
          </a:p>
          <a:p>
            <a:pPr algn="just" marL="518158" indent="-259079" lvl="1">
              <a:lnSpc>
                <a:spcPts val="3359"/>
              </a:lnSpc>
              <a:buFont typeface="Arial"/>
              <a:buChar char="•"/>
            </a:pPr>
            <a:r>
              <a:rPr lang="en-US" b="true" sz="2399" spc="-112">
                <a:solidFill>
                  <a:srgbClr val="424242"/>
                </a:solidFill>
                <a:latin typeface="Open Sauce Bold"/>
                <a:ea typeface="Open Sauce Bold"/>
                <a:cs typeface="Open Sauce Bold"/>
                <a:sym typeface="Open Sauce Bold"/>
              </a:rPr>
              <a:t>Mengidentifikasi karakteristik dan persebaran pelanggan.</a:t>
            </a:r>
          </a:p>
          <a:p>
            <a:pPr algn="just" marL="518158" indent="-259079" lvl="1">
              <a:lnSpc>
                <a:spcPts val="3359"/>
              </a:lnSpc>
              <a:buFont typeface="Arial"/>
              <a:buChar char="•"/>
            </a:pPr>
            <a:r>
              <a:rPr lang="en-US" b="true" sz="2399" spc="-112">
                <a:solidFill>
                  <a:srgbClr val="424242"/>
                </a:solidFill>
                <a:latin typeface="Open Sauce Bold"/>
                <a:ea typeface="Open Sauce Bold"/>
                <a:cs typeface="Open Sauce Bold"/>
                <a:sym typeface="Open Sauce Bold"/>
              </a:rPr>
              <a:t>Menyusun rekomendasi strategi bisnis berbasis 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7428904" cy="6811894"/>
            <a:chOff x="0" y="0"/>
            <a:chExt cx="1956584" cy="1794079"/>
          </a:xfrm>
        </p:grpSpPr>
        <p:sp>
          <p:nvSpPr>
            <p:cNvPr name="Freeform 4" id="4"/>
            <p:cNvSpPr/>
            <p:nvPr/>
          </p:nvSpPr>
          <p:spPr>
            <a:xfrm flipH="false" flipV="false" rot="0">
              <a:off x="0" y="0"/>
              <a:ext cx="1956584" cy="1794079"/>
            </a:xfrm>
            <a:custGeom>
              <a:avLst/>
              <a:gdLst/>
              <a:ahLst/>
              <a:cxnLst/>
              <a:rect r="r" b="b" t="t" l="l"/>
              <a:pathLst>
                <a:path h="1794079" w="1956584">
                  <a:moveTo>
                    <a:pt x="68781" y="0"/>
                  </a:moveTo>
                  <a:lnTo>
                    <a:pt x="1887803" y="0"/>
                  </a:lnTo>
                  <a:cubicBezTo>
                    <a:pt x="1925790" y="0"/>
                    <a:pt x="1956584" y="30794"/>
                    <a:pt x="1956584" y="68781"/>
                  </a:cubicBezTo>
                  <a:lnTo>
                    <a:pt x="1956584" y="1725298"/>
                  </a:lnTo>
                  <a:cubicBezTo>
                    <a:pt x="1956584" y="1763285"/>
                    <a:pt x="1925790" y="1794079"/>
                    <a:pt x="1887803" y="1794079"/>
                  </a:cubicBezTo>
                  <a:lnTo>
                    <a:pt x="68781" y="1794079"/>
                  </a:lnTo>
                  <a:cubicBezTo>
                    <a:pt x="30794" y="1794079"/>
                    <a:pt x="0" y="1763285"/>
                    <a:pt x="0" y="1725298"/>
                  </a:cubicBezTo>
                  <a:lnTo>
                    <a:pt x="0" y="68781"/>
                  </a:lnTo>
                  <a:cubicBezTo>
                    <a:pt x="0" y="30794"/>
                    <a:pt x="30794" y="0"/>
                    <a:pt x="6878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1956584" cy="1822654"/>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9" id="9"/>
          <p:cNvGrpSpPr/>
          <p:nvPr/>
        </p:nvGrpSpPr>
        <p:grpSpPr>
          <a:xfrm rot="0">
            <a:off x="8445179" y="3061729"/>
            <a:ext cx="9665967" cy="6811894"/>
            <a:chOff x="0" y="0"/>
            <a:chExt cx="2545769" cy="1794079"/>
          </a:xfrm>
        </p:grpSpPr>
        <p:sp>
          <p:nvSpPr>
            <p:cNvPr name="Freeform 10" id="10"/>
            <p:cNvSpPr/>
            <p:nvPr/>
          </p:nvSpPr>
          <p:spPr>
            <a:xfrm flipH="false" flipV="false" rot="0">
              <a:off x="0" y="0"/>
              <a:ext cx="2545769" cy="1794079"/>
            </a:xfrm>
            <a:custGeom>
              <a:avLst/>
              <a:gdLst/>
              <a:ahLst/>
              <a:cxnLst/>
              <a:rect r="r" b="b" t="t" l="l"/>
              <a:pathLst>
                <a:path h="1794079" w="2545769">
                  <a:moveTo>
                    <a:pt x="52862" y="0"/>
                  </a:moveTo>
                  <a:lnTo>
                    <a:pt x="2492907" y="0"/>
                  </a:lnTo>
                  <a:cubicBezTo>
                    <a:pt x="2506927" y="0"/>
                    <a:pt x="2520373" y="5569"/>
                    <a:pt x="2530286" y="15483"/>
                  </a:cubicBezTo>
                  <a:cubicBezTo>
                    <a:pt x="2540200" y="25397"/>
                    <a:pt x="2545769" y="38842"/>
                    <a:pt x="2545769" y="52862"/>
                  </a:cubicBezTo>
                  <a:lnTo>
                    <a:pt x="2545769" y="1741217"/>
                  </a:lnTo>
                  <a:cubicBezTo>
                    <a:pt x="2545769" y="1770412"/>
                    <a:pt x="2522102" y="1794079"/>
                    <a:pt x="2492907" y="1794079"/>
                  </a:cubicBezTo>
                  <a:lnTo>
                    <a:pt x="52862" y="1794079"/>
                  </a:lnTo>
                  <a:cubicBezTo>
                    <a:pt x="38842" y="1794079"/>
                    <a:pt x="25397" y="1788510"/>
                    <a:pt x="15483" y="1778596"/>
                  </a:cubicBezTo>
                  <a:cubicBezTo>
                    <a:pt x="5569" y="1768682"/>
                    <a:pt x="0" y="1755237"/>
                    <a:pt x="0" y="1741217"/>
                  </a:cubicBezTo>
                  <a:lnTo>
                    <a:pt x="0" y="52862"/>
                  </a:lnTo>
                  <a:cubicBezTo>
                    <a:pt x="0" y="38842"/>
                    <a:pt x="5569" y="25397"/>
                    <a:pt x="15483" y="15483"/>
                  </a:cubicBezTo>
                  <a:cubicBezTo>
                    <a:pt x="25397" y="5569"/>
                    <a:pt x="38842" y="0"/>
                    <a:pt x="52862" y="0"/>
                  </a:cubicBezTo>
                  <a:close/>
                </a:path>
              </a:pathLst>
            </a:custGeom>
            <a:solidFill>
              <a:srgbClr val="D0D7DD"/>
            </a:solidFill>
            <a:ln w="19050" cap="rnd">
              <a:solidFill>
                <a:srgbClr val="424242"/>
              </a:solidFill>
              <a:prstDash val="solid"/>
              <a:round/>
            </a:ln>
          </p:spPr>
        </p:sp>
        <p:sp>
          <p:nvSpPr>
            <p:cNvPr name="TextBox 11" id="11"/>
            <p:cNvSpPr txBox="true"/>
            <p:nvPr/>
          </p:nvSpPr>
          <p:spPr>
            <a:xfrm>
              <a:off x="0" y="-28575"/>
              <a:ext cx="2545769" cy="1822654"/>
            </a:xfrm>
            <a:prstGeom prst="rect">
              <a:avLst/>
            </a:prstGeom>
          </p:spPr>
          <p:txBody>
            <a:bodyPr anchor="ctr" rtlCol="false" tIns="50800" lIns="50800" bIns="50800" rIns="50800"/>
            <a:lstStyle/>
            <a:p>
              <a:pPr algn="ctr">
                <a:lnSpc>
                  <a:spcPts val="2015"/>
                </a:lnSpc>
              </a:pPr>
            </a:p>
          </p:txBody>
        </p:sp>
      </p:grpSp>
      <p:grpSp>
        <p:nvGrpSpPr>
          <p:cNvPr name="Group 12" id="12"/>
          <p:cNvGrpSpPr/>
          <p:nvPr/>
        </p:nvGrpSpPr>
        <p:grpSpPr>
          <a:xfrm rot="0">
            <a:off x="8664254" y="3256012"/>
            <a:ext cx="1154202" cy="804358"/>
            <a:chOff x="0" y="0"/>
            <a:chExt cx="303987" cy="211847"/>
          </a:xfrm>
        </p:grpSpPr>
        <p:sp>
          <p:nvSpPr>
            <p:cNvPr name="Freeform 13" id="13"/>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4" id="14"/>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15" id="15"/>
          <p:cNvSpPr/>
          <p:nvPr/>
        </p:nvSpPr>
        <p:spPr>
          <a:xfrm flipH="false" flipV="false" rot="0">
            <a:off x="2265054" y="4165197"/>
            <a:ext cx="4541983" cy="5513283"/>
          </a:xfrm>
          <a:custGeom>
            <a:avLst/>
            <a:gdLst/>
            <a:ahLst/>
            <a:cxnLst/>
            <a:rect r="r" b="b" t="t" l="l"/>
            <a:pathLst>
              <a:path h="5513283" w="4541983">
                <a:moveTo>
                  <a:pt x="0" y="0"/>
                </a:moveTo>
                <a:lnTo>
                  <a:pt x="4541983" y="0"/>
                </a:lnTo>
                <a:lnTo>
                  <a:pt x="4541983" y="5513282"/>
                </a:lnTo>
                <a:lnTo>
                  <a:pt x="0" y="5513282"/>
                </a:lnTo>
                <a:lnTo>
                  <a:pt x="0" y="0"/>
                </a:lnTo>
                <a:close/>
              </a:path>
            </a:pathLst>
          </a:custGeom>
          <a:blipFill>
            <a:blip r:embed="rId3"/>
            <a:stretch>
              <a:fillRect l="0" t="0" r="0" b="0"/>
            </a:stretch>
          </a:blipFill>
        </p:spPr>
      </p:sp>
      <p:sp>
        <p:nvSpPr>
          <p:cNvPr name="Freeform 16" id="16"/>
          <p:cNvSpPr/>
          <p:nvPr/>
        </p:nvSpPr>
        <p:spPr>
          <a:xfrm flipH="false" flipV="false" rot="0">
            <a:off x="8739790" y="4165197"/>
            <a:ext cx="6700040" cy="5513283"/>
          </a:xfrm>
          <a:custGeom>
            <a:avLst/>
            <a:gdLst/>
            <a:ahLst/>
            <a:cxnLst/>
            <a:rect r="r" b="b" t="t" l="l"/>
            <a:pathLst>
              <a:path h="5513283" w="6700040">
                <a:moveTo>
                  <a:pt x="0" y="0"/>
                </a:moveTo>
                <a:lnTo>
                  <a:pt x="6700040" y="0"/>
                </a:lnTo>
                <a:lnTo>
                  <a:pt x="6700040" y="5513282"/>
                </a:lnTo>
                <a:lnTo>
                  <a:pt x="0" y="5513282"/>
                </a:lnTo>
                <a:lnTo>
                  <a:pt x="0" y="0"/>
                </a:lnTo>
                <a:close/>
              </a:path>
            </a:pathLst>
          </a:custGeom>
          <a:blipFill>
            <a:blip r:embed="rId4"/>
            <a:stretch>
              <a:fillRect l="0" t="0" r="0" b="0"/>
            </a:stretch>
          </a:blipFill>
        </p:spPr>
      </p:sp>
      <p:sp>
        <p:nvSpPr>
          <p:cNvPr name="TextBox 17" id="17"/>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Dataset Overview</a:t>
            </a:r>
          </a:p>
        </p:txBody>
      </p:sp>
      <p:sp>
        <p:nvSpPr>
          <p:cNvPr name="TextBox 18" id="18"/>
          <p:cNvSpPr txBox="true"/>
          <p:nvPr/>
        </p:nvSpPr>
        <p:spPr>
          <a:xfrm rot="0">
            <a:off x="8816218"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02</a:t>
            </a:r>
          </a:p>
        </p:txBody>
      </p:sp>
      <p:sp>
        <p:nvSpPr>
          <p:cNvPr name="TextBox 19" id="19"/>
          <p:cNvSpPr txBox="true"/>
          <p:nvPr/>
        </p:nvSpPr>
        <p:spPr>
          <a:xfrm rot="0">
            <a:off x="10151107" y="346064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Address</a:t>
            </a:r>
          </a:p>
        </p:txBody>
      </p:sp>
      <p:sp>
        <p:nvSpPr>
          <p:cNvPr name="TextBox 20" id="20"/>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01</a:t>
            </a:r>
          </a:p>
        </p:txBody>
      </p:sp>
      <p:sp>
        <p:nvSpPr>
          <p:cNvPr name="TextBox 21" id="21"/>
          <p:cNvSpPr txBox="true"/>
          <p:nvPr/>
        </p:nvSpPr>
        <p:spPr>
          <a:xfrm rot="0">
            <a:off x="2663943" y="346064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Actor</a:t>
            </a:r>
          </a:p>
        </p:txBody>
      </p:sp>
      <p:sp>
        <p:nvSpPr>
          <p:cNvPr name="TextBox 22" id="22"/>
          <p:cNvSpPr txBox="true"/>
          <p:nvPr/>
        </p:nvSpPr>
        <p:spPr>
          <a:xfrm rot="0">
            <a:off x="15299930" y="4127097"/>
            <a:ext cx="2811217" cy="315912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Menghapus 3 kolom karena bernilai NaN.</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Menghapus 4 Missing Values di kolom postal_code.</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Mengubah tipe data kolom postal_code dari float menjadi ineteger.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7428904" cy="6811894"/>
            <a:chOff x="0" y="0"/>
            <a:chExt cx="1956584" cy="1794079"/>
          </a:xfrm>
        </p:grpSpPr>
        <p:sp>
          <p:nvSpPr>
            <p:cNvPr name="Freeform 4" id="4"/>
            <p:cNvSpPr/>
            <p:nvPr/>
          </p:nvSpPr>
          <p:spPr>
            <a:xfrm flipH="false" flipV="false" rot="0">
              <a:off x="0" y="0"/>
              <a:ext cx="1956584" cy="1794079"/>
            </a:xfrm>
            <a:custGeom>
              <a:avLst/>
              <a:gdLst/>
              <a:ahLst/>
              <a:cxnLst/>
              <a:rect r="r" b="b" t="t" l="l"/>
              <a:pathLst>
                <a:path h="1794079" w="1956584">
                  <a:moveTo>
                    <a:pt x="68781" y="0"/>
                  </a:moveTo>
                  <a:lnTo>
                    <a:pt x="1887803" y="0"/>
                  </a:lnTo>
                  <a:cubicBezTo>
                    <a:pt x="1925790" y="0"/>
                    <a:pt x="1956584" y="30794"/>
                    <a:pt x="1956584" y="68781"/>
                  </a:cubicBezTo>
                  <a:lnTo>
                    <a:pt x="1956584" y="1725298"/>
                  </a:lnTo>
                  <a:cubicBezTo>
                    <a:pt x="1956584" y="1763285"/>
                    <a:pt x="1925790" y="1794079"/>
                    <a:pt x="1887803" y="1794079"/>
                  </a:cubicBezTo>
                  <a:lnTo>
                    <a:pt x="68781" y="1794079"/>
                  </a:lnTo>
                  <a:cubicBezTo>
                    <a:pt x="30794" y="1794079"/>
                    <a:pt x="0" y="1763285"/>
                    <a:pt x="0" y="1725298"/>
                  </a:cubicBezTo>
                  <a:lnTo>
                    <a:pt x="0" y="68781"/>
                  </a:lnTo>
                  <a:cubicBezTo>
                    <a:pt x="0" y="30794"/>
                    <a:pt x="30794" y="0"/>
                    <a:pt x="6878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1956584" cy="1822654"/>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9" id="9"/>
          <p:cNvGrpSpPr/>
          <p:nvPr/>
        </p:nvGrpSpPr>
        <p:grpSpPr>
          <a:xfrm rot="0">
            <a:off x="8784269" y="3061729"/>
            <a:ext cx="6580002" cy="6811894"/>
            <a:chOff x="0" y="0"/>
            <a:chExt cx="1733005" cy="1794079"/>
          </a:xfrm>
        </p:grpSpPr>
        <p:sp>
          <p:nvSpPr>
            <p:cNvPr name="Freeform 10" id="10"/>
            <p:cNvSpPr/>
            <p:nvPr/>
          </p:nvSpPr>
          <p:spPr>
            <a:xfrm flipH="false" flipV="false" rot="0">
              <a:off x="0" y="0"/>
              <a:ext cx="1733005" cy="1794079"/>
            </a:xfrm>
            <a:custGeom>
              <a:avLst/>
              <a:gdLst/>
              <a:ahLst/>
              <a:cxnLst/>
              <a:rect r="r" b="b" t="t" l="l"/>
              <a:pathLst>
                <a:path h="1794079" w="1733005">
                  <a:moveTo>
                    <a:pt x="77654" y="0"/>
                  </a:moveTo>
                  <a:lnTo>
                    <a:pt x="1655350" y="0"/>
                  </a:lnTo>
                  <a:cubicBezTo>
                    <a:pt x="1698238" y="0"/>
                    <a:pt x="1733005" y="34767"/>
                    <a:pt x="1733005" y="77654"/>
                  </a:cubicBezTo>
                  <a:lnTo>
                    <a:pt x="1733005" y="1716424"/>
                  </a:lnTo>
                  <a:cubicBezTo>
                    <a:pt x="1733005" y="1759312"/>
                    <a:pt x="1698238" y="1794079"/>
                    <a:pt x="1655350" y="1794079"/>
                  </a:cubicBezTo>
                  <a:lnTo>
                    <a:pt x="77654" y="1794079"/>
                  </a:lnTo>
                  <a:cubicBezTo>
                    <a:pt x="34767" y="1794079"/>
                    <a:pt x="0" y="1759312"/>
                    <a:pt x="0" y="1716424"/>
                  </a:cubicBezTo>
                  <a:lnTo>
                    <a:pt x="0" y="77654"/>
                  </a:lnTo>
                  <a:cubicBezTo>
                    <a:pt x="0" y="34767"/>
                    <a:pt x="34767" y="0"/>
                    <a:pt x="77654" y="0"/>
                  </a:cubicBezTo>
                  <a:close/>
                </a:path>
              </a:pathLst>
            </a:custGeom>
            <a:solidFill>
              <a:srgbClr val="D0D7DD"/>
            </a:solidFill>
            <a:ln w="19050" cap="rnd">
              <a:solidFill>
                <a:srgbClr val="424242"/>
              </a:solidFill>
              <a:prstDash val="solid"/>
              <a:round/>
            </a:ln>
          </p:spPr>
        </p:sp>
        <p:sp>
          <p:nvSpPr>
            <p:cNvPr name="TextBox 11" id="11"/>
            <p:cNvSpPr txBox="true"/>
            <p:nvPr/>
          </p:nvSpPr>
          <p:spPr>
            <a:xfrm>
              <a:off x="0" y="-28575"/>
              <a:ext cx="1733005" cy="1822654"/>
            </a:xfrm>
            <a:prstGeom prst="rect">
              <a:avLst/>
            </a:prstGeom>
          </p:spPr>
          <p:txBody>
            <a:bodyPr anchor="ctr" rtlCol="false" tIns="50800" lIns="50800" bIns="50800" rIns="50800"/>
            <a:lstStyle/>
            <a:p>
              <a:pPr algn="ctr">
                <a:lnSpc>
                  <a:spcPts val="2015"/>
                </a:lnSpc>
              </a:pPr>
            </a:p>
          </p:txBody>
        </p:sp>
      </p:grpSp>
      <p:grpSp>
        <p:nvGrpSpPr>
          <p:cNvPr name="Group 12" id="12"/>
          <p:cNvGrpSpPr/>
          <p:nvPr/>
        </p:nvGrpSpPr>
        <p:grpSpPr>
          <a:xfrm rot="0">
            <a:off x="9062075" y="3256012"/>
            <a:ext cx="1154202" cy="804358"/>
            <a:chOff x="0" y="0"/>
            <a:chExt cx="303987" cy="211847"/>
          </a:xfrm>
        </p:grpSpPr>
        <p:sp>
          <p:nvSpPr>
            <p:cNvPr name="Freeform 13" id="13"/>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4" id="14"/>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15" id="15"/>
          <p:cNvSpPr/>
          <p:nvPr/>
        </p:nvSpPr>
        <p:spPr>
          <a:xfrm flipH="false" flipV="false" rot="0">
            <a:off x="5071615" y="3256012"/>
            <a:ext cx="2758302" cy="6422467"/>
          </a:xfrm>
          <a:custGeom>
            <a:avLst/>
            <a:gdLst/>
            <a:ahLst/>
            <a:cxnLst/>
            <a:rect r="r" b="b" t="t" l="l"/>
            <a:pathLst>
              <a:path h="6422467" w="2758302">
                <a:moveTo>
                  <a:pt x="0" y="0"/>
                </a:moveTo>
                <a:lnTo>
                  <a:pt x="2758302" y="0"/>
                </a:lnTo>
                <a:lnTo>
                  <a:pt x="2758302" y="6422467"/>
                </a:lnTo>
                <a:lnTo>
                  <a:pt x="0" y="6422467"/>
                </a:lnTo>
                <a:lnTo>
                  <a:pt x="0" y="0"/>
                </a:lnTo>
                <a:close/>
              </a:path>
            </a:pathLst>
          </a:custGeom>
          <a:blipFill>
            <a:blip r:embed="rId3"/>
            <a:stretch>
              <a:fillRect l="0" t="0" r="0" b="0"/>
            </a:stretch>
          </a:blipFill>
        </p:spPr>
      </p:sp>
      <p:sp>
        <p:nvSpPr>
          <p:cNvPr name="Freeform 16" id="16"/>
          <p:cNvSpPr/>
          <p:nvPr/>
        </p:nvSpPr>
        <p:spPr>
          <a:xfrm flipH="false" flipV="false" rot="0">
            <a:off x="10078759" y="4060370"/>
            <a:ext cx="4839925" cy="5618109"/>
          </a:xfrm>
          <a:custGeom>
            <a:avLst/>
            <a:gdLst/>
            <a:ahLst/>
            <a:cxnLst/>
            <a:rect r="r" b="b" t="t" l="l"/>
            <a:pathLst>
              <a:path h="5618109" w="4839925">
                <a:moveTo>
                  <a:pt x="0" y="0"/>
                </a:moveTo>
                <a:lnTo>
                  <a:pt x="4839925" y="0"/>
                </a:lnTo>
                <a:lnTo>
                  <a:pt x="4839925" y="5618109"/>
                </a:lnTo>
                <a:lnTo>
                  <a:pt x="0" y="5618109"/>
                </a:lnTo>
                <a:lnTo>
                  <a:pt x="0" y="0"/>
                </a:lnTo>
                <a:close/>
              </a:path>
            </a:pathLst>
          </a:custGeom>
          <a:blipFill>
            <a:blip r:embed="rId4"/>
            <a:stretch>
              <a:fillRect l="0" t="0" r="0" b="0"/>
            </a:stretch>
          </a:blipFill>
        </p:spPr>
      </p:sp>
      <p:sp>
        <p:nvSpPr>
          <p:cNvPr name="TextBox 17" id="17"/>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Dataset Overview</a:t>
            </a:r>
          </a:p>
        </p:txBody>
      </p:sp>
      <p:sp>
        <p:nvSpPr>
          <p:cNvPr name="TextBox 18" id="18"/>
          <p:cNvSpPr txBox="true"/>
          <p:nvPr/>
        </p:nvSpPr>
        <p:spPr>
          <a:xfrm rot="0">
            <a:off x="9214039"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04</a:t>
            </a:r>
          </a:p>
        </p:txBody>
      </p:sp>
      <p:sp>
        <p:nvSpPr>
          <p:cNvPr name="TextBox 19" id="19"/>
          <p:cNvSpPr txBox="true"/>
          <p:nvPr/>
        </p:nvSpPr>
        <p:spPr>
          <a:xfrm rot="0">
            <a:off x="10548928" y="346064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City</a:t>
            </a:r>
          </a:p>
        </p:txBody>
      </p:sp>
      <p:sp>
        <p:nvSpPr>
          <p:cNvPr name="TextBox 20" id="20"/>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03</a:t>
            </a:r>
          </a:p>
        </p:txBody>
      </p:sp>
      <p:sp>
        <p:nvSpPr>
          <p:cNvPr name="TextBox 21" id="21"/>
          <p:cNvSpPr txBox="true"/>
          <p:nvPr/>
        </p:nvSpPr>
        <p:spPr>
          <a:xfrm rot="0">
            <a:off x="2663943" y="346064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Category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6062962" cy="6811894"/>
            <a:chOff x="0" y="0"/>
            <a:chExt cx="1596829" cy="1794079"/>
          </a:xfrm>
        </p:grpSpPr>
        <p:sp>
          <p:nvSpPr>
            <p:cNvPr name="Freeform 4" id="4"/>
            <p:cNvSpPr/>
            <p:nvPr/>
          </p:nvSpPr>
          <p:spPr>
            <a:xfrm flipH="false" flipV="false" rot="0">
              <a:off x="0" y="0"/>
              <a:ext cx="1596829" cy="1794079"/>
            </a:xfrm>
            <a:custGeom>
              <a:avLst/>
              <a:gdLst/>
              <a:ahLst/>
              <a:cxnLst/>
              <a:rect r="r" b="b" t="t" l="l"/>
              <a:pathLst>
                <a:path h="1794079" w="1596829">
                  <a:moveTo>
                    <a:pt x="84277" y="0"/>
                  </a:moveTo>
                  <a:lnTo>
                    <a:pt x="1512553" y="0"/>
                  </a:lnTo>
                  <a:cubicBezTo>
                    <a:pt x="1559097" y="0"/>
                    <a:pt x="1596829" y="37732"/>
                    <a:pt x="1596829" y="84277"/>
                  </a:cubicBezTo>
                  <a:lnTo>
                    <a:pt x="1596829" y="1709802"/>
                  </a:lnTo>
                  <a:cubicBezTo>
                    <a:pt x="1596829" y="1756347"/>
                    <a:pt x="1559097" y="1794079"/>
                    <a:pt x="1512553" y="1794079"/>
                  </a:cubicBezTo>
                  <a:lnTo>
                    <a:pt x="84277" y="1794079"/>
                  </a:lnTo>
                  <a:cubicBezTo>
                    <a:pt x="37732" y="1794079"/>
                    <a:pt x="0" y="1756347"/>
                    <a:pt x="0" y="1709802"/>
                  </a:cubicBezTo>
                  <a:lnTo>
                    <a:pt x="0" y="84277"/>
                  </a:lnTo>
                  <a:cubicBezTo>
                    <a:pt x="0" y="37732"/>
                    <a:pt x="37732" y="0"/>
                    <a:pt x="84277"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1596829" cy="1822654"/>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9" id="9"/>
          <p:cNvGrpSpPr/>
          <p:nvPr/>
        </p:nvGrpSpPr>
        <p:grpSpPr>
          <a:xfrm rot="0">
            <a:off x="7336412" y="3061729"/>
            <a:ext cx="10555419" cy="6811894"/>
            <a:chOff x="0" y="0"/>
            <a:chExt cx="2780028" cy="1794079"/>
          </a:xfrm>
        </p:grpSpPr>
        <p:sp>
          <p:nvSpPr>
            <p:cNvPr name="Freeform 10" id="10"/>
            <p:cNvSpPr/>
            <p:nvPr/>
          </p:nvSpPr>
          <p:spPr>
            <a:xfrm flipH="false" flipV="false" rot="0">
              <a:off x="0" y="0"/>
              <a:ext cx="2780028" cy="1794079"/>
            </a:xfrm>
            <a:custGeom>
              <a:avLst/>
              <a:gdLst/>
              <a:ahLst/>
              <a:cxnLst/>
              <a:rect r="r" b="b" t="t" l="l"/>
              <a:pathLst>
                <a:path h="1794079" w="2780028">
                  <a:moveTo>
                    <a:pt x="48408" y="0"/>
                  </a:moveTo>
                  <a:lnTo>
                    <a:pt x="2731620" y="0"/>
                  </a:lnTo>
                  <a:cubicBezTo>
                    <a:pt x="2744459" y="0"/>
                    <a:pt x="2756771" y="5100"/>
                    <a:pt x="2765850" y="14178"/>
                  </a:cubicBezTo>
                  <a:cubicBezTo>
                    <a:pt x="2774928" y="23257"/>
                    <a:pt x="2780028" y="35569"/>
                    <a:pt x="2780028" y="48408"/>
                  </a:cubicBezTo>
                  <a:lnTo>
                    <a:pt x="2780028" y="1745671"/>
                  </a:lnTo>
                  <a:cubicBezTo>
                    <a:pt x="2780028" y="1772406"/>
                    <a:pt x="2758355" y="1794079"/>
                    <a:pt x="2731620" y="1794079"/>
                  </a:cubicBezTo>
                  <a:lnTo>
                    <a:pt x="48408" y="1794079"/>
                  </a:lnTo>
                  <a:cubicBezTo>
                    <a:pt x="35569" y="1794079"/>
                    <a:pt x="23257" y="1788979"/>
                    <a:pt x="14178" y="1779901"/>
                  </a:cubicBezTo>
                  <a:cubicBezTo>
                    <a:pt x="5100" y="1770822"/>
                    <a:pt x="0" y="1758510"/>
                    <a:pt x="0" y="1745671"/>
                  </a:cubicBezTo>
                  <a:lnTo>
                    <a:pt x="0" y="48408"/>
                  </a:lnTo>
                  <a:cubicBezTo>
                    <a:pt x="0" y="35569"/>
                    <a:pt x="5100" y="23257"/>
                    <a:pt x="14178" y="14178"/>
                  </a:cubicBezTo>
                  <a:cubicBezTo>
                    <a:pt x="23257" y="5100"/>
                    <a:pt x="35569" y="0"/>
                    <a:pt x="48408" y="0"/>
                  </a:cubicBezTo>
                  <a:close/>
                </a:path>
              </a:pathLst>
            </a:custGeom>
            <a:solidFill>
              <a:srgbClr val="D0D7DD"/>
            </a:solidFill>
            <a:ln w="19050" cap="rnd">
              <a:solidFill>
                <a:srgbClr val="424242"/>
              </a:solidFill>
              <a:prstDash val="solid"/>
              <a:round/>
            </a:ln>
          </p:spPr>
        </p:sp>
        <p:sp>
          <p:nvSpPr>
            <p:cNvPr name="TextBox 11" id="11"/>
            <p:cNvSpPr txBox="true"/>
            <p:nvPr/>
          </p:nvSpPr>
          <p:spPr>
            <a:xfrm>
              <a:off x="0" y="-28575"/>
              <a:ext cx="2780028" cy="1822654"/>
            </a:xfrm>
            <a:prstGeom prst="rect">
              <a:avLst/>
            </a:prstGeom>
          </p:spPr>
          <p:txBody>
            <a:bodyPr anchor="ctr" rtlCol="false" tIns="50800" lIns="50800" bIns="50800" rIns="50800"/>
            <a:lstStyle/>
            <a:p>
              <a:pPr algn="ctr">
                <a:lnSpc>
                  <a:spcPts val="2015"/>
                </a:lnSpc>
              </a:pPr>
            </a:p>
          </p:txBody>
        </p:sp>
      </p:grpSp>
      <p:grpSp>
        <p:nvGrpSpPr>
          <p:cNvPr name="Group 12" id="12"/>
          <p:cNvGrpSpPr/>
          <p:nvPr/>
        </p:nvGrpSpPr>
        <p:grpSpPr>
          <a:xfrm rot="0">
            <a:off x="7850762" y="3260781"/>
            <a:ext cx="1154202" cy="804358"/>
            <a:chOff x="0" y="0"/>
            <a:chExt cx="303987" cy="211847"/>
          </a:xfrm>
        </p:grpSpPr>
        <p:sp>
          <p:nvSpPr>
            <p:cNvPr name="Freeform 13" id="13"/>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4" id="14"/>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15" id="15"/>
          <p:cNvSpPr/>
          <p:nvPr/>
        </p:nvSpPr>
        <p:spPr>
          <a:xfrm flipH="false" flipV="false" rot="0">
            <a:off x="2706283" y="4060370"/>
            <a:ext cx="3820289" cy="5677508"/>
          </a:xfrm>
          <a:custGeom>
            <a:avLst/>
            <a:gdLst/>
            <a:ahLst/>
            <a:cxnLst/>
            <a:rect r="r" b="b" t="t" l="l"/>
            <a:pathLst>
              <a:path h="5677508" w="3820289">
                <a:moveTo>
                  <a:pt x="0" y="0"/>
                </a:moveTo>
                <a:lnTo>
                  <a:pt x="3820289" y="0"/>
                </a:lnTo>
                <a:lnTo>
                  <a:pt x="3820289" y="5677508"/>
                </a:lnTo>
                <a:lnTo>
                  <a:pt x="0" y="5677508"/>
                </a:lnTo>
                <a:lnTo>
                  <a:pt x="0" y="0"/>
                </a:lnTo>
                <a:close/>
              </a:path>
            </a:pathLst>
          </a:custGeom>
          <a:blipFill>
            <a:blip r:embed="rId3"/>
            <a:stretch>
              <a:fillRect l="0" t="0" r="0" b="0"/>
            </a:stretch>
          </a:blipFill>
        </p:spPr>
      </p:sp>
      <p:sp>
        <p:nvSpPr>
          <p:cNvPr name="Freeform 16" id="16"/>
          <p:cNvSpPr/>
          <p:nvPr/>
        </p:nvSpPr>
        <p:spPr>
          <a:xfrm flipH="false" flipV="false" rot="0">
            <a:off x="7479287" y="4596129"/>
            <a:ext cx="10235531" cy="4605989"/>
          </a:xfrm>
          <a:custGeom>
            <a:avLst/>
            <a:gdLst/>
            <a:ahLst/>
            <a:cxnLst/>
            <a:rect r="r" b="b" t="t" l="l"/>
            <a:pathLst>
              <a:path h="4605989" w="10235531">
                <a:moveTo>
                  <a:pt x="0" y="0"/>
                </a:moveTo>
                <a:lnTo>
                  <a:pt x="10235531" y="0"/>
                </a:lnTo>
                <a:lnTo>
                  <a:pt x="10235531" y="4605989"/>
                </a:lnTo>
                <a:lnTo>
                  <a:pt x="0" y="4605989"/>
                </a:lnTo>
                <a:lnTo>
                  <a:pt x="0" y="0"/>
                </a:lnTo>
                <a:close/>
              </a:path>
            </a:pathLst>
          </a:custGeom>
          <a:blipFill>
            <a:blip r:embed="rId4"/>
            <a:stretch>
              <a:fillRect l="0" t="0" r="0" b="0"/>
            </a:stretch>
          </a:blipFill>
        </p:spPr>
      </p:sp>
      <p:sp>
        <p:nvSpPr>
          <p:cNvPr name="TextBox 17" id="17"/>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Dataset Overview</a:t>
            </a:r>
          </a:p>
        </p:txBody>
      </p:sp>
      <p:sp>
        <p:nvSpPr>
          <p:cNvPr name="TextBox 18" id="18"/>
          <p:cNvSpPr txBox="true"/>
          <p:nvPr/>
        </p:nvSpPr>
        <p:spPr>
          <a:xfrm rot="0">
            <a:off x="8002725" y="3489230"/>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06</a:t>
            </a:r>
          </a:p>
        </p:txBody>
      </p:sp>
      <p:sp>
        <p:nvSpPr>
          <p:cNvPr name="TextBox 19" id="19"/>
          <p:cNvSpPr txBox="true"/>
          <p:nvPr/>
        </p:nvSpPr>
        <p:spPr>
          <a:xfrm rot="0">
            <a:off x="9337615" y="3465412"/>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Customer</a:t>
            </a:r>
          </a:p>
        </p:txBody>
      </p:sp>
      <p:sp>
        <p:nvSpPr>
          <p:cNvPr name="TextBox 20" id="20"/>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05</a:t>
            </a:r>
          </a:p>
        </p:txBody>
      </p:sp>
      <p:sp>
        <p:nvSpPr>
          <p:cNvPr name="TextBox 21" id="21"/>
          <p:cNvSpPr txBox="true"/>
          <p:nvPr/>
        </p:nvSpPr>
        <p:spPr>
          <a:xfrm rot="0">
            <a:off x="2663943" y="346064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Country</a:t>
            </a:r>
          </a:p>
        </p:txBody>
      </p:sp>
      <p:sp>
        <p:nvSpPr>
          <p:cNvPr name="TextBox 22" id="22"/>
          <p:cNvSpPr txBox="true"/>
          <p:nvPr/>
        </p:nvSpPr>
        <p:spPr>
          <a:xfrm rot="0">
            <a:off x="11948533" y="3166742"/>
            <a:ext cx="5943298" cy="69215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Menghapus kolom create_date karena isinya sama di semua baris ⟶ tidak digunakan.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11608959" cy="6811894"/>
            <a:chOff x="0" y="0"/>
            <a:chExt cx="3057504" cy="1794079"/>
          </a:xfrm>
        </p:grpSpPr>
        <p:sp>
          <p:nvSpPr>
            <p:cNvPr name="Freeform 4" id="4"/>
            <p:cNvSpPr/>
            <p:nvPr/>
          </p:nvSpPr>
          <p:spPr>
            <a:xfrm flipH="false" flipV="false" rot="0">
              <a:off x="0" y="0"/>
              <a:ext cx="3057504" cy="1794079"/>
            </a:xfrm>
            <a:custGeom>
              <a:avLst/>
              <a:gdLst/>
              <a:ahLst/>
              <a:cxnLst/>
              <a:rect r="r" b="b" t="t" l="l"/>
              <a:pathLst>
                <a:path h="1794079" w="3057504">
                  <a:moveTo>
                    <a:pt x="44015" y="0"/>
                  </a:moveTo>
                  <a:lnTo>
                    <a:pt x="3013489" y="0"/>
                  </a:lnTo>
                  <a:cubicBezTo>
                    <a:pt x="3037798" y="0"/>
                    <a:pt x="3057504" y="19706"/>
                    <a:pt x="3057504" y="44015"/>
                  </a:cubicBezTo>
                  <a:lnTo>
                    <a:pt x="3057504" y="1750064"/>
                  </a:lnTo>
                  <a:cubicBezTo>
                    <a:pt x="3057504" y="1761738"/>
                    <a:pt x="3052866" y="1772933"/>
                    <a:pt x="3044612" y="1781187"/>
                  </a:cubicBezTo>
                  <a:cubicBezTo>
                    <a:pt x="3036358" y="1789442"/>
                    <a:pt x="3025162" y="1794079"/>
                    <a:pt x="3013489" y="1794079"/>
                  </a:cubicBezTo>
                  <a:lnTo>
                    <a:pt x="44015" y="1794079"/>
                  </a:lnTo>
                  <a:cubicBezTo>
                    <a:pt x="32341" y="1794079"/>
                    <a:pt x="21146" y="1789442"/>
                    <a:pt x="12892" y="1781187"/>
                  </a:cubicBezTo>
                  <a:cubicBezTo>
                    <a:pt x="4637" y="1772933"/>
                    <a:pt x="0" y="1761738"/>
                    <a:pt x="0" y="1750064"/>
                  </a:cubicBezTo>
                  <a:lnTo>
                    <a:pt x="0" y="44015"/>
                  </a:lnTo>
                  <a:cubicBezTo>
                    <a:pt x="0" y="32341"/>
                    <a:pt x="4637" y="21146"/>
                    <a:pt x="12892" y="12892"/>
                  </a:cubicBezTo>
                  <a:cubicBezTo>
                    <a:pt x="21146" y="4637"/>
                    <a:pt x="32341" y="0"/>
                    <a:pt x="44015"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3057504" cy="1822654"/>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9" id="9"/>
          <p:cNvGrpSpPr/>
          <p:nvPr/>
        </p:nvGrpSpPr>
        <p:grpSpPr>
          <a:xfrm rot="0">
            <a:off x="12844309" y="3061729"/>
            <a:ext cx="5047521" cy="6811894"/>
            <a:chOff x="0" y="0"/>
            <a:chExt cx="1329388" cy="1794079"/>
          </a:xfrm>
        </p:grpSpPr>
        <p:sp>
          <p:nvSpPr>
            <p:cNvPr name="Freeform 10" id="10"/>
            <p:cNvSpPr/>
            <p:nvPr/>
          </p:nvSpPr>
          <p:spPr>
            <a:xfrm flipH="false" flipV="false" rot="0">
              <a:off x="0" y="0"/>
              <a:ext cx="1329388" cy="1794079"/>
            </a:xfrm>
            <a:custGeom>
              <a:avLst/>
              <a:gdLst/>
              <a:ahLst/>
              <a:cxnLst/>
              <a:rect r="r" b="b" t="t" l="l"/>
              <a:pathLst>
                <a:path h="1794079" w="1329388">
                  <a:moveTo>
                    <a:pt x="101231" y="0"/>
                  </a:moveTo>
                  <a:lnTo>
                    <a:pt x="1228157" y="0"/>
                  </a:lnTo>
                  <a:cubicBezTo>
                    <a:pt x="1255005" y="0"/>
                    <a:pt x="1280754" y="10665"/>
                    <a:pt x="1299738" y="29650"/>
                  </a:cubicBezTo>
                  <a:cubicBezTo>
                    <a:pt x="1318723" y="48634"/>
                    <a:pt x="1329388" y="74383"/>
                    <a:pt x="1329388" y="101231"/>
                  </a:cubicBezTo>
                  <a:lnTo>
                    <a:pt x="1329388" y="1692848"/>
                  </a:lnTo>
                  <a:cubicBezTo>
                    <a:pt x="1329388" y="1719696"/>
                    <a:pt x="1318723" y="1745445"/>
                    <a:pt x="1299738" y="1764429"/>
                  </a:cubicBezTo>
                  <a:cubicBezTo>
                    <a:pt x="1280754" y="1783414"/>
                    <a:pt x="1255005" y="1794079"/>
                    <a:pt x="1228157" y="1794079"/>
                  </a:cubicBezTo>
                  <a:lnTo>
                    <a:pt x="101231" y="1794079"/>
                  </a:lnTo>
                  <a:cubicBezTo>
                    <a:pt x="74383" y="1794079"/>
                    <a:pt x="48634" y="1783414"/>
                    <a:pt x="29650" y="1764429"/>
                  </a:cubicBezTo>
                  <a:cubicBezTo>
                    <a:pt x="10665" y="1745445"/>
                    <a:pt x="0" y="1719696"/>
                    <a:pt x="0" y="1692848"/>
                  </a:cubicBezTo>
                  <a:lnTo>
                    <a:pt x="0" y="101231"/>
                  </a:lnTo>
                  <a:cubicBezTo>
                    <a:pt x="0" y="74383"/>
                    <a:pt x="10665" y="48634"/>
                    <a:pt x="29650" y="29650"/>
                  </a:cubicBezTo>
                  <a:cubicBezTo>
                    <a:pt x="48634" y="10665"/>
                    <a:pt x="74383" y="0"/>
                    <a:pt x="101231" y="0"/>
                  </a:cubicBezTo>
                  <a:close/>
                </a:path>
              </a:pathLst>
            </a:custGeom>
            <a:solidFill>
              <a:srgbClr val="D0D7DD"/>
            </a:solidFill>
            <a:ln w="19050" cap="rnd">
              <a:solidFill>
                <a:srgbClr val="424242"/>
              </a:solidFill>
              <a:prstDash val="solid"/>
              <a:round/>
            </a:ln>
          </p:spPr>
        </p:sp>
        <p:sp>
          <p:nvSpPr>
            <p:cNvPr name="TextBox 11" id="11"/>
            <p:cNvSpPr txBox="true"/>
            <p:nvPr/>
          </p:nvSpPr>
          <p:spPr>
            <a:xfrm>
              <a:off x="0" y="-28575"/>
              <a:ext cx="1329388" cy="1822654"/>
            </a:xfrm>
            <a:prstGeom prst="rect">
              <a:avLst/>
            </a:prstGeom>
          </p:spPr>
          <p:txBody>
            <a:bodyPr anchor="ctr" rtlCol="false" tIns="50800" lIns="50800" bIns="50800" rIns="50800"/>
            <a:lstStyle/>
            <a:p>
              <a:pPr algn="ctr">
                <a:lnSpc>
                  <a:spcPts val="2015"/>
                </a:lnSpc>
              </a:pPr>
            </a:p>
          </p:txBody>
        </p:sp>
      </p:grpSp>
      <p:grpSp>
        <p:nvGrpSpPr>
          <p:cNvPr name="Group 12" id="12"/>
          <p:cNvGrpSpPr/>
          <p:nvPr/>
        </p:nvGrpSpPr>
        <p:grpSpPr>
          <a:xfrm rot="0">
            <a:off x="13149427" y="3256012"/>
            <a:ext cx="1154202" cy="804358"/>
            <a:chOff x="0" y="0"/>
            <a:chExt cx="303987" cy="211847"/>
          </a:xfrm>
        </p:grpSpPr>
        <p:sp>
          <p:nvSpPr>
            <p:cNvPr name="Freeform 13" id="13"/>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4" id="14"/>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15" id="15"/>
          <p:cNvSpPr/>
          <p:nvPr/>
        </p:nvSpPr>
        <p:spPr>
          <a:xfrm flipH="false" flipV="false" rot="0">
            <a:off x="1028700" y="4401914"/>
            <a:ext cx="11301259" cy="3658783"/>
          </a:xfrm>
          <a:custGeom>
            <a:avLst/>
            <a:gdLst/>
            <a:ahLst/>
            <a:cxnLst/>
            <a:rect r="r" b="b" t="t" l="l"/>
            <a:pathLst>
              <a:path h="3658783" w="11301259">
                <a:moveTo>
                  <a:pt x="0" y="0"/>
                </a:moveTo>
                <a:lnTo>
                  <a:pt x="11301259" y="0"/>
                </a:lnTo>
                <a:lnTo>
                  <a:pt x="11301259" y="3658783"/>
                </a:lnTo>
                <a:lnTo>
                  <a:pt x="0" y="3658783"/>
                </a:lnTo>
                <a:lnTo>
                  <a:pt x="0" y="0"/>
                </a:lnTo>
                <a:close/>
              </a:path>
            </a:pathLst>
          </a:custGeom>
          <a:blipFill>
            <a:blip r:embed="rId3"/>
            <a:stretch>
              <a:fillRect l="0" t="0" r="0" b="0"/>
            </a:stretch>
          </a:blipFill>
        </p:spPr>
      </p:sp>
      <p:sp>
        <p:nvSpPr>
          <p:cNvPr name="Freeform 16" id="16"/>
          <p:cNvSpPr/>
          <p:nvPr/>
        </p:nvSpPr>
        <p:spPr>
          <a:xfrm flipH="false" flipV="false" rot="0">
            <a:off x="14013980" y="4206609"/>
            <a:ext cx="2708180" cy="5499688"/>
          </a:xfrm>
          <a:custGeom>
            <a:avLst/>
            <a:gdLst/>
            <a:ahLst/>
            <a:cxnLst/>
            <a:rect r="r" b="b" t="t" l="l"/>
            <a:pathLst>
              <a:path h="5499688" w="2708180">
                <a:moveTo>
                  <a:pt x="0" y="0"/>
                </a:moveTo>
                <a:lnTo>
                  <a:pt x="2708180" y="0"/>
                </a:lnTo>
                <a:lnTo>
                  <a:pt x="2708180" y="5499688"/>
                </a:lnTo>
                <a:lnTo>
                  <a:pt x="0" y="5499688"/>
                </a:lnTo>
                <a:lnTo>
                  <a:pt x="0" y="0"/>
                </a:lnTo>
                <a:close/>
              </a:path>
            </a:pathLst>
          </a:custGeom>
          <a:blipFill>
            <a:blip r:embed="rId4"/>
            <a:stretch>
              <a:fillRect l="0" t="0" r="0" b="0"/>
            </a:stretch>
          </a:blipFill>
        </p:spPr>
      </p:sp>
      <p:sp>
        <p:nvSpPr>
          <p:cNvPr name="TextBox 17" id="17"/>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Dataset Overview</a:t>
            </a:r>
          </a:p>
        </p:txBody>
      </p:sp>
      <p:sp>
        <p:nvSpPr>
          <p:cNvPr name="TextBox 18" id="18"/>
          <p:cNvSpPr txBox="true"/>
          <p:nvPr/>
        </p:nvSpPr>
        <p:spPr>
          <a:xfrm rot="0">
            <a:off x="13301391"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08</a:t>
            </a:r>
          </a:p>
        </p:txBody>
      </p:sp>
      <p:sp>
        <p:nvSpPr>
          <p:cNvPr name="TextBox 19" id="19"/>
          <p:cNvSpPr txBox="true"/>
          <p:nvPr/>
        </p:nvSpPr>
        <p:spPr>
          <a:xfrm rot="0">
            <a:off x="14636280" y="346064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Film Actor</a:t>
            </a:r>
          </a:p>
        </p:txBody>
      </p:sp>
      <p:sp>
        <p:nvSpPr>
          <p:cNvPr name="TextBox 20" id="20"/>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07</a:t>
            </a:r>
          </a:p>
        </p:txBody>
      </p:sp>
      <p:sp>
        <p:nvSpPr>
          <p:cNvPr name="TextBox 21" id="21"/>
          <p:cNvSpPr txBox="true"/>
          <p:nvPr/>
        </p:nvSpPr>
        <p:spPr>
          <a:xfrm rot="0">
            <a:off x="2663943" y="346064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Film</a:t>
            </a:r>
          </a:p>
        </p:txBody>
      </p:sp>
      <p:sp>
        <p:nvSpPr>
          <p:cNvPr name="TextBox 22" id="22"/>
          <p:cNvSpPr txBox="true"/>
          <p:nvPr/>
        </p:nvSpPr>
        <p:spPr>
          <a:xfrm rot="0">
            <a:off x="5427485" y="3200299"/>
            <a:ext cx="6902474" cy="33972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Menghapus kolom description karena tidak digunakan.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5139698" cy="6811894"/>
            <a:chOff x="0" y="0"/>
            <a:chExt cx="1353665" cy="1794079"/>
          </a:xfrm>
        </p:grpSpPr>
        <p:sp>
          <p:nvSpPr>
            <p:cNvPr name="Freeform 4" id="4"/>
            <p:cNvSpPr/>
            <p:nvPr/>
          </p:nvSpPr>
          <p:spPr>
            <a:xfrm flipH="false" flipV="false" rot="0">
              <a:off x="0" y="0"/>
              <a:ext cx="1353665" cy="1794079"/>
            </a:xfrm>
            <a:custGeom>
              <a:avLst/>
              <a:gdLst/>
              <a:ahLst/>
              <a:cxnLst/>
              <a:rect r="r" b="b" t="t" l="l"/>
              <a:pathLst>
                <a:path h="1794079" w="1353665">
                  <a:moveTo>
                    <a:pt x="99416" y="0"/>
                  </a:moveTo>
                  <a:lnTo>
                    <a:pt x="1254250" y="0"/>
                  </a:lnTo>
                  <a:cubicBezTo>
                    <a:pt x="1309155" y="0"/>
                    <a:pt x="1353665" y="44510"/>
                    <a:pt x="1353665" y="99416"/>
                  </a:cubicBezTo>
                  <a:lnTo>
                    <a:pt x="1353665" y="1694663"/>
                  </a:lnTo>
                  <a:cubicBezTo>
                    <a:pt x="1353665" y="1749569"/>
                    <a:pt x="1309155" y="1794079"/>
                    <a:pt x="1254250" y="1794079"/>
                  </a:cubicBezTo>
                  <a:lnTo>
                    <a:pt x="99416" y="1794079"/>
                  </a:lnTo>
                  <a:cubicBezTo>
                    <a:pt x="44510" y="1794079"/>
                    <a:pt x="0" y="1749569"/>
                    <a:pt x="0" y="1694663"/>
                  </a:cubicBezTo>
                  <a:lnTo>
                    <a:pt x="0" y="99416"/>
                  </a:lnTo>
                  <a:cubicBezTo>
                    <a:pt x="0" y="44510"/>
                    <a:pt x="44510" y="0"/>
                    <a:pt x="99416"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1353665" cy="1822654"/>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9" id="9"/>
          <p:cNvGrpSpPr/>
          <p:nvPr/>
        </p:nvGrpSpPr>
        <p:grpSpPr>
          <a:xfrm rot="0">
            <a:off x="6222648" y="3061729"/>
            <a:ext cx="5083233" cy="6811894"/>
            <a:chOff x="0" y="0"/>
            <a:chExt cx="1338794" cy="1794079"/>
          </a:xfrm>
        </p:grpSpPr>
        <p:sp>
          <p:nvSpPr>
            <p:cNvPr name="Freeform 10" id="10"/>
            <p:cNvSpPr/>
            <p:nvPr/>
          </p:nvSpPr>
          <p:spPr>
            <a:xfrm flipH="false" flipV="false" rot="0">
              <a:off x="0" y="0"/>
              <a:ext cx="1338794" cy="1794079"/>
            </a:xfrm>
            <a:custGeom>
              <a:avLst/>
              <a:gdLst/>
              <a:ahLst/>
              <a:cxnLst/>
              <a:rect r="r" b="b" t="t" l="l"/>
              <a:pathLst>
                <a:path h="1794079" w="1338794">
                  <a:moveTo>
                    <a:pt x="100520" y="0"/>
                  </a:moveTo>
                  <a:lnTo>
                    <a:pt x="1238274" y="0"/>
                  </a:lnTo>
                  <a:cubicBezTo>
                    <a:pt x="1293790" y="0"/>
                    <a:pt x="1338794" y="45004"/>
                    <a:pt x="1338794" y="100520"/>
                  </a:cubicBezTo>
                  <a:lnTo>
                    <a:pt x="1338794" y="1693559"/>
                  </a:lnTo>
                  <a:cubicBezTo>
                    <a:pt x="1338794" y="1749075"/>
                    <a:pt x="1293790" y="1794079"/>
                    <a:pt x="1238274" y="1794079"/>
                  </a:cubicBezTo>
                  <a:lnTo>
                    <a:pt x="100520" y="1794079"/>
                  </a:lnTo>
                  <a:cubicBezTo>
                    <a:pt x="45004" y="1794079"/>
                    <a:pt x="0" y="1749075"/>
                    <a:pt x="0" y="1693559"/>
                  </a:cubicBezTo>
                  <a:lnTo>
                    <a:pt x="0" y="100520"/>
                  </a:lnTo>
                  <a:cubicBezTo>
                    <a:pt x="0" y="45004"/>
                    <a:pt x="45004" y="0"/>
                    <a:pt x="100520" y="0"/>
                  </a:cubicBezTo>
                  <a:close/>
                </a:path>
              </a:pathLst>
            </a:custGeom>
            <a:solidFill>
              <a:srgbClr val="D0D7DD"/>
            </a:solidFill>
            <a:ln w="19050" cap="rnd">
              <a:solidFill>
                <a:srgbClr val="424242"/>
              </a:solidFill>
              <a:prstDash val="solid"/>
              <a:round/>
            </a:ln>
          </p:spPr>
        </p:sp>
        <p:sp>
          <p:nvSpPr>
            <p:cNvPr name="TextBox 11" id="11"/>
            <p:cNvSpPr txBox="true"/>
            <p:nvPr/>
          </p:nvSpPr>
          <p:spPr>
            <a:xfrm>
              <a:off x="0" y="-28575"/>
              <a:ext cx="1338794" cy="1822654"/>
            </a:xfrm>
            <a:prstGeom prst="rect">
              <a:avLst/>
            </a:prstGeom>
          </p:spPr>
          <p:txBody>
            <a:bodyPr anchor="ctr" rtlCol="false" tIns="50800" lIns="50800" bIns="50800" rIns="50800"/>
            <a:lstStyle/>
            <a:p>
              <a:pPr algn="ctr">
                <a:lnSpc>
                  <a:spcPts val="2015"/>
                </a:lnSpc>
              </a:pPr>
            </a:p>
          </p:txBody>
        </p:sp>
      </p:grpSp>
      <p:grpSp>
        <p:nvGrpSpPr>
          <p:cNvPr name="Group 12" id="12"/>
          <p:cNvGrpSpPr/>
          <p:nvPr/>
        </p:nvGrpSpPr>
        <p:grpSpPr>
          <a:xfrm rot="0">
            <a:off x="6644144" y="3236962"/>
            <a:ext cx="1154202" cy="804358"/>
            <a:chOff x="0" y="0"/>
            <a:chExt cx="303987" cy="211847"/>
          </a:xfrm>
        </p:grpSpPr>
        <p:sp>
          <p:nvSpPr>
            <p:cNvPr name="Freeform 13" id="13"/>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4" id="14"/>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15" id="15"/>
          <p:cNvSpPr/>
          <p:nvPr/>
        </p:nvSpPr>
        <p:spPr>
          <a:xfrm flipH="false" flipV="false" rot="0">
            <a:off x="2331292" y="4065139"/>
            <a:ext cx="3122250" cy="5642966"/>
          </a:xfrm>
          <a:custGeom>
            <a:avLst/>
            <a:gdLst/>
            <a:ahLst/>
            <a:cxnLst/>
            <a:rect r="r" b="b" t="t" l="l"/>
            <a:pathLst>
              <a:path h="5642966" w="3122250">
                <a:moveTo>
                  <a:pt x="0" y="0"/>
                </a:moveTo>
                <a:lnTo>
                  <a:pt x="3122250" y="0"/>
                </a:lnTo>
                <a:lnTo>
                  <a:pt x="3122250" y="5642966"/>
                </a:lnTo>
                <a:lnTo>
                  <a:pt x="0" y="5642966"/>
                </a:lnTo>
                <a:lnTo>
                  <a:pt x="0" y="0"/>
                </a:lnTo>
                <a:close/>
              </a:path>
            </a:pathLst>
          </a:custGeom>
          <a:blipFill>
            <a:blip r:embed="rId3"/>
            <a:stretch>
              <a:fillRect l="0" t="0" r="0" b="0"/>
            </a:stretch>
          </a:blipFill>
        </p:spPr>
      </p:sp>
      <p:sp>
        <p:nvSpPr>
          <p:cNvPr name="Freeform 16" id="16"/>
          <p:cNvSpPr/>
          <p:nvPr/>
        </p:nvSpPr>
        <p:spPr>
          <a:xfrm flipH="false" flipV="false" rot="0">
            <a:off x="6663657" y="4198314"/>
            <a:ext cx="4201215" cy="5509791"/>
          </a:xfrm>
          <a:custGeom>
            <a:avLst/>
            <a:gdLst/>
            <a:ahLst/>
            <a:cxnLst/>
            <a:rect r="r" b="b" t="t" l="l"/>
            <a:pathLst>
              <a:path h="5509791" w="4201215">
                <a:moveTo>
                  <a:pt x="0" y="0"/>
                </a:moveTo>
                <a:lnTo>
                  <a:pt x="4201215" y="0"/>
                </a:lnTo>
                <a:lnTo>
                  <a:pt x="4201215" y="5509791"/>
                </a:lnTo>
                <a:lnTo>
                  <a:pt x="0" y="5509791"/>
                </a:lnTo>
                <a:lnTo>
                  <a:pt x="0" y="0"/>
                </a:lnTo>
                <a:close/>
              </a:path>
            </a:pathLst>
          </a:custGeom>
          <a:blipFill>
            <a:blip r:embed="rId4"/>
            <a:stretch>
              <a:fillRect l="0" t="0" r="0" b="0"/>
            </a:stretch>
          </a:blipFill>
        </p:spPr>
      </p:sp>
      <p:sp>
        <p:nvSpPr>
          <p:cNvPr name="TextBox 17" id="17"/>
          <p:cNvSpPr txBox="true"/>
          <p:nvPr/>
        </p:nvSpPr>
        <p:spPr>
          <a:xfrm rot="0">
            <a:off x="8130997" y="344159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Inventory</a:t>
            </a:r>
          </a:p>
        </p:txBody>
      </p:sp>
      <p:grpSp>
        <p:nvGrpSpPr>
          <p:cNvPr name="Group 18" id="18"/>
          <p:cNvGrpSpPr/>
          <p:nvPr/>
        </p:nvGrpSpPr>
        <p:grpSpPr>
          <a:xfrm rot="0">
            <a:off x="11486856" y="3061729"/>
            <a:ext cx="5139698" cy="6811894"/>
            <a:chOff x="0" y="0"/>
            <a:chExt cx="1353665" cy="1794079"/>
          </a:xfrm>
        </p:grpSpPr>
        <p:sp>
          <p:nvSpPr>
            <p:cNvPr name="Freeform 19" id="19"/>
            <p:cNvSpPr/>
            <p:nvPr/>
          </p:nvSpPr>
          <p:spPr>
            <a:xfrm flipH="false" flipV="false" rot="0">
              <a:off x="0" y="0"/>
              <a:ext cx="1353665" cy="1794079"/>
            </a:xfrm>
            <a:custGeom>
              <a:avLst/>
              <a:gdLst/>
              <a:ahLst/>
              <a:cxnLst/>
              <a:rect r="r" b="b" t="t" l="l"/>
              <a:pathLst>
                <a:path h="1794079" w="1353665">
                  <a:moveTo>
                    <a:pt x="99416" y="0"/>
                  </a:moveTo>
                  <a:lnTo>
                    <a:pt x="1254250" y="0"/>
                  </a:lnTo>
                  <a:cubicBezTo>
                    <a:pt x="1309155" y="0"/>
                    <a:pt x="1353665" y="44510"/>
                    <a:pt x="1353665" y="99416"/>
                  </a:cubicBezTo>
                  <a:lnTo>
                    <a:pt x="1353665" y="1694663"/>
                  </a:lnTo>
                  <a:cubicBezTo>
                    <a:pt x="1353665" y="1749569"/>
                    <a:pt x="1309155" y="1794079"/>
                    <a:pt x="1254250" y="1794079"/>
                  </a:cubicBezTo>
                  <a:lnTo>
                    <a:pt x="99416" y="1794079"/>
                  </a:lnTo>
                  <a:cubicBezTo>
                    <a:pt x="44510" y="1794079"/>
                    <a:pt x="0" y="1749569"/>
                    <a:pt x="0" y="1694663"/>
                  </a:cubicBezTo>
                  <a:lnTo>
                    <a:pt x="0" y="99416"/>
                  </a:lnTo>
                  <a:cubicBezTo>
                    <a:pt x="0" y="44510"/>
                    <a:pt x="44510" y="0"/>
                    <a:pt x="99416"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20" id="20"/>
            <p:cNvSpPr txBox="true"/>
            <p:nvPr/>
          </p:nvSpPr>
          <p:spPr>
            <a:xfrm>
              <a:off x="0" y="-28575"/>
              <a:ext cx="1353665" cy="1822654"/>
            </a:xfrm>
            <a:prstGeom prst="rect">
              <a:avLst/>
            </a:prstGeom>
          </p:spPr>
          <p:txBody>
            <a:bodyPr anchor="ctr" rtlCol="false" tIns="50800" lIns="50800" bIns="50800" rIns="50800"/>
            <a:lstStyle/>
            <a:p>
              <a:pPr algn="ctr">
                <a:lnSpc>
                  <a:spcPts val="2015"/>
                </a:lnSpc>
              </a:pPr>
            </a:p>
          </p:txBody>
        </p:sp>
      </p:grpSp>
      <p:grpSp>
        <p:nvGrpSpPr>
          <p:cNvPr name="Group 21" id="21"/>
          <p:cNvGrpSpPr/>
          <p:nvPr/>
        </p:nvGrpSpPr>
        <p:grpSpPr>
          <a:xfrm rot="0">
            <a:off x="11761972" y="3256012"/>
            <a:ext cx="1154202" cy="804358"/>
            <a:chOff x="0" y="0"/>
            <a:chExt cx="303987" cy="211847"/>
          </a:xfrm>
        </p:grpSpPr>
        <p:sp>
          <p:nvSpPr>
            <p:cNvPr name="Freeform 22" id="22"/>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23" id="23"/>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24" id="24"/>
          <p:cNvSpPr/>
          <p:nvPr/>
        </p:nvSpPr>
        <p:spPr>
          <a:xfrm flipH="false" flipV="false" rot="0">
            <a:off x="11806253" y="4265109"/>
            <a:ext cx="4500904" cy="4993191"/>
          </a:xfrm>
          <a:custGeom>
            <a:avLst/>
            <a:gdLst/>
            <a:ahLst/>
            <a:cxnLst/>
            <a:rect r="r" b="b" t="t" l="l"/>
            <a:pathLst>
              <a:path h="4993191" w="4500904">
                <a:moveTo>
                  <a:pt x="0" y="0"/>
                </a:moveTo>
                <a:lnTo>
                  <a:pt x="4500904" y="0"/>
                </a:lnTo>
                <a:lnTo>
                  <a:pt x="4500904" y="4993191"/>
                </a:lnTo>
                <a:lnTo>
                  <a:pt x="0" y="4993191"/>
                </a:lnTo>
                <a:lnTo>
                  <a:pt x="0" y="0"/>
                </a:lnTo>
                <a:close/>
              </a:path>
            </a:pathLst>
          </a:custGeom>
          <a:blipFill>
            <a:blip r:embed="rId5"/>
            <a:stretch>
              <a:fillRect l="0" t="0" r="0" b="0"/>
            </a:stretch>
          </a:blipFill>
        </p:spPr>
      </p:sp>
      <p:sp>
        <p:nvSpPr>
          <p:cNvPr name="TextBox 25" id="25"/>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Dataset Overview</a:t>
            </a:r>
          </a:p>
        </p:txBody>
      </p:sp>
      <p:sp>
        <p:nvSpPr>
          <p:cNvPr name="TextBox 26" id="26"/>
          <p:cNvSpPr txBox="true"/>
          <p:nvPr/>
        </p:nvSpPr>
        <p:spPr>
          <a:xfrm rot="0">
            <a:off x="6796108" y="346541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10</a:t>
            </a:r>
          </a:p>
        </p:txBody>
      </p:sp>
      <p:sp>
        <p:nvSpPr>
          <p:cNvPr name="TextBox 27" id="27"/>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09</a:t>
            </a:r>
          </a:p>
        </p:txBody>
      </p:sp>
      <p:sp>
        <p:nvSpPr>
          <p:cNvPr name="TextBox 28" id="28"/>
          <p:cNvSpPr txBox="true"/>
          <p:nvPr/>
        </p:nvSpPr>
        <p:spPr>
          <a:xfrm rot="0">
            <a:off x="2663943" y="346064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Film Category</a:t>
            </a:r>
          </a:p>
        </p:txBody>
      </p:sp>
      <p:sp>
        <p:nvSpPr>
          <p:cNvPr name="TextBox 29" id="29"/>
          <p:cNvSpPr txBox="true"/>
          <p:nvPr/>
        </p:nvSpPr>
        <p:spPr>
          <a:xfrm rot="0">
            <a:off x="11913935"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11</a:t>
            </a:r>
          </a:p>
        </p:txBody>
      </p:sp>
      <p:sp>
        <p:nvSpPr>
          <p:cNvPr name="TextBox 30" id="30"/>
          <p:cNvSpPr txBox="true"/>
          <p:nvPr/>
        </p:nvSpPr>
        <p:spPr>
          <a:xfrm rot="0">
            <a:off x="13248824" y="346064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Language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7885128" cy="7000852"/>
            <a:chOff x="0" y="0"/>
            <a:chExt cx="2076741" cy="1843846"/>
          </a:xfrm>
        </p:grpSpPr>
        <p:sp>
          <p:nvSpPr>
            <p:cNvPr name="Freeform 4" id="4"/>
            <p:cNvSpPr/>
            <p:nvPr/>
          </p:nvSpPr>
          <p:spPr>
            <a:xfrm flipH="false" flipV="false" rot="0">
              <a:off x="0" y="0"/>
              <a:ext cx="2076741" cy="1843846"/>
            </a:xfrm>
            <a:custGeom>
              <a:avLst/>
              <a:gdLst/>
              <a:ahLst/>
              <a:cxnLst/>
              <a:rect r="r" b="b" t="t" l="l"/>
              <a:pathLst>
                <a:path h="1843846" w="2076741">
                  <a:moveTo>
                    <a:pt x="64801" y="0"/>
                  </a:moveTo>
                  <a:lnTo>
                    <a:pt x="2011940" y="0"/>
                  </a:lnTo>
                  <a:cubicBezTo>
                    <a:pt x="2029127" y="0"/>
                    <a:pt x="2045609" y="6827"/>
                    <a:pt x="2057762" y="18980"/>
                  </a:cubicBezTo>
                  <a:cubicBezTo>
                    <a:pt x="2069914" y="31132"/>
                    <a:pt x="2076741" y="47615"/>
                    <a:pt x="2076741" y="64801"/>
                  </a:cubicBezTo>
                  <a:lnTo>
                    <a:pt x="2076741" y="1779044"/>
                  </a:lnTo>
                  <a:cubicBezTo>
                    <a:pt x="2076741" y="1796231"/>
                    <a:pt x="2069914" y="1812713"/>
                    <a:pt x="2057762" y="1824866"/>
                  </a:cubicBezTo>
                  <a:cubicBezTo>
                    <a:pt x="2045609" y="1837018"/>
                    <a:pt x="2029127" y="1843846"/>
                    <a:pt x="2011940" y="1843846"/>
                  </a:cubicBezTo>
                  <a:lnTo>
                    <a:pt x="64801" y="1843846"/>
                  </a:lnTo>
                  <a:cubicBezTo>
                    <a:pt x="47615" y="1843846"/>
                    <a:pt x="31132" y="1837018"/>
                    <a:pt x="18980" y="1824866"/>
                  </a:cubicBezTo>
                  <a:cubicBezTo>
                    <a:pt x="6827" y="1812713"/>
                    <a:pt x="0" y="1796231"/>
                    <a:pt x="0" y="1779044"/>
                  </a:cubicBezTo>
                  <a:lnTo>
                    <a:pt x="0" y="64801"/>
                  </a:lnTo>
                  <a:cubicBezTo>
                    <a:pt x="0" y="47615"/>
                    <a:pt x="6827" y="31132"/>
                    <a:pt x="18980" y="18980"/>
                  </a:cubicBezTo>
                  <a:cubicBezTo>
                    <a:pt x="31132" y="6827"/>
                    <a:pt x="47615" y="0"/>
                    <a:pt x="6480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2076741" cy="1872421"/>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9" id="9"/>
          <p:cNvGrpSpPr/>
          <p:nvPr/>
        </p:nvGrpSpPr>
        <p:grpSpPr>
          <a:xfrm rot="0">
            <a:off x="9144000" y="3061729"/>
            <a:ext cx="8747830" cy="5759805"/>
            <a:chOff x="0" y="0"/>
            <a:chExt cx="2303955" cy="1516986"/>
          </a:xfrm>
        </p:grpSpPr>
        <p:sp>
          <p:nvSpPr>
            <p:cNvPr name="Freeform 10" id="10"/>
            <p:cNvSpPr/>
            <p:nvPr/>
          </p:nvSpPr>
          <p:spPr>
            <a:xfrm flipH="false" flipV="false" rot="0">
              <a:off x="0" y="0"/>
              <a:ext cx="2303955" cy="1516986"/>
            </a:xfrm>
            <a:custGeom>
              <a:avLst/>
              <a:gdLst/>
              <a:ahLst/>
              <a:cxnLst/>
              <a:rect r="r" b="b" t="t" l="l"/>
              <a:pathLst>
                <a:path h="1516986" w="2303955">
                  <a:moveTo>
                    <a:pt x="58411" y="0"/>
                  </a:moveTo>
                  <a:lnTo>
                    <a:pt x="2245545" y="0"/>
                  </a:lnTo>
                  <a:cubicBezTo>
                    <a:pt x="2261036" y="0"/>
                    <a:pt x="2275893" y="6154"/>
                    <a:pt x="2286847" y="17108"/>
                  </a:cubicBezTo>
                  <a:cubicBezTo>
                    <a:pt x="2297801" y="28062"/>
                    <a:pt x="2303955" y="42919"/>
                    <a:pt x="2303955" y="58411"/>
                  </a:cubicBezTo>
                  <a:lnTo>
                    <a:pt x="2303955" y="1458575"/>
                  </a:lnTo>
                  <a:cubicBezTo>
                    <a:pt x="2303955" y="1474067"/>
                    <a:pt x="2297801" y="1488923"/>
                    <a:pt x="2286847" y="1499878"/>
                  </a:cubicBezTo>
                  <a:cubicBezTo>
                    <a:pt x="2275893" y="1510832"/>
                    <a:pt x="2261036" y="1516986"/>
                    <a:pt x="2245545" y="1516986"/>
                  </a:cubicBezTo>
                  <a:lnTo>
                    <a:pt x="58411" y="1516986"/>
                  </a:lnTo>
                  <a:cubicBezTo>
                    <a:pt x="42919" y="1516986"/>
                    <a:pt x="28062" y="1510832"/>
                    <a:pt x="17108" y="1499878"/>
                  </a:cubicBezTo>
                  <a:cubicBezTo>
                    <a:pt x="6154" y="1488923"/>
                    <a:pt x="0" y="1474067"/>
                    <a:pt x="0" y="1458575"/>
                  </a:cubicBezTo>
                  <a:lnTo>
                    <a:pt x="0" y="58411"/>
                  </a:lnTo>
                  <a:cubicBezTo>
                    <a:pt x="0" y="42919"/>
                    <a:pt x="6154" y="28062"/>
                    <a:pt x="17108" y="17108"/>
                  </a:cubicBezTo>
                  <a:cubicBezTo>
                    <a:pt x="28062" y="6154"/>
                    <a:pt x="42919" y="0"/>
                    <a:pt x="58411" y="0"/>
                  </a:cubicBezTo>
                  <a:close/>
                </a:path>
              </a:pathLst>
            </a:custGeom>
            <a:solidFill>
              <a:srgbClr val="D0D7DD"/>
            </a:solidFill>
            <a:ln w="19050" cap="rnd">
              <a:solidFill>
                <a:srgbClr val="424242"/>
              </a:solidFill>
              <a:prstDash val="solid"/>
              <a:round/>
            </a:ln>
          </p:spPr>
        </p:sp>
        <p:sp>
          <p:nvSpPr>
            <p:cNvPr name="TextBox 11" id="11"/>
            <p:cNvSpPr txBox="true"/>
            <p:nvPr/>
          </p:nvSpPr>
          <p:spPr>
            <a:xfrm>
              <a:off x="0" y="-28575"/>
              <a:ext cx="2303955" cy="1545561"/>
            </a:xfrm>
            <a:prstGeom prst="rect">
              <a:avLst/>
            </a:prstGeom>
          </p:spPr>
          <p:txBody>
            <a:bodyPr anchor="ctr" rtlCol="false" tIns="50800" lIns="50800" bIns="50800" rIns="50800"/>
            <a:lstStyle/>
            <a:p>
              <a:pPr algn="ctr">
                <a:lnSpc>
                  <a:spcPts val="2015"/>
                </a:lnSpc>
              </a:pPr>
            </a:p>
          </p:txBody>
        </p:sp>
      </p:grpSp>
      <p:grpSp>
        <p:nvGrpSpPr>
          <p:cNvPr name="Group 12" id="12"/>
          <p:cNvGrpSpPr/>
          <p:nvPr/>
        </p:nvGrpSpPr>
        <p:grpSpPr>
          <a:xfrm rot="0">
            <a:off x="9534460" y="3236962"/>
            <a:ext cx="1154202" cy="804358"/>
            <a:chOff x="0" y="0"/>
            <a:chExt cx="303987" cy="211847"/>
          </a:xfrm>
        </p:grpSpPr>
        <p:sp>
          <p:nvSpPr>
            <p:cNvPr name="Freeform 13" id="13"/>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4" id="14"/>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15" id="15"/>
          <p:cNvSpPr/>
          <p:nvPr/>
        </p:nvSpPr>
        <p:spPr>
          <a:xfrm flipH="false" flipV="false" rot="0">
            <a:off x="1177090" y="4206609"/>
            <a:ext cx="7363823" cy="4034972"/>
          </a:xfrm>
          <a:custGeom>
            <a:avLst/>
            <a:gdLst/>
            <a:ahLst/>
            <a:cxnLst/>
            <a:rect r="r" b="b" t="t" l="l"/>
            <a:pathLst>
              <a:path h="4034972" w="7363823">
                <a:moveTo>
                  <a:pt x="0" y="0"/>
                </a:moveTo>
                <a:lnTo>
                  <a:pt x="7363824" y="0"/>
                </a:lnTo>
                <a:lnTo>
                  <a:pt x="7363824" y="4034971"/>
                </a:lnTo>
                <a:lnTo>
                  <a:pt x="0" y="4034971"/>
                </a:lnTo>
                <a:lnTo>
                  <a:pt x="0" y="0"/>
                </a:lnTo>
                <a:close/>
              </a:path>
            </a:pathLst>
          </a:custGeom>
          <a:blipFill>
            <a:blip r:embed="rId3"/>
            <a:stretch>
              <a:fillRect l="0" t="0" r="0" b="0"/>
            </a:stretch>
          </a:blipFill>
        </p:spPr>
      </p:sp>
      <p:sp>
        <p:nvSpPr>
          <p:cNvPr name="Freeform 16" id="16"/>
          <p:cNvSpPr/>
          <p:nvPr/>
        </p:nvSpPr>
        <p:spPr>
          <a:xfrm flipH="false" flipV="false" rot="0">
            <a:off x="9252051" y="4277058"/>
            <a:ext cx="8496403" cy="3727797"/>
          </a:xfrm>
          <a:custGeom>
            <a:avLst/>
            <a:gdLst/>
            <a:ahLst/>
            <a:cxnLst/>
            <a:rect r="r" b="b" t="t" l="l"/>
            <a:pathLst>
              <a:path h="3727797" w="8496403">
                <a:moveTo>
                  <a:pt x="0" y="0"/>
                </a:moveTo>
                <a:lnTo>
                  <a:pt x="8496404" y="0"/>
                </a:lnTo>
                <a:lnTo>
                  <a:pt x="8496404" y="3727797"/>
                </a:lnTo>
                <a:lnTo>
                  <a:pt x="0" y="3727797"/>
                </a:lnTo>
                <a:lnTo>
                  <a:pt x="0" y="0"/>
                </a:lnTo>
                <a:close/>
              </a:path>
            </a:pathLst>
          </a:custGeom>
          <a:blipFill>
            <a:blip r:embed="rId4"/>
            <a:stretch>
              <a:fillRect l="0" t="0" r="0" b="0"/>
            </a:stretch>
          </a:blipFill>
        </p:spPr>
      </p:sp>
      <p:sp>
        <p:nvSpPr>
          <p:cNvPr name="TextBox 17" id="17"/>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Dataset Overview</a:t>
            </a:r>
          </a:p>
        </p:txBody>
      </p:sp>
      <p:sp>
        <p:nvSpPr>
          <p:cNvPr name="TextBox 18" id="18"/>
          <p:cNvSpPr txBox="true"/>
          <p:nvPr/>
        </p:nvSpPr>
        <p:spPr>
          <a:xfrm rot="0">
            <a:off x="9686424" y="346541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13</a:t>
            </a:r>
          </a:p>
        </p:txBody>
      </p:sp>
      <p:sp>
        <p:nvSpPr>
          <p:cNvPr name="TextBox 19" id="19"/>
          <p:cNvSpPr txBox="true"/>
          <p:nvPr/>
        </p:nvSpPr>
        <p:spPr>
          <a:xfrm rot="0">
            <a:off x="11021313" y="344159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Rental</a:t>
            </a:r>
          </a:p>
        </p:txBody>
      </p:sp>
      <p:sp>
        <p:nvSpPr>
          <p:cNvPr name="TextBox 20" id="20"/>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12</a:t>
            </a:r>
          </a:p>
        </p:txBody>
      </p:sp>
      <p:sp>
        <p:nvSpPr>
          <p:cNvPr name="TextBox 21" id="21"/>
          <p:cNvSpPr txBox="true"/>
          <p:nvPr/>
        </p:nvSpPr>
        <p:spPr>
          <a:xfrm rot="0">
            <a:off x="2663943" y="3460643"/>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Payment</a:t>
            </a:r>
          </a:p>
        </p:txBody>
      </p:sp>
      <p:sp>
        <p:nvSpPr>
          <p:cNvPr name="TextBox 22" id="22"/>
          <p:cNvSpPr txBox="true"/>
          <p:nvPr/>
        </p:nvSpPr>
        <p:spPr>
          <a:xfrm rot="0">
            <a:off x="1028700" y="8470180"/>
            <a:ext cx="7512214" cy="104457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Memisahkan tanggal dan waktu di kolom payment_date.</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Menghapus 5 missing values di kolom rental_id.</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Mengubah tipe data kolom rental_id dari float menjadi integer.</a:t>
            </a:r>
          </a:p>
        </p:txBody>
      </p:sp>
      <p:sp>
        <p:nvSpPr>
          <p:cNvPr name="TextBox 23" id="23"/>
          <p:cNvSpPr txBox="true"/>
          <p:nvPr/>
        </p:nvSpPr>
        <p:spPr>
          <a:xfrm rot="0">
            <a:off x="9144000" y="8203480"/>
            <a:ext cx="8604455" cy="33972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Memisahkan tanggal dan waktu di kolom rental_date dan return_date.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1028700" y="3093775"/>
            <a:ext cx="16230600" cy="7047596"/>
            <a:chOff x="0" y="0"/>
            <a:chExt cx="4274726" cy="1856157"/>
          </a:xfrm>
        </p:grpSpPr>
        <p:sp>
          <p:nvSpPr>
            <p:cNvPr name="Freeform 4" id="4"/>
            <p:cNvSpPr/>
            <p:nvPr/>
          </p:nvSpPr>
          <p:spPr>
            <a:xfrm flipH="false" flipV="false" rot="0">
              <a:off x="0" y="0"/>
              <a:ext cx="4274726" cy="1856157"/>
            </a:xfrm>
            <a:custGeom>
              <a:avLst/>
              <a:gdLst/>
              <a:ahLst/>
              <a:cxnLst/>
              <a:rect r="r" b="b" t="t" l="l"/>
              <a:pathLst>
                <a:path h="1856157" w="4274726">
                  <a:moveTo>
                    <a:pt x="31482" y="0"/>
                  </a:moveTo>
                  <a:lnTo>
                    <a:pt x="4243244" y="0"/>
                  </a:lnTo>
                  <a:cubicBezTo>
                    <a:pt x="4260631" y="0"/>
                    <a:pt x="4274726" y="14095"/>
                    <a:pt x="4274726" y="31482"/>
                  </a:cubicBezTo>
                  <a:lnTo>
                    <a:pt x="4274726" y="1824675"/>
                  </a:lnTo>
                  <a:cubicBezTo>
                    <a:pt x="4274726" y="1842062"/>
                    <a:pt x="4260631" y="1856157"/>
                    <a:pt x="4243244" y="1856157"/>
                  </a:cubicBezTo>
                  <a:lnTo>
                    <a:pt x="31482" y="1856157"/>
                  </a:lnTo>
                  <a:cubicBezTo>
                    <a:pt x="23132" y="1856157"/>
                    <a:pt x="15125" y="1852840"/>
                    <a:pt x="9221" y="1846936"/>
                  </a:cubicBezTo>
                  <a:cubicBezTo>
                    <a:pt x="3317" y="1841032"/>
                    <a:pt x="0" y="1833025"/>
                    <a:pt x="0" y="1824675"/>
                  </a:cubicBezTo>
                  <a:lnTo>
                    <a:pt x="0" y="31482"/>
                  </a:lnTo>
                  <a:cubicBezTo>
                    <a:pt x="0" y="14095"/>
                    <a:pt x="14095" y="0"/>
                    <a:pt x="31482" y="0"/>
                  </a:cubicBezTo>
                  <a:close/>
                </a:path>
              </a:pathLst>
            </a:custGeom>
            <a:ln w="19050" cap="rnd">
              <a:solidFill>
                <a:srgbClr val="424242"/>
              </a:solidFill>
              <a:prstDash val="solid"/>
              <a:round/>
            </a:ln>
          </p:spPr>
        </p:sp>
        <p:sp>
          <p:nvSpPr>
            <p:cNvPr name="TextBox 5" id="5"/>
            <p:cNvSpPr txBox="true"/>
            <p:nvPr/>
          </p:nvSpPr>
          <p:spPr>
            <a:xfrm>
              <a:off x="0" y="-28575"/>
              <a:ext cx="4274726" cy="1884732"/>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419160" y="3269009"/>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1419160" y="4179733"/>
            <a:ext cx="9275282" cy="5739081"/>
          </a:xfrm>
          <a:custGeom>
            <a:avLst/>
            <a:gdLst/>
            <a:ahLst/>
            <a:cxnLst/>
            <a:rect r="r" b="b" t="t" l="l"/>
            <a:pathLst>
              <a:path h="5739081" w="9275282">
                <a:moveTo>
                  <a:pt x="0" y="0"/>
                </a:moveTo>
                <a:lnTo>
                  <a:pt x="9275282" y="0"/>
                </a:lnTo>
                <a:lnTo>
                  <a:pt x="9275282" y="5739081"/>
                </a:lnTo>
                <a:lnTo>
                  <a:pt x="0" y="5739081"/>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Dataset Overview</a:t>
            </a:r>
          </a:p>
        </p:txBody>
      </p:sp>
      <p:sp>
        <p:nvSpPr>
          <p:cNvPr name="TextBox 11" id="11"/>
          <p:cNvSpPr txBox="true"/>
          <p:nvPr/>
        </p:nvSpPr>
        <p:spPr>
          <a:xfrm rot="0">
            <a:off x="1571124" y="3497458"/>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13</a:t>
            </a:r>
          </a:p>
        </p:txBody>
      </p:sp>
      <p:sp>
        <p:nvSpPr>
          <p:cNvPr name="TextBox 12" id="12"/>
          <p:cNvSpPr txBox="true"/>
          <p:nvPr/>
        </p:nvSpPr>
        <p:spPr>
          <a:xfrm rot="0">
            <a:off x="2906013" y="3473639"/>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Rental</a:t>
            </a:r>
          </a:p>
        </p:txBody>
      </p:sp>
      <p:sp>
        <p:nvSpPr>
          <p:cNvPr name="TextBox 13" id="13"/>
          <p:cNvSpPr txBox="true"/>
          <p:nvPr/>
        </p:nvSpPr>
        <p:spPr>
          <a:xfrm rot="0">
            <a:off x="10694442" y="4141633"/>
            <a:ext cx="6301173" cy="386397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Sebanyak 183 rental_id memiliki date_of_return bernilai Null.</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date_of_rental dan time_of_rental dari 183 transaksi tersebut memiliki tanggal dan waktu penyewaan yang sama.</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Tidak mungkin ada penyewaan di tanggal dan waktu yang sama sebanyak 183 transaksi ⟶ TRANSAKSI FIKTIF ⟶ DIBIARKAN.</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Saat melakukan analisis dapat menggunakan LEFT JOIN dengan mengecualikan  WHERE date_of_return IS NOT NULL.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1028700" y="3105495"/>
            <a:ext cx="16989855" cy="2539226"/>
            <a:chOff x="0" y="0"/>
            <a:chExt cx="4474694" cy="668767"/>
          </a:xfrm>
        </p:grpSpPr>
        <p:sp>
          <p:nvSpPr>
            <p:cNvPr name="Freeform 4" id="4"/>
            <p:cNvSpPr/>
            <p:nvPr/>
          </p:nvSpPr>
          <p:spPr>
            <a:xfrm flipH="false" flipV="false" rot="0">
              <a:off x="0" y="0"/>
              <a:ext cx="4474694" cy="668767"/>
            </a:xfrm>
            <a:custGeom>
              <a:avLst/>
              <a:gdLst/>
              <a:ahLst/>
              <a:cxnLst/>
              <a:rect r="r" b="b" t="t" l="l"/>
              <a:pathLst>
                <a:path h="668767" w="4474694">
                  <a:moveTo>
                    <a:pt x="30075" y="0"/>
                  </a:moveTo>
                  <a:lnTo>
                    <a:pt x="4444619" y="0"/>
                  </a:lnTo>
                  <a:cubicBezTo>
                    <a:pt x="4452596" y="0"/>
                    <a:pt x="4460246" y="3169"/>
                    <a:pt x="4465886" y="8809"/>
                  </a:cubicBezTo>
                  <a:cubicBezTo>
                    <a:pt x="4471526" y="14449"/>
                    <a:pt x="4474694" y="22098"/>
                    <a:pt x="4474694" y="30075"/>
                  </a:cubicBezTo>
                  <a:lnTo>
                    <a:pt x="4474694" y="638693"/>
                  </a:lnTo>
                  <a:cubicBezTo>
                    <a:pt x="4474694" y="646669"/>
                    <a:pt x="4471526" y="654319"/>
                    <a:pt x="4465886" y="659959"/>
                  </a:cubicBezTo>
                  <a:cubicBezTo>
                    <a:pt x="4460246" y="665599"/>
                    <a:pt x="4452596" y="668767"/>
                    <a:pt x="4444619" y="668767"/>
                  </a:cubicBezTo>
                  <a:lnTo>
                    <a:pt x="30075" y="668767"/>
                  </a:lnTo>
                  <a:cubicBezTo>
                    <a:pt x="22098" y="668767"/>
                    <a:pt x="14449" y="665599"/>
                    <a:pt x="8809" y="659959"/>
                  </a:cubicBezTo>
                  <a:cubicBezTo>
                    <a:pt x="3169" y="654319"/>
                    <a:pt x="0" y="646669"/>
                    <a:pt x="0" y="638693"/>
                  </a:cubicBezTo>
                  <a:lnTo>
                    <a:pt x="0" y="30075"/>
                  </a:lnTo>
                  <a:cubicBezTo>
                    <a:pt x="0" y="22098"/>
                    <a:pt x="3169" y="14449"/>
                    <a:pt x="8809" y="8809"/>
                  </a:cubicBezTo>
                  <a:cubicBezTo>
                    <a:pt x="14449" y="3169"/>
                    <a:pt x="22098" y="0"/>
                    <a:pt x="30075"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4474694" cy="697342"/>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303815" y="3299779"/>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2790668" y="4142204"/>
            <a:ext cx="14468632" cy="1175576"/>
          </a:xfrm>
          <a:custGeom>
            <a:avLst/>
            <a:gdLst/>
            <a:ahLst/>
            <a:cxnLst/>
            <a:rect r="r" b="b" t="t" l="l"/>
            <a:pathLst>
              <a:path h="1175576" w="14468632">
                <a:moveTo>
                  <a:pt x="0" y="0"/>
                </a:moveTo>
                <a:lnTo>
                  <a:pt x="14468632" y="0"/>
                </a:lnTo>
                <a:lnTo>
                  <a:pt x="14468632" y="1175577"/>
                </a:lnTo>
                <a:lnTo>
                  <a:pt x="0" y="1175577"/>
                </a:lnTo>
                <a:lnTo>
                  <a:pt x="0" y="0"/>
                </a:lnTo>
                <a:close/>
              </a:path>
            </a:pathLst>
          </a:custGeom>
          <a:blipFill>
            <a:blip r:embed="rId3"/>
            <a:stretch>
              <a:fillRect l="0" t="0" r="0" b="0"/>
            </a:stretch>
          </a:blipFill>
        </p:spPr>
      </p:sp>
      <p:grpSp>
        <p:nvGrpSpPr>
          <p:cNvPr name="Group 10" id="10"/>
          <p:cNvGrpSpPr/>
          <p:nvPr/>
        </p:nvGrpSpPr>
        <p:grpSpPr>
          <a:xfrm rot="0">
            <a:off x="1028700" y="6043262"/>
            <a:ext cx="8115300" cy="2786814"/>
            <a:chOff x="0" y="0"/>
            <a:chExt cx="2137363" cy="733976"/>
          </a:xfrm>
        </p:grpSpPr>
        <p:sp>
          <p:nvSpPr>
            <p:cNvPr name="Freeform 11" id="11"/>
            <p:cNvSpPr/>
            <p:nvPr/>
          </p:nvSpPr>
          <p:spPr>
            <a:xfrm flipH="false" flipV="false" rot="0">
              <a:off x="0" y="0"/>
              <a:ext cx="2137363" cy="733976"/>
            </a:xfrm>
            <a:custGeom>
              <a:avLst/>
              <a:gdLst/>
              <a:ahLst/>
              <a:cxnLst/>
              <a:rect r="r" b="b" t="t" l="l"/>
              <a:pathLst>
                <a:path h="733976" w="2137363">
                  <a:moveTo>
                    <a:pt x="62963" y="0"/>
                  </a:moveTo>
                  <a:lnTo>
                    <a:pt x="2074400" y="0"/>
                  </a:lnTo>
                  <a:cubicBezTo>
                    <a:pt x="2091099" y="0"/>
                    <a:pt x="2107113" y="6634"/>
                    <a:pt x="2118921" y="18442"/>
                  </a:cubicBezTo>
                  <a:cubicBezTo>
                    <a:pt x="2130729" y="30249"/>
                    <a:pt x="2137363" y="46264"/>
                    <a:pt x="2137363" y="62963"/>
                  </a:cubicBezTo>
                  <a:lnTo>
                    <a:pt x="2137363" y="671012"/>
                  </a:lnTo>
                  <a:cubicBezTo>
                    <a:pt x="2137363" y="705786"/>
                    <a:pt x="2109173" y="733976"/>
                    <a:pt x="2074400" y="733976"/>
                  </a:cubicBezTo>
                  <a:lnTo>
                    <a:pt x="62963" y="733976"/>
                  </a:lnTo>
                  <a:cubicBezTo>
                    <a:pt x="28190" y="733976"/>
                    <a:pt x="0" y="705786"/>
                    <a:pt x="0" y="671012"/>
                  </a:cubicBezTo>
                  <a:lnTo>
                    <a:pt x="0" y="62963"/>
                  </a:lnTo>
                  <a:cubicBezTo>
                    <a:pt x="0" y="28190"/>
                    <a:pt x="28190" y="0"/>
                    <a:pt x="62963"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2137363" cy="762551"/>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1303815" y="6237546"/>
            <a:ext cx="1154202" cy="804358"/>
            <a:chOff x="0" y="0"/>
            <a:chExt cx="303987" cy="211847"/>
          </a:xfrm>
        </p:grpSpPr>
        <p:sp>
          <p:nvSpPr>
            <p:cNvPr name="Freeform 14" id="14"/>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5" id="15"/>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16" id="16"/>
          <p:cNvSpPr/>
          <p:nvPr/>
        </p:nvSpPr>
        <p:spPr>
          <a:xfrm flipH="false" flipV="false" rot="0">
            <a:off x="2790668" y="6986177"/>
            <a:ext cx="5701113" cy="1596312"/>
          </a:xfrm>
          <a:custGeom>
            <a:avLst/>
            <a:gdLst/>
            <a:ahLst/>
            <a:cxnLst/>
            <a:rect r="r" b="b" t="t" l="l"/>
            <a:pathLst>
              <a:path h="1596312" w="5701113">
                <a:moveTo>
                  <a:pt x="0" y="0"/>
                </a:moveTo>
                <a:lnTo>
                  <a:pt x="5701113" y="0"/>
                </a:lnTo>
                <a:lnTo>
                  <a:pt x="5701113" y="1596311"/>
                </a:lnTo>
                <a:lnTo>
                  <a:pt x="0" y="1596311"/>
                </a:lnTo>
                <a:lnTo>
                  <a:pt x="0" y="0"/>
                </a:lnTo>
                <a:close/>
              </a:path>
            </a:pathLst>
          </a:custGeom>
          <a:blipFill>
            <a:blip r:embed="rId4"/>
            <a:stretch>
              <a:fillRect l="0" t="0" r="0" b="0"/>
            </a:stretch>
          </a:blipFill>
        </p:spPr>
      </p:sp>
      <p:sp>
        <p:nvSpPr>
          <p:cNvPr name="TextBox 17" id="17"/>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Dataset Overview</a:t>
            </a:r>
          </a:p>
        </p:txBody>
      </p:sp>
      <p:sp>
        <p:nvSpPr>
          <p:cNvPr name="TextBox 18" id="18"/>
          <p:cNvSpPr txBox="true"/>
          <p:nvPr/>
        </p:nvSpPr>
        <p:spPr>
          <a:xfrm rot="0">
            <a:off x="1455779" y="3528228"/>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14</a:t>
            </a:r>
          </a:p>
        </p:txBody>
      </p:sp>
      <p:sp>
        <p:nvSpPr>
          <p:cNvPr name="TextBox 19" id="19"/>
          <p:cNvSpPr txBox="true"/>
          <p:nvPr/>
        </p:nvSpPr>
        <p:spPr>
          <a:xfrm rot="0">
            <a:off x="2790668" y="3504409"/>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Staff</a:t>
            </a:r>
          </a:p>
        </p:txBody>
      </p:sp>
      <p:sp>
        <p:nvSpPr>
          <p:cNvPr name="TextBox 20" id="20"/>
          <p:cNvSpPr txBox="true"/>
          <p:nvPr/>
        </p:nvSpPr>
        <p:spPr>
          <a:xfrm rot="0">
            <a:off x="1455779" y="6465995"/>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15</a:t>
            </a:r>
          </a:p>
        </p:txBody>
      </p:sp>
      <p:sp>
        <p:nvSpPr>
          <p:cNvPr name="TextBox 21" id="21"/>
          <p:cNvSpPr txBox="true"/>
          <p:nvPr/>
        </p:nvSpPr>
        <p:spPr>
          <a:xfrm rot="0">
            <a:off x="2790668" y="6442176"/>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Store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9122791" cy="7008479"/>
            <a:chOff x="0" y="0"/>
            <a:chExt cx="2402710" cy="1845855"/>
          </a:xfrm>
        </p:grpSpPr>
        <p:sp>
          <p:nvSpPr>
            <p:cNvPr name="Freeform 4" id="4"/>
            <p:cNvSpPr/>
            <p:nvPr/>
          </p:nvSpPr>
          <p:spPr>
            <a:xfrm flipH="false" flipV="false" rot="0">
              <a:off x="0" y="0"/>
              <a:ext cx="2402710" cy="1845855"/>
            </a:xfrm>
            <a:custGeom>
              <a:avLst/>
              <a:gdLst/>
              <a:ahLst/>
              <a:cxnLst/>
              <a:rect r="r" b="b" t="t" l="l"/>
              <a:pathLst>
                <a:path h="1845855" w="2402710">
                  <a:moveTo>
                    <a:pt x="56010" y="0"/>
                  </a:moveTo>
                  <a:lnTo>
                    <a:pt x="2346700" y="0"/>
                  </a:lnTo>
                  <a:cubicBezTo>
                    <a:pt x="2361555" y="0"/>
                    <a:pt x="2375801" y="5901"/>
                    <a:pt x="2386305" y="16405"/>
                  </a:cubicBezTo>
                  <a:cubicBezTo>
                    <a:pt x="2396809" y="26909"/>
                    <a:pt x="2402710" y="41155"/>
                    <a:pt x="2402710" y="56010"/>
                  </a:cubicBezTo>
                  <a:lnTo>
                    <a:pt x="2402710" y="1789845"/>
                  </a:lnTo>
                  <a:cubicBezTo>
                    <a:pt x="2402710" y="1820778"/>
                    <a:pt x="2377634" y="1845855"/>
                    <a:pt x="2346700" y="1845855"/>
                  </a:cubicBezTo>
                  <a:lnTo>
                    <a:pt x="56010" y="1845855"/>
                  </a:lnTo>
                  <a:cubicBezTo>
                    <a:pt x="25076" y="1845855"/>
                    <a:pt x="0" y="1820778"/>
                    <a:pt x="0" y="1789845"/>
                  </a:cubicBezTo>
                  <a:lnTo>
                    <a:pt x="0" y="56010"/>
                  </a:lnTo>
                  <a:cubicBezTo>
                    <a:pt x="0" y="25076"/>
                    <a:pt x="25076" y="0"/>
                    <a:pt x="56010"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2402710" cy="1874430"/>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9" id="9"/>
          <p:cNvGrpSpPr/>
          <p:nvPr/>
        </p:nvGrpSpPr>
        <p:grpSpPr>
          <a:xfrm rot="0">
            <a:off x="10358141" y="3061729"/>
            <a:ext cx="7533689" cy="7065186"/>
            <a:chOff x="0" y="0"/>
            <a:chExt cx="1984182" cy="1860790"/>
          </a:xfrm>
        </p:grpSpPr>
        <p:sp>
          <p:nvSpPr>
            <p:cNvPr name="Freeform 10" id="10"/>
            <p:cNvSpPr/>
            <p:nvPr/>
          </p:nvSpPr>
          <p:spPr>
            <a:xfrm flipH="false" flipV="false" rot="0">
              <a:off x="0" y="0"/>
              <a:ext cx="1984182" cy="1860790"/>
            </a:xfrm>
            <a:custGeom>
              <a:avLst/>
              <a:gdLst/>
              <a:ahLst/>
              <a:cxnLst/>
              <a:rect r="r" b="b" t="t" l="l"/>
              <a:pathLst>
                <a:path h="1860790" w="1984182">
                  <a:moveTo>
                    <a:pt x="67824" y="0"/>
                  </a:moveTo>
                  <a:lnTo>
                    <a:pt x="1916357" y="0"/>
                  </a:lnTo>
                  <a:cubicBezTo>
                    <a:pt x="1934345" y="0"/>
                    <a:pt x="1951597" y="7146"/>
                    <a:pt x="1964316" y="19865"/>
                  </a:cubicBezTo>
                  <a:cubicBezTo>
                    <a:pt x="1977036" y="32585"/>
                    <a:pt x="1984182" y="49836"/>
                    <a:pt x="1984182" y="67824"/>
                  </a:cubicBezTo>
                  <a:lnTo>
                    <a:pt x="1984182" y="1792966"/>
                  </a:lnTo>
                  <a:cubicBezTo>
                    <a:pt x="1984182" y="1810954"/>
                    <a:pt x="1977036" y="1828205"/>
                    <a:pt x="1964316" y="1840924"/>
                  </a:cubicBezTo>
                  <a:cubicBezTo>
                    <a:pt x="1951597" y="1853644"/>
                    <a:pt x="1934345" y="1860790"/>
                    <a:pt x="1916357" y="1860790"/>
                  </a:cubicBezTo>
                  <a:lnTo>
                    <a:pt x="67824" y="1860790"/>
                  </a:lnTo>
                  <a:cubicBezTo>
                    <a:pt x="49836" y="1860790"/>
                    <a:pt x="32585" y="1853644"/>
                    <a:pt x="19865" y="1840924"/>
                  </a:cubicBezTo>
                  <a:cubicBezTo>
                    <a:pt x="7146" y="1828205"/>
                    <a:pt x="0" y="1810954"/>
                    <a:pt x="0" y="1792966"/>
                  </a:cubicBezTo>
                  <a:lnTo>
                    <a:pt x="0" y="67824"/>
                  </a:lnTo>
                  <a:cubicBezTo>
                    <a:pt x="0" y="49836"/>
                    <a:pt x="7146" y="32585"/>
                    <a:pt x="19865" y="19865"/>
                  </a:cubicBezTo>
                  <a:cubicBezTo>
                    <a:pt x="32585" y="7146"/>
                    <a:pt x="49836" y="0"/>
                    <a:pt x="67824" y="0"/>
                  </a:cubicBezTo>
                  <a:close/>
                </a:path>
              </a:pathLst>
            </a:custGeom>
            <a:solidFill>
              <a:srgbClr val="D0D7DD"/>
            </a:solidFill>
            <a:ln w="19050" cap="rnd">
              <a:solidFill>
                <a:srgbClr val="424242"/>
              </a:solidFill>
              <a:prstDash val="solid"/>
              <a:round/>
            </a:ln>
          </p:spPr>
        </p:sp>
        <p:sp>
          <p:nvSpPr>
            <p:cNvPr name="TextBox 11" id="11"/>
            <p:cNvSpPr txBox="true"/>
            <p:nvPr/>
          </p:nvSpPr>
          <p:spPr>
            <a:xfrm>
              <a:off x="0" y="-28575"/>
              <a:ext cx="1984182" cy="1889365"/>
            </a:xfrm>
            <a:prstGeom prst="rect">
              <a:avLst/>
            </a:prstGeom>
          </p:spPr>
          <p:txBody>
            <a:bodyPr anchor="ctr" rtlCol="false" tIns="50800" lIns="50800" bIns="50800" rIns="50800"/>
            <a:lstStyle/>
            <a:p>
              <a:pPr algn="ctr">
                <a:lnSpc>
                  <a:spcPts val="2015"/>
                </a:lnSpc>
              </a:pPr>
            </a:p>
          </p:txBody>
        </p:sp>
      </p:grpSp>
      <p:grpSp>
        <p:nvGrpSpPr>
          <p:cNvPr name="Group 12" id="12"/>
          <p:cNvGrpSpPr/>
          <p:nvPr/>
        </p:nvGrpSpPr>
        <p:grpSpPr>
          <a:xfrm rot="0">
            <a:off x="10546245" y="3256012"/>
            <a:ext cx="1154202" cy="804358"/>
            <a:chOff x="0" y="0"/>
            <a:chExt cx="303987" cy="211847"/>
          </a:xfrm>
        </p:grpSpPr>
        <p:sp>
          <p:nvSpPr>
            <p:cNvPr name="Freeform 13" id="13"/>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4" id="14"/>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15" id="15"/>
          <p:cNvSpPr/>
          <p:nvPr/>
        </p:nvSpPr>
        <p:spPr>
          <a:xfrm flipH="false" flipV="false" rot="0">
            <a:off x="1086696" y="4268065"/>
            <a:ext cx="8730579" cy="5271087"/>
          </a:xfrm>
          <a:custGeom>
            <a:avLst/>
            <a:gdLst/>
            <a:ahLst/>
            <a:cxnLst/>
            <a:rect r="r" b="b" t="t" l="l"/>
            <a:pathLst>
              <a:path h="5271087" w="8730579">
                <a:moveTo>
                  <a:pt x="0" y="0"/>
                </a:moveTo>
                <a:lnTo>
                  <a:pt x="8730579" y="0"/>
                </a:lnTo>
                <a:lnTo>
                  <a:pt x="8730579" y="5271087"/>
                </a:lnTo>
                <a:lnTo>
                  <a:pt x="0" y="5271087"/>
                </a:lnTo>
                <a:lnTo>
                  <a:pt x="0" y="0"/>
                </a:lnTo>
                <a:close/>
              </a:path>
            </a:pathLst>
          </a:custGeom>
          <a:blipFill>
            <a:blip r:embed="rId3"/>
            <a:stretch>
              <a:fillRect l="0" t="0" r="0" b="0"/>
            </a:stretch>
          </a:blipFill>
        </p:spPr>
      </p:sp>
      <p:sp>
        <p:nvSpPr>
          <p:cNvPr name="Freeform 16" id="16"/>
          <p:cNvSpPr/>
          <p:nvPr/>
        </p:nvSpPr>
        <p:spPr>
          <a:xfrm flipH="false" flipV="false" rot="0">
            <a:off x="11189582" y="4268065"/>
            <a:ext cx="5870807" cy="5802142"/>
          </a:xfrm>
          <a:custGeom>
            <a:avLst/>
            <a:gdLst/>
            <a:ahLst/>
            <a:cxnLst/>
            <a:rect r="r" b="b" t="t" l="l"/>
            <a:pathLst>
              <a:path h="5802142" w="5870807">
                <a:moveTo>
                  <a:pt x="0" y="0"/>
                </a:moveTo>
                <a:lnTo>
                  <a:pt x="5870807" y="0"/>
                </a:lnTo>
                <a:lnTo>
                  <a:pt x="5870807" y="5802143"/>
                </a:lnTo>
                <a:lnTo>
                  <a:pt x="0" y="5802143"/>
                </a:lnTo>
                <a:lnTo>
                  <a:pt x="0" y="0"/>
                </a:lnTo>
                <a:close/>
              </a:path>
            </a:pathLst>
          </a:custGeom>
          <a:blipFill>
            <a:blip r:embed="rId4"/>
            <a:stretch>
              <a:fillRect l="0" t="0" r="0" b="0"/>
            </a:stretch>
          </a:blipFill>
        </p:spPr>
      </p:sp>
      <p:sp>
        <p:nvSpPr>
          <p:cNvPr name="TextBox 17" id="17"/>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SQL Analysis</a:t>
            </a:r>
          </a:p>
        </p:txBody>
      </p:sp>
      <p:sp>
        <p:nvSpPr>
          <p:cNvPr name="TextBox 18" id="18"/>
          <p:cNvSpPr txBox="true"/>
          <p:nvPr/>
        </p:nvSpPr>
        <p:spPr>
          <a:xfrm rot="0">
            <a:off x="10698208"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02</a:t>
            </a:r>
          </a:p>
        </p:txBody>
      </p:sp>
      <p:sp>
        <p:nvSpPr>
          <p:cNvPr name="TextBox 19" id="19"/>
          <p:cNvSpPr txBox="true"/>
          <p:nvPr/>
        </p:nvSpPr>
        <p:spPr>
          <a:xfrm rot="0">
            <a:off x="12033097" y="3460643"/>
            <a:ext cx="5693838"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Performa Penjualan Setiap Toko</a:t>
            </a:r>
          </a:p>
        </p:txBody>
      </p:sp>
      <p:sp>
        <p:nvSpPr>
          <p:cNvPr name="TextBox 20" id="20"/>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01</a:t>
            </a:r>
          </a:p>
        </p:txBody>
      </p:sp>
      <p:sp>
        <p:nvSpPr>
          <p:cNvPr name="TextBox 21" id="21"/>
          <p:cNvSpPr txBox="true"/>
          <p:nvPr/>
        </p:nvSpPr>
        <p:spPr>
          <a:xfrm rot="0">
            <a:off x="2663943" y="3460643"/>
            <a:ext cx="5491679"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Tren Pendapatan Bulanan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6767622" cy="7065186"/>
            <a:chOff x="0" y="0"/>
            <a:chExt cx="1782419" cy="1860790"/>
          </a:xfrm>
        </p:grpSpPr>
        <p:sp>
          <p:nvSpPr>
            <p:cNvPr name="Freeform 4" id="4"/>
            <p:cNvSpPr/>
            <p:nvPr/>
          </p:nvSpPr>
          <p:spPr>
            <a:xfrm flipH="false" flipV="false" rot="0">
              <a:off x="0" y="0"/>
              <a:ext cx="1782419" cy="1860790"/>
            </a:xfrm>
            <a:custGeom>
              <a:avLst/>
              <a:gdLst/>
              <a:ahLst/>
              <a:cxnLst/>
              <a:rect r="r" b="b" t="t" l="l"/>
              <a:pathLst>
                <a:path h="1860790" w="1782419">
                  <a:moveTo>
                    <a:pt x="75502" y="0"/>
                  </a:moveTo>
                  <a:lnTo>
                    <a:pt x="1706917" y="0"/>
                  </a:lnTo>
                  <a:cubicBezTo>
                    <a:pt x="1726941" y="0"/>
                    <a:pt x="1746146" y="7955"/>
                    <a:pt x="1760305" y="22114"/>
                  </a:cubicBezTo>
                  <a:cubicBezTo>
                    <a:pt x="1774464" y="36273"/>
                    <a:pt x="1782419" y="55477"/>
                    <a:pt x="1782419" y="75502"/>
                  </a:cubicBezTo>
                  <a:lnTo>
                    <a:pt x="1782419" y="1785288"/>
                  </a:lnTo>
                  <a:cubicBezTo>
                    <a:pt x="1782419" y="1805312"/>
                    <a:pt x="1774464" y="1824517"/>
                    <a:pt x="1760305" y="1838676"/>
                  </a:cubicBezTo>
                  <a:cubicBezTo>
                    <a:pt x="1746146" y="1852835"/>
                    <a:pt x="1726941" y="1860790"/>
                    <a:pt x="1706917" y="1860790"/>
                  </a:cubicBezTo>
                  <a:lnTo>
                    <a:pt x="75502" y="1860790"/>
                  </a:lnTo>
                  <a:cubicBezTo>
                    <a:pt x="55477" y="1860790"/>
                    <a:pt x="36273" y="1852835"/>
                    <a:pt x="22114" y="1838676"/>
                  </a:cubicBezTo>
                  <a:cubicBezTo>
                    <a:pt x="7955" y="1824517"/>
                    <a:pt x="0" y="1805312"/>
                    <a:pt x="0" y="1785288"/>
                  </a:cubicBezTo>
                  <a:lnTo>
                    <a:pt x="0" y="75502"/>
                  </a:lnTo>
                  <a:cubicBezTo>
                    <a:pt x="0" y="55477"/>
                    <a:pt x="7955" y="36273"/>
                    <a:pt x="22114" y="22114"/>
                  </a:cubicBezTo>
                  <a:cubicBezTo>
                    <a:pt x="36273" y="7955"/>
                    <a:pt x="55477" y="0"/>
                    <a:pt x="75502"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1782419" cy="1889365"/>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9" id="9"/>
          <p:cNvGrpSpPr/>
          <p:nvPr/>
        </p:nvGrpSpPr>
        <p:grpSpPr>
          <a:xfrm rot="0">
            <a:off x="8454974" y="3061729"/>
            <a:ext cx="9436856" cy="7065186"/>
            <a:chOff x="0" y="0"/>
            <a:chExt cx="2485427" cy="1860790"/>
          </a:xfrm>
        </p:grpSpPr>
        <p:sp>
          <p:nvSpPr>
            <p:cNvPr name="Freeform 10" id="10"/>
            <p:cNvSpPr/>
            <p:nvPr/>
          </p:nvSpPr>
          <p:spPr>
            <a:xfrm flipH="false" flipV="false" rot="0">
              <a:off x="0" y="0"/>
              <a:ext cx="2485427" cy="1860790"/>
            </a:xfrm>
            <a:custGeom>
              <a:avLst/>
              <a:gdLst/>
              <a:ahLst/>
              <a:cxnLst/>
              <a:rect r="r" b="b" t="t" l="l"/>
              <a:pathLst>
                <a:path h="1860790" w="2485427">
                  <a:moveTo>
                    <a:pt x="54146" y="0"/>
                  </a:moveTo>
                  <a:lnTo>
                    <a:pt x="2431281" y="0"/>
                  </a:lnTo>
                  <a:cubicBezTo>
                    <a:pt x="2445642" y="0"/>
                    <a:pt x="2459414" y="5705"/>
                    <a:pt x="2469568" y="15859"/>
                  </a:cubicBezTo>
                  <a:cubicBezTo>
                    <a:pt x="2479722" y="26013"/>
                    <a:pt x="2485427" y="39785"/>
                    <a:pt x="2485427" y="54146"/>
                  </a:cubicBezTo>
                  <a:lnTo>
                    <a:pt x="2485427" y="1806644"/>
                  </a:lnTo>
                  <a:cubicBezTo>
                    <a:pt x="2485427" y="1821004"/>
                    <a:pt x="2479722" y="1834776"/>
                    <a:pt x="2469568" y="1844931"/>
                  </a:cubicBezTo>
                  <a:cubicBezTo>
                    <a:pt x="2459414" y="1855085"/>
                    <a:pt x="2445642" y="1860790"/>
                    <a:pt x="2431281" y="1860790"/>
                  </a:cubicBezTo>
                  <a:lnTo>
                    <a:pt x="54146" y="1860790"/>
                  </a:lnTo>
                  <a:cubicBezTo>
                    <a:pt x="39785" y="1860790"/>
                    <a:pt x="26013" y="1855085"/>
                    <a:pt x="15859" y="1844931"/>
                  </a:cubicBezTo>
                  <a:cubicBezTo>
                    <a:pt x="5705" y="1834776"/>
                    <a:pt x="0" y="1821004"/>
                    <a:pt x="0" y="1806644"/>
                  </a:cubicBezTo>
                  <a:lnTo>
                    <a:pt x="0" y="54146"/>
                  </a:lnTo>
                  <a:cubicBezTo>
                    <a:pt x="0" y="39785"/>
                    <a:pt x="5705" y="26013"/>
                    <a:pt x="15859" y="15859"/>
                  </a:cubicBezTo>
                  <a:cubicBezTo>
                    <a:pt x="26013" y="5705"/>
                    <a:pt x="39785" y="0"/>
                    <a:pt x="54146" y="0"/>
                  </a:cubicBezTo>
                  <a:close/>
                </a:path>
              </a:pathLst>
            </a:custGeom>
            <a:solidFill>
              <a:srgbClr val="D0D7DD"/>
            </a:solidFill>
            <a:ln w="19050" cap="rnd">
              <a:solidFill>
                <a:srgbClr val="424242"/>
              </a:solidFill>
              <a:prstDash val="solid"/>
              <a:round/>
            </a:ln>
          </p:spPr>
        </p:sp>
        <p:sp>
          <p:nvSpPr>
            <p:cNvPr name="TextBox 11" id="11"/>
            <p:cNvSpPr txBox="true"/>
            <p:nvPr/>
          </p:nvSpPr>
          <p:spPr>
            <a:xfrm>
              <a:off x="0" y="-28575"/>
              <a:ext cx="2485427" cy="1889365"/>
            </a:xfrm>
            <a:prstGeom prst="rect">
              <a:avLst/>
            </a:prstGeom>
          </p:spPr>
          <p:txBody>
            <a:bodyPr anchor="ctr" rtlCol="false" tIns="50800" lIns="50800" bIns="50800" rIns="50800"/>
            <a:lstStyle/>
            <a:p>
              <a:pPr algn="ctr">
                <a:lnSpc>
                  <a:spcPts val="2015"/>
                </a:lnSpc>
              </a:pPr>
            </a:p>
          </p:txBody>
        </p:sp>
      </p:grpSp>
      <p:grpSp>
        <p:nvGrpSpPr>
          <p:cNvPr name="Group 12" id="12"/>
          <p:cNvGrpSpPr/>
          <p:nvPr/>
        </p:nvGrpSpPr>
        <p:grpSpPr>
          <a:xfrm rot="0">
            <a:off x="8762025" y="3256012"/>
            <a:ext cx="1154202" cy="804358"/>
            <a:chOff x="0" y="0"/>
            <a:chExt cx="303987" cy="211847"/>
          </a:xfrm>
        </p:grpSpPr>
        <p:sp>
          <p:nvSpPr>
            <p:cNvPr name="Freeform 13" id="13"/>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4" id="14"/>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15" id="15"/>
          <p:cNvSpPr/>
          <p:nvPr/>
        </p:nvSpPr>
        <p:spPr>
          <a:xfrm flipH="false" flipV="false" rot="0">
            <a:off x="1826851" y="4268236"/>
            <a:ext cx="4779292" cy="5693591"/>
          </a:xfrm>
          <a:custGeom>
            <a:avLst/>
            <a:gdLst/>
            <a:ahLst/>
            <a:cxnLst/>
            <a:rect r="r" b="b" t="t" l="l"/>
            <a:pathLst>
              <a:path h="5693591" w="4779292">
                <a:moveTo>
                  <a:pt x="0" y="0"/>
                </a:moveTo>
                <a:lnTo>
                  <a:pt x="4779292" y="0"/>
                </a:lnTo>
                <a:lnTo>
                  <a:pt x="4779292" y="5693591"/>
                </a:lnTo>
                <a:lnTo>
                  <a:pt x="0" y="5693591"/>
                </a:lnTo>
                <a:lnTo>
                  <a:pt x="0" y="0"/>
                </a:lnTo>
                <a:close/>
              </a:path>
            </a:pathLst>
          </a:custGeom>
          <a:blipFill>
            <a:blip r:embed="rId3"/>
            <a:stretch>
              <a:fillRect l="0" t="0" r="0" b="0"/>
            </a:stretch>
          </a:blipFill>
        </p:spPr>
      </p:sp>
      <p:sp>
        <p:nvSpPr>
          <p:cNvPr name="Freeform 16" id="16"/>
          <p:cNvSpPr/>
          <p:nvPr/>
        </p:nvSpPr>
        <p:spPr>
          <a:xfrm flipH="false" flipV="false" rot="0">
            <a:off x="11133039" y="4341515"/>
            <a:ext cx="4080727" cy="5620312"/>
          </a:xfrm>
          <a:custGeom>
            <a:avLst/>
            <a:gdLst/>
            <a:ahLst/>
            <a:cxnLst/>
            <a:rect r="r" b="b" t="t" l="l"/>
            <a:pathLst>
              <a:path h="5620312" w="4080727">
                <a:moveTo>
                  <a:pt x="0" y="0"/>
                </a:moveTo>
                <a:lnTo>
                  <a:pt x="4080727" y="0"/>
                </a:lnTo>
                <a:lnTo>
                  <a:pt x="4080727" y="5620312"/>
                </a:lnTo>
                <a:lnTo>
                  <a:pt x="0" y="5620312"/>
                </a:lnTo>
                <a:lnTo>
                  <a:pt x="0" y="0"/>
                </a:lnTo>
                <a:close/>
              </a:path>
            </a:pathLst>
          </a:custGeom>
          <a:blipFill>
            <a:blip r:embed="rId4"/>
            <a:stretch>
              <a:fillRect l="0" t="0" r="0" b="0"/>
            </a:stretch>
          </a:blipFill>
        </p:spPr>
      </p:sp>
      <p:sp>
        <p:nvSpPr>
          <p:cNvPr name="TextBox 17" id="17"/>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SQL Analysis</a:t>
            </a:r>
          </a:p>
        </p:txBody>
      </p:sp>
      <p:sp>
        <p:nvSpPr>
          <p:cNvPr name="TextBox 18" id="18"/>
          <p:cNvSpPr txBox="true"/>
          <p:nvPr/>
        </p:nvSpPr>
        <p:spPr>
          <a:xfrm rot="0">
            <a:off x="8913989"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04</a:t>
            </a:r>
          </a:p>
        </p:txBody>
      </p:sp>
      <p:sp>
        <p:nvSpPr>
          <p:cNvPr name="TextBox 19" id="19"/>
          <p:cNvSpPr txBox="true"/>
          <p:nvPr/>
        </p:nvSpPr>
        <p:spPr>
          <a:xfrm rot="0">
            <a:off x="10248878" y="3460643"/>
            <a:ext cx="6790604"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Durasi Rental Berdasarkan Rating Film</a:t>
            </a:r>
          </a:p>
        </p:txBody>
      </p:sp>
      <p:sp>
        <p:nvSpPr>
          <p:cNvPr name="TextBox 20" id="20"/>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03</a:t>
            </a:r>
          </a:p>
        </p:txBody>
      </p:sp>
      <p:sp>
        <p:nvSpPr>
          <p:cNvPr name="TextBox 21" id="21"/>
          <p:cNvSpPr txBox="true"/>
          <p:nvPr/>
        </p:nvSpPr>
        <p:spPr>
          <a:xfrm rot="0">
            <a:off x="2663943" y="3460643"/>
            <a:ext cx="4631662"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Total Pendapatan per Genre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8242025" cy="7008479"/>
            <a:chOff x="0" y="0"/>
            <a:chExt cx="2170739" cy="1845855"/>
          </a:xfrm>
        </p:grpSpPr>
        <p:sp>
          <p:nvSpPr>
            <p:cNvPr name="Freeform 4" id="4"/>
            <p:cNvSpPr/>
            <p:nvPr/>
          </p:nvSpPr>
          <p:spPr>
            <a:xfrm flipH="false" flipV="false" rot="0">
              <a:off x="0" y="0"/>
              <a:ext cx="2170739" cy="1845855"/>
            </a:xfrm>
            <a:custGeom>
              <a:avLst/>
              <a:gdLst/>
              <a:ahLst/>
              <a:cxnLst/>
              <a:rect r="r" b="b" t="t" l="l"/>
              <a:pathLst>
                <a:path h="1845855" w="2170739">
                  <a:moveTo>
                    <a:pt x="61995" y="0"/>
                  </a:moveTo>
                  <a:lnTo>
                    <a:pt x="2108744" y="0"/>
                  </a:lnTo>
                  <a:cubicBezTo>
                    <a:pt x="2125186" y="0"/>
                    <a:pt x="2140955" y="6532"/>
                    <a:pt x="2152581" y="18158"/>
                  </a:cubicBezTo>
                  <a:cubicBezTo>
                    <a:pt x="2164207" y="29784"/>
                    <a:pt x="2170739" y="45553"/>
                    <a:pt x="2170739" y="61995"/>
                  </a:cubicBezTo>
                  <a:lnTo>
                    <a:pt x="2170739" y="1783859"/>
                  </a:lnTo>
                  <a:cubicBezTo>
                    <a:pt x="2170739" y="1818098"/>
                    <a:pt x="2142983" y="1845855"/>
                    <a:pt x="2108744" y="1845855"/>
                  </a:cubicBezTo>
                  <a:lnTo>
                    <a:pt x="61995" y="1845855"/>
                  </a:lnTo>
                  <a:cubicBezTo>
                    <a:pt x="27756" y="1845855"/>
                    <a:pt x="0" y="1818098"/>
                    <a:pt x="0" y="1783859"/>
                  </a:cubicBezTo>
                  <a:lnTo>
                    <a:pt x="0" y="61995"/>
                  </a:lnTo>
                  <a:cubicBezTo>
                    <a:pt x="0" y="27756"/>
                    <a:pt x="27756" y="0"/>
                    <a:pt x="61995"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2170739" cy="1874430"/>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9" id="9"/>
          <p:cNvGrpSpPr/>
          <p:nvPr/>
        </p:nvGrpSpPr>
        <p:grpSpPr>
          <a:xfrm rot="0">
            <a:off x="9477375" y="3061729"/>
            <a:ext cx="8414455" cy="7065186"/>
            <a:chOff x="0" y="0"/>
            <a:chExt cx="2216153" cy="1860790"/>
          </a:xfrm>
        </p:grpSpPr>
        <p:sp>
          <p:nvSpPr>
            <p:cNvPr name="Freeform 10" id="10"/>
            <p:cNvSpPr/>
            <p:nvPr/>
          </p:nvSpPr>
          <p:spPr>
            <a:xfrm flipH="false" flipV="false" rot="0">
              <a:off x="0" y="0"/>
              <a:ext cx="2216153" cy="1860790"/>
            </a:xfrm>
            <a:custGeom>
              <a:avLst/>
              <a:gdLst/>
              <a:ahLst/>
              <a:cxnLst/>
              <a:rect r="r" b="b" t="t" l="l"/>
              <a:pathLst>
                <a:path h="1860790" w="2216153">
                  <a:moveTo>
                    <a:pt x="60725" y="0"/>
                  </a:moveTo>
                  <a:lnTo>
                    <a:pt x="2155428" y="0"/>
                  </a:lnTo>
                  <a:cubicBezTo>
                    <a:pt x="2188965" y="0"/>
                    <a:pt x="2216153" y="27187"/>
                    <a:pt x="2216153" y="60725"/>
                  </a:cubicBezTo>
                  <a:lnTo>
                    <a:pt x="2216153" y="1800065"/>
                  </a:lnTo>
                  <a:cubicBezTo>
                    <a:pt x="2216153" y="1833602"/>
                    <a:pt x="2188965" y="1860790"/>
                    <a:pt x="2155428" y="1860790"/>
                  </a:cubicBezTo>
                  <a:lnTo>
                    <a:pt x="60725" y="1860790"/>
                  </a:lnTo>
                  <a:cubicBezTo>
                    <a:pt x="27187" y="1860790"/>
                    <a:pt x="0" y="1833602"/>
                    <a:pt x="0" y="1800065"/>
                  </a:cubicBezTo>
                  <a:lnTo>
                    <a:pt x="0" y="60725"/>
                  </a:lnTo>
                  <a:cubicBezTo>
                    <a:pt x="0" y="27187"/>
                    <a:pt x="27187" y="0"/>
                    <a:pt x="60725" y="0"/>
                  </a:cubicBezTo>
                  <a:close/>
                </a:path>
              </a:pathLst>
            </a:custGeom>
            <a:solidFill>
              <a:srgbClr val="D0D7DD"/>
            </a:solidFill>
            <a:ln w="19050" cap="rnd">
              <a:solidFill>
                <a:srgbClr val="424242"/>
              </a:solidFill>
              <a:prstDash val="solid"/>
              <a:round/>
            </a:ln>
          </p:spPr>
        </p:sp>
        <p:sp>
          <p:nvSpPr>
            <p:cNvPr name="TextBox 11" id="11"/>
            <p:cNvSpPr txBox="true"/>
            <p:nvPr/>
          </p:nvSpPr>
          <p:spPr>
            <a:xfrm>
              <a:off x="0" y="-28575"/>
              <a:ext cx="2216153" cy="1889365"/>
            </a:xfrm>
            <a:prstGeom prst="rect">
              <a:avLst/>
            </a:prstGeom>
          </p:spPr>
          <p:txBody>
            <a:bodyPr anchor="ctr" rtlCol="false" tIns="50800" lIns="50800" bIns="50800" rIns="50800"/>
            <a:lstStyle/>
            <a:p>
              <a:pPr algn="ctr">
                <a:lnSpc>
                  <a:spcPts val="2015"/>
                </a:lnSpc>
              </a:pPr>
            </a:p>
          </p:txBody>
        </p:sp>
      </p:grpSp>
      <p:grpSp>
        <p:nvGrpSpPr>
          <p:cNvPr name="Group 12" id="12"/>
          <p:cNvGrpSpPr/>
          <p:nvPr/>
        </p:nvGrpSpPr>
        <p:grpSpPr>
          <a:xfrm rot="0">
            <a:off x="10078610" y="3256012"/>
            <a:ext cx="1154202" cy="804358"/>
            <a:chOff x="0" y="0"/>
            <a:chExt cx="303987" cy="211847"/>
          </a:xfrm>
        </p:grpSpPr>
        <p:sp>
          <p:nvSpPr>
            <p:cNvPr name="Freeform 13" id="13"/>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4" id="14"/>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15" id="15"/>
          <p:cNvSpPr/>
          <p:nvPr/>
        </p:nvSpPr>
        <p:spPr>
          <a:xfrm flipH="false" flipV="false" rot="0">
            <a:off x="1110335" y="4594415"/>
            <a:ext cx="7825305" cy="2522307"/>
          </a:xfrm>
          <a:custGeom>
            <a:avLst/>
            <a:gdLst/>
            <a:ahLst/>
            <a:cxnLst/>
            <a:rect r="r" b="b" t="t" l="l"/>
            <a:pathLst>
              <a:path h="2522307" w="7825305">
                <a:moveTo>
                  <a:pt x="0" y="0"/>
                </a:moveTo>
                <a:lnTo>
                  <a:pt x="7825305" y="0"/>
                </a:lnTo>
                <a:lnTo>
                  <a:pt x="7825305" y="2522308"/>
                </a:lnTo>
                <a:lnTo>
                  <a:pt x="0" y="2522308"/>
                </a:lnTo>
                <a:lnTo>
                  <a:pt x="0" y="0"/>
                </a:lnTo>
                <a:close/>
              </a:path>
            </a:pathLst>
          </a:custGeom>
          <a:blipFill>
            <a:blip r:embed="rId3"/>
            <a:stretch>
              <a:fillRect l="0" t="0" r="0" b="0"/>
            </a:stretch>
          </a:blipFill>
        </p:spPr>
      </p:sp>
      <p:sp>
        <p:nvSpPr>
          <p:cNvPr name="Freeform 16" id="16"/>
          <p:cNvSpPr/>
          <p:nvPr/>
        </p:nvSpPr>
        <p:spPr>
          <a:xfrm flipH="false" flipV="false" rot="0">
            <a:off x="10304484" y="4494129"/>
            <a:ext cx="6760238" cy="5475793"/>
          </a:xfrm>
          <a:custGeom>
            <a:avLst/>
            <a:gdLst/>
            <a:ahLst/>
            <a:cxnLst/>
            <a:rect r="r" b="b" t="t" l="l"/>
            <a:pathLst>
              <a:path h="5475793" w="6760238">
                <a:moveTo>
                  <a:pt x="0" y="0"/>
                </a:moveTo>
                <a:lnTo>
                  <a:pt x="6760238" y="0"/>
                </a:lnTo>
                <a:lnTo>
                  <a:pt x="6760238" y="5475792"/>
                </a:lnTo>
                <a:lnTo>
                  <a:pt x="0" y="5475792"/>
                </a:lnTo>
                <a:lnTo>
                  <a:pt x="0" y="0"/>
                </a:lnTo>
                <a:close/>
              </a:path>
            </a:pathLst>
          </a:custGeom>
          <a:blipFill>
            <a:blip r:embed="rId4"/>
            <a:stretch>
              <a:fillRect l="0" t="0" r="0" b="0"/>
            </a:stretch>
          </a:blipFill>
        </p:spPr>
      </p:sp>
      <p:sp>
        <p:nvSpPr>
          <p:cNvPr name="TextBox 17" id="17"/>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SQL Analysis</a:t>
            </a:r>
          </a:p>
        </p:txBody>
      </p:sp>
      <p:sp>
        <p:nvSpPr>
          <p:cNvPr name="TextBox 18" id="18"/>
          <p:cNvSpPr txBox="true"/>
          <p:nvPr/>
        </p:nvSpPr>
        <p:spPr>
          <a:xfrm rot="0">
            <a:off x="10230573"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06</a:t>
            </a:r>
          </a:p>
        </p:txBody>
      </p:sp>
      <p:sp>
        <p:nvSpPr>
          <p:cNvPr name="TextBox 19" id="19"/>
          <p:cNvSpPr txBox="true"/>
          <p:nvPr/>
        </p:nvSpPr>
        <p:spPr>
          <a:xfrm rot="0">
            <a:off x="11565462" y="3460643"/>
            <a:ext cx="5693838"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Basis Pelanggan Berdasarkan Negara/Kota</a:t>
            </a:r>
          </a:p>
        </p:txBody>
      </p:sp>
      <p:sp>
        <p:nvSpPr>
          <p:cNvPr name="TextBox 20" id="20"/>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05</a:t>
            </a:r>
          </a:p>
        </p:txBody>
      </p:sp>
      <p:sp>
        <p:nvSpPr>
          <p:cNvPr name="TextBox 21" id="21"/>
          <p:cNvSpPr txBox="true"/>
          <p:nvPr/>
        </p:nvSpPr>
        <p:spPr>
          <a:xfrm rot="0">
            <a:off x="2663943" y="3460643"/>
            <a:ext cx="5491679"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Kontribusi Revenue Berdasarkan Rating Film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7253647" cy="7008479"/>
            <a:chOff x="0" y="0"/>
            <a:chExt cx="1910425" cy="1845855"/>
          </a:xfrm>
        </p:grpSpPr>
        <p:sp>
          <p:nvSpPr>
            <p:cNvPr name="Freeform 4" id="4"/>
            <p:cNvSpPr/>
            <p:nvPr/>
          </p:nvSpPr>
          <p:spPr>
            <a:xfrm flipH="false" flipV="false" rot="0">
              <a:off x="0" y="0"/>
              <a:ext cx="1910425" cy="1845855"/>
            </a:xfrm>
            <a:custGeom>
              <a:avLst/>
              <a:gdLst/>
              <a:ahLst/>
              <a:cxnLst/>
              <a:rect r="r" b="b" t="t" l="l"/>
              <a:pathLst>
                <a:path h="1845855" w="1910425">
                  <a:moveTo>
                    <a:pt x="70443" y="0"/>
                  </a:moveTo>
                  <a:lnTo>
                    <a:pt x="1839983" y="0"/>
                  </a:lnTo>
                  <a:cubicBezTo>
                    <a:pt x="1858665" y="0"/>
                    <a:pt x="1876583" y="7422"/>
                    <a:pt x="1889793" y="20632"/>
                  </a:cubicBezTo>
                  <a:cubicBezTo>
                    <a:pt x="1903004" y="33843"/>
                    <a:pt x="1910425" y="51760"/>
                    <a:pt x="1910425" y="70443"/>
                  </a:cubicBezTo>
                  <a:lnTo>
                    <a:pt x="1910425" y="1775412"/>
                  </a:lnTo>
                  <a:cubicBezTo>
                    <a:pt x="1910425" y="1794094"/>
                    <a:pt x="1903004" y="1812012"/>
                    <a:pt x="1889793" y="1825222"/>
                  </a:cubicBezTo>
                  <a:cubicBezTo>
                    <a:pt x="1876583" y="1838433"/>
                    <a:pt x="1858665" y="1845855"/>
                    <a:pt x="1839983" y="1845855"/>
                  </a:cubicBezTo>
                  <a:lnTo>
                    <a:pt x="70443" y="1845855"/>
                  </a:lnTo>
                  <a:cubicBezTo>
                    <a:pt x="51760" y="1845855"/>
                    <a:pt x="33843" y="1838433"/>
                    <a:pt x="20632" y="1825222"/>
                  </a:cubicBezTo>
                  <a:cubicBezTo>
                    <a:pt x="7422" y="1812012"/>
                    <a:pt x="0" y="1794094"/>
                    <a:pt x="0" y="1775412"/>
                  </a:cubicBezTo>
                  <a:lnTo>
                    <a:pt x="0" y="70443"/>
                  </a:lnTo>
                  <a:cubicBezTo>
                    <a:pt x="0" y="51760"/>
                    <a:pt x="7422" y="33843"/>
                    <a:pt x="20632" y="20632"/>
                  </a:cubicBezTo>
                  <a:cubicBezTo>
                    <a:pt x="33843" y="7422"/>
                    <a:pt x="51760" y="0"/>
                    <a:pt x="70443"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1910425" cy="1874430"/>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2015353" y="4341515"/>
            <a:ext cx="5258285" cy="5581744"/>
          </a:xfrm>
          <a:custGeom>
            <a:avLst/>
            <a:gdLst/>
            <a:ahLst/>
            <a:cxnLst/>
            <a:rect r="r" b="b" t="t" l="l"/>
            <a:pathLst>
              <a:path h="5581744" w="5258285">
                <a:moveTo>
                  <a:pt x="0" y="0"/>
                </a:moveTo>
                <a:lnTo>
                  <a:pt x="5258284" y="0"/>
                </a:lnTo>
                <a:lnTo>
                  <a:pt x="5258284" y="5581744"/>
                </a:lnTo>
                <a:lnTo>
                  <a:pt x="0" y="5581744"/>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SQL Analysis</a:t>
            </a:r>
          </a:p>
        </p:txBody>
      </p:sp>
      <p:sp>
        <p:nvSpPr>
          <p:cNvPr name="TextBox 11" id="11"/>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07</a:t>
            </a:r>
          </a:p>
        </p:txBody>
      </p:sp>
      <p:sp>
        <p:nvSpPr>
          <p:cNvPr name="TextBox 12" id="12"/>
          <p:cNvSpPr txBox="true"/>
          <p:nvPr/>
        </p:nvSpPr>
        <p:spPr>
          <a:xfrm rot="0">
            <a:off x="2663943" y="3460643"/>
            <a:ext cx="5491679"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Klasifikasi Customer Berdasarkan Total Spend</a:t>
            </a:r>
          </a:p>
        </p:txBody>
      </p:sp>
      <p:grpSp>
        <p:nvGrpSpPr>
          <p:cNvPr name="Group 13" id="13"/>
          <p:cNvGrpSpPr/>
          <p:nvPr/>
        </p:nvGrpSpPr>
        <p:grpSpPr>
          <a:xfrm rot="0">
            <a:off x="8669972" y="2879643"/>
            <a:ext cx="8414455" cy="7372650"/>
            <a:chOff x="0" y="0"/>
            <a:chExt cx="2216153" cy="1941768"/>
          </a:xfrm>
        </p:grpSpPr>
        <p:sp>
          <p:nvSpPr>
            <p:cNvPr name="Freeform 14" id="14"/>
            <p:cNvSpPr/>
            <p:nvPr/>
          </p:nvSpPr>
          <p:spPr>
            <a:xfrm flipH="false" flipV="false" rot="0">
              <a:off x="0" y="0"/>
              <a:ext cx="2216153" cy="1941768"/>
            </a:xfrm>
            <a:custGeom>
              <a:avLst/>
              <a:gdLst/>
              <a:ahLst/>
              <a:cxnLst/>
              <a:rect r="r" b="b" t="t" l="l"/>
              <a:pathLst>
                <a:path h="1941768" w="2216153">
                  <a:moveTo>
                    <a:pt x="60725" y="0"/>
                  </a:moveTo>
                  <a:lnTo>
                    <a:pt x="2155428" y="0"/>
                  </a:lnTo>
                  <a:cubicBezTo>
                    <a:pt x="2188965" y="0"/>
                    <a:pt x="2216153" y="27187"/>
                    <a:pt x="2216153" y="60725"/>
                  </a:cubicBezTo>
                  <a:lnTo>
                    <a:pt x="2216153" y="1881043"/>
                  </a:lnTo>
                  <a:cubicBezTo>
                    <a:pt x="2216153" y="1914580"/>
                    <a:pt x="2188965" y="1941768"/>
                    <a:pt x="2155428" y="1941768"/>
                  </a:cubicBezTo>
                  <a:lnTo>
                    <a:pt x="60725" y="1941768"/>
                  </a:lnTo>
                  <a:cubicBezTo>
                    <a:pt x="27187" y="1941768"/>
                    <a:pt x="0" y="1914580"/>
                    <a:pt x="0" y="1881043"/>
                  </a:cubicBezTo>
                  <a:lnTo>
                    <a:pt x="0" y="60725"/>
                  </a:lnTo>
                  <a:cubicBezTo>
                    <a:pt x="0" y="27187"/>
                    <a:pt x="27187" y="0"/>
                    <a:pt x="60725" y="0"/>
                  </a:cubicBezTo>
                  <a:close/>
                </a:path>
              </a:pathLst>
            </a:custGeom>
            <a:solidFill>
              <a:srgbClr val="D0D7DD"/>
            </a:solidFill>
            <a:ln w="19050" cap="rnd">
              <a:solidFill>
                <a:srgbClr val="424242"/>
              </a:solidFill>
              <a:prstDash val="solid"/>
              <a:round/>
            </a:ln>
          </p:spPr>
        </p:sp>
        <p:sp>
          <p:nvSpPr>
            <p:cNvPr name="TextBox 15" id="15"/>
            <p:cNvSpPr txBox="true"/>
            <p:nvPr/>
          </p:nvSpPr>
          <p:spPr>
            <a:xfrm>
              <a:off x="0" y="-28575"/>
              <a:ext cx="2216153" cy="1970343"/>
            </a:xfrm>
            <a:prstGeom prst="rect">
              <a:avLst/>
            </a:prstGeom>
          </p:spPr>
          <p:txBody>
            <a:bodyPr anchor="ctr" rtlCol="false" tIns="50800" lIns="50800" bIns="50800" rIns="50800"/>
            <a:lstStyle/>
            <a:p>
              <a:pPr algn="ctr">
                <a:lnSpc>
                  <a:spcPts val="2015"/>
                </a:lnSpc>
              </a:pPr>
            </a:p>
          </p:txBody>
        </p:sp>
      </p:grpSp>
      <p:grpSp>
        <p:nvGrpSpPr>
          <p:cNvPr name="Group 16" id="16"/>
          <p:cNvGrpSpPr/>
          <p:nvPr/>
        </p:nvGrpSpPr>
        <p:grpSpPr>
          <a:xfrm rot="0">
            <a:off x="9033310" y="3073927"/>
            <a:ext cx="1154202" cy="804358"/>
            <a:chOff x="0" y="0"/>
            <a:chExt cx="303987" cy="211847"/>
          </a:xfrm>
        </p:grpSpPr>
        <p:sp>
          <p:nvSpPr>
            <p:cNvPr name="Freeform 17" id="1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8" id="1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19" id="19"/>
          <p:cNvSpPr/>
          <p:nvPr/>
        </p:nvSpPr>
        <p:spPr>
          <a:xfrm flipH="false" flipV="false" rot="0">
            <a:off x="9311423" y="4598030"/>
            <a:ext cx="7131553" cy="5500210"/>
          </a:xfrm>
          <a:custGeom>
            <a:avLst/>
            <a:gdLst/>
            <a:ahLst/>
            <a:cxnLst/>
            <a:rect r="r" b="b" t="t" l="l"/>
            <a:pathLst>
              <a:path h="5500210" w="7131553">
                <a:moveTo>
                  <a:pt x="0" y="0"/>
                </a:moveTo>
                <a:lnTo>
                  <a:pt x="7131553" y="0"/>
                </a:lnTo>
                <a:lnTo>
                  <a:pt x="7131553" y="5500210"/>
                </a:lnTo>
                <a:lnTo>
                  <a:pt x="0" y="5500210"/>
                </a:lnTo>
                <a:lnTo>
                  <a:pt x="0" y="0"/>
                </a:lnTo>
                <a:close/>
              </a:path>
            </a:pathLst>
          </a:custGeom>
          <a:blipFill>
            <a:blip r:embed="rId4"/>
            <a:stretch>
              <a:fillRect l="0" t="0" r="0" b="0"/>
            </a:stretch>
          </a:blipFill>
        </p:spPr>
      </p:sp>
      <p:sp>
        <p:nvSpPr>
          <p:cNvPr name="TextBox 20" id="20"/>
          <p:cNvSpPr txBox="true"/>
          <p:nvPr/>
        </p:nvSpPr>
        <p:spPr>
          <a:xfrm rot="0">
            <a:off x="9185274" y="3302376"/>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08</a:t>
            </a:r>
          </a:p>
        </p:txBody>
      </p:sp>
      <p:sp>
        <p:nvSpPr>
          <p:cNvPr name="TextBox 21" id="21"/>
          <p:cNvSpPr txBox="true"/>
          <p:nvPr/>
        </p:nvSpPr>
        <p:spPr>
          <a:xfrm rot="0">
            <a:off x="10520163" y="3278557"/>
            <a:ext cx="6564264" cy="130949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Hubungan antara "Durasi Keterlambatan Pengembalian" vs "Total Denda yang Dibayar"</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1028700" y="3001246"/>
            <a:ext cx="8632485" cy="4284507"/>
            <a:chOff x="0" y="0"/>
            <a:chExt cx="2273576" cy="1128430"/>
          </a:xfrm>
        </p:grpSpPr>
        <p:sp>
          <p:nvSpPr>
            <p:cNvPr name="Freeform 4" id="4"/>
            <p:cNvSpPr/>
            <p:nvPr/>
          </p:nvSpPr>
          <p:spPr>
            <a:xfrm flipH="false" flipV="false" rot="0">
              <a:off x="0" y="0"/>
              <a:ext cx="2273576" cy="1128430"/>
            </a:xfrm>
            <a:custGeom>
              <a:avLst/>
              <a:gdLst/>
              <a:ahLst/>
              <a:cxnLst/>
              <a:rect r="r" b="b" t="t" l="l"/>
              <a:pathLst>
                <a:path h="1128430" w="2273576">
                  <a:moveTo>
                    <a:pt x="59191" y="0"/>
                  </a:moveTo>
                  <a:lnTo>
                    <a:pt x="2214385" y="0"/>
                  </a:lnTo>
                  <a:cubicBezTo>
                    <a:pt x="2247076" y="0"/>
                    <a:pt x="2273576" y="26501"/>
                    <a:pt x="2273576" y="59191"/>
                  </a:cubicBezTo>
                  <a:lnTo>
                    <a:pt x="2273576" y="1069239"/>
                  </a:lnTo>
                  <a:cubicBezTo>
                    <a:pt x="2273576" y="1084937"/>
                    <a:pt x="2267340" y="1099993"/>
                    <a:pt x="2256240" y="1111093"/>
                  </a:cubicBezTo>
                  <a:cubicBezTo>
                    <a:pt x="2245139" y="1122194"/>
                    <a:pt x="2230084" y="1128430"/>
                    <a:pt x="2214385" y="1128430"/>
                  </a:cubicBezTo>
                  <a:lnTo>
                    <a:pt x="59191" y="1128430"/>
                  </a:lnTo>
                  <a:cubicBezTo>
                    <a:pt x="43493" y="1128430"/>
                    <a:pt x="28437" y="1122194"/>
                    <a:pt x="17337" y="1111093"/>
                  </a:cubicBezTo>
                  <a:cubicBezTo>
                    <a:pt x="6236" y="1099993"/>
                    <a:pt x="0" y="1084937"/>
                    <a:pt x="0" y="1069239"/>
                  </a:cubicBezTo>
                  <a:lnTo>
                    <a:pt x="0" y="59191"/>
                  </a:lnTo>
                  <a:cubicBezTo>
                    <a:pt x="0" y="43493"/>
                    <a:pt x="6236" y="28437"/>
                    <a:pt x="17337" y="17337"/>
                  </a:cubicBezTo>
                  <a:cubicBezTo>
                    <a:pt x="28437" y="6236"/>
                    <a:pt x="43493" y="0"/>
                    <a:pt x="5919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2273576" cy="1157005"/>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303815" y="3195530"/>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1303815" y="4709658"/>
            <a:ext cx="7966910" cy="1757881"/>
          </a:xfrm>
          <a:custGeom>
            <a:avLst/>
            <a:gdLst/>
            <a:ahLst/>
            <a:cxnLst/>
            <a:rect r="r" b="b" t="t" l="l"/>
            <a:pathLst>
              <a:path h="1757881" w="7966910">
                <a:moveTo>
                  <a:pt x="0" y="0"/>
                </a:moveTo>
                <a:lnTo>
                  <a:pt x="7966910" y="0"/>
                </a:lnTo>
                <a:lnTo>
                  <a:pt x="7966910" y="1757880"/>
                </a:lnTo>
                <a:lnTo>
                  <a:pt x="0" y="1757880"/>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SQL Analysis</a:t>
            </a:r>
          </a:p>
        </p:txBody>
      </p:sp>
      <p:sp>
        <p:nvSpPr>
          <p:cNvPr name="TextBox 11" id="11"/>
          <p:cNvSpPr txBox="true"/>
          <p:nvPr/>
        </p:nvSpPr>
        <p:spPr>
          <a:xfrm rot="0">
            <a:off x="1455779" y="3423979"/>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09</a:t>
            </a:r>
          </a:p>
        </p:txBody>
      </p:sp>
      <p:sp>
        <p:nvSpPr>
          <p:cNvPr name="TextBox 12" id="12"/>
          <p:cNvSpPr txBox="true"/>
          <p:nvPr/>
        </p:nvSpPr>
        <p:spPr>
          <a:xfrm rot="0">
            <a:off x="2790668" y="3400161"/>
            <a:ext cx="6204652" cy="130949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Performa Staf Berdasarkan Total Pendapatan</a:t>
            </a:r>
          </a:p>
          <a:p>
            <a:pPr algn="l">
              <a:lnSpc>
                <a:spcPts val="3383"/>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15966518" cy="7050197"/>
            <a:chOff x="0" y="0"/>
            <a:chExt cx="4205173" cy="1856842"/>
          </a:xfrm>
        </p:grpSpPr>
        <p:sp>
          <p:nvSpPr>
            <p:cNvPr name="Freeform 4" id="4"/>
            <p:cNvSpPr/>
            <p:nvPr/>
          </p:nvSpPr>
          <p:spPr>
            <a:xfrm flipH="false" flipV="false" rot="0">
              <a:off x="0" y="0"/>
              <a:ext cx="4205174" cy="1856842"/>
            </a:xfrm>
            <a:custGeom>
              <a:avLst/>
              <a:gdLst/>
              <a:ahLst/>
              <a:cxnLst/>
              <a:rect r="r" b="b" t="t" l="l"/>
              <a:pathLst>
                <a:path h="1856842" w="4205174">
                  <a:moveTo>
                    <a:pt x="32002" y="0"/>
                  </a:moveTo>
                  <a:lnTo>
                    <a:pt x="4173171" y="0"/>
                  </a:lnTo>
                  <a:cubicBezTo>
                    <a:pt x="4190846" y="0"/>
                    <a:pt x="4205174" y="14328"/>
                    <a:pt x="4205174" y="32002"/>
                  </a:cubicBezTo>
                  <a:lnTo>
                    <a:pt x="4205174" y="1824840"/>
                  </a:lnTo>
                  <a:cubicBezTo>
                    <a:pt x="4205174" y="1842514"/>
                    <a:pt x="4190846" y="1856842"/>
                    <a:pt x="4173171" y="1856842"/>
                  </a:cubicBezTo>
                  <a:lnTo>
                    <a:pt x="32002" y="1856842"/>
                  </a:lnTo>
                  <a:cubicBezTo>
                    <a:pt x="14328" y="1856842"/>
                    <a:pt x="0" y="1842514"/>
                    <a:pt x="0" y="1824840"/>
                  </a:cubicBezTo>
                  <a:lnTo>
                    <a:pt x="0" y="32002"/>
                  </a:lnTo>
                  <a:cubicBezTo>
                    <a:pt x="0" y="14328"/>
                    <a:pt x="14328" y="0"/>
                    <a:pt x="32002"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4205173" cy="1885417"/>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2927783" y="4060370"/>
            <a:ext cx="11914901" cy="5912770"/>
          </a:xfrm>
          <a:custGeom>
            <a:avLst/>
            <a:gdLst/>
            <a:ahLst/>
            <a:cxnLst/>
            <a:rect r="r" b="b" t="t" l="l"/>
            <a:pathLst>
              <a:path h="5912770" w="11914901">
                <a:moveTo>
                  <a:pt x="0" y="0"/>
                </a:moveTo>
                <a:lnTo>
                  <a:pt x="11914902" y="0"/>
                </a:lnTo>
                <a:lnTo>
                  <a:pt x="11914902" y="5912770"/>
                </a:lnTo>
                <a:lnTo>
                  <a:pt x="0" y="5912770"/>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Python &amp; EDA</a:t>
            </a:r>
          </a:p>
        </p:txBody>
      </p:sp>
      <p:sp>
        <p:nvSpPr>
          <p:cNvPr name="TextBox 11" id="11"/>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01</a:t>
            </a:r>
          </a:p>
        </p:txBody>
      </p:sp>
      <p:sp>
        <p:nvSpPr>
          <p:cNvPr name="TextBox 12" id="12"/>
          <p:cNvSpPr txBox="true"/>
          <p:nvPr/>
        </p:nvSpPr>
        <p:spPr>
          <a:xfrm rot="0">
            <a:off x="2663943" y="3460643"/>
            <a:ext cx="13818348"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Tren Pendapatan Bulanan (Multi Line Chart-Seaborn)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15966518" cy="7050197"/>
            <a:chOff x="0" y="0"/>
            <a:chExt cx="4205173" cy="1856842"/>
          </a:xfrm>
        </p:grpSpPr>
        <p:sp>
          <p:nvSpPr>
            <p:cNvPr name="Freeform 4" id="4"/>
            <p:cNvSpPr/>
            <p:nvPr/>
          </p:nvSpPr>
          <p:spPr>
            <a:xfrm flipH="false" flipV="false" rot="0">
              <a:off x="0" y="0"/>
              <a:ext cx="4205174" cy="1856842"/>
            </a:xfrm>
            <a:custGeom>
              <a:avLst/>
              <a:gdLst/>
              <a:ahLst/>
              <a:cxnLst/>
              <a:rect r="r" b="b" t="t" l="l"/>
              <a:pathLst>
                <a:path h="1856842" w="4205174">
                  <a:moveTo>
                    <a:pt x="32002" y="0"/>
                  </a:moveTo>
                  <a:lnTo>
                    <a:pt x="4173171" y="0"/>
                  </a:lnTo>
                  <a:cubicBezTo>
                    <a:pt x="4190846" y="0"/>
                    <a:pt x="4205174" y="14328"/>
                    <a:pt x="4205174" y="32002"/>
                  </a:cubicBezTo>
                  <a:lnTo>
                    <a:pt x="4205174" y="1824840"/>
                  </a:lnTo>
                  <a:cubicBezTo>
                    <a:pt x="4205174" y="1842514"/>
                    <a:pt x="4190846" y="1856842"/>
                    <a:pt x="4173171" y="1856842"/>
                  </a:cubicBezTo>
                  <a:lnTo>
                    <a:pt x="32002" y="1856842"/>
                  </a:lnTo>
                  <a:cubicBezTo>
                    <a:pt x="14328" y="1856842"/>
                    <a:pt x="0" y="1842514"/>
                    <a:pt x="0" y="1824840"/>
                  </a:cubicBezTo>
                  <a:lnTo>
                    <a:pt x="0" y="32002"/>
                  </a:lnTo>
                  <a:cubicBezTo>
                    <a:pt x="0" y="14328"/>
                    <a:pt x="14328" y="0"/>
                    <a:pt x="32002"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4205173" cy="1885417"/>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5059537" y="3936709"/>
            <a:ext cx="7651394" cy="6035037"/>
          </a:xfrm>
          <a:custGeom>
            <a:avLst/>
            <a:gdLst/>
            <a:ahLst/>
            <a:cxnLst/>
            <a:rect r="r" b="b" t="t" l="l"/>
            <a:pathLst>
              <a:path h="6035037" w="7651394">
                <a:moveTo>
                  <a:pt x="0" y="0"/>
                </a:moveTo>
                <a:lnTo>
                  <a:pt x="7651394" y="0"/>
                </a:lnTo>
                <a:lnTo>
                  <a:pt x="7651394" y="6035037"/>
                </a:lnTo>
                <a:lnTo>
                  <a:pt x="0" y="6035037"/>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Python &amp; EDA</a:t>
            </a:r>
          </a:p>
        </p:txBody>
      </p:sp>
      <p:sp>
        <p:nvSpPr>
          <p:cNvPr name="TextBox 11" id="11"/>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02</a:t>
            </a:r>
          </a:p>
        </p:txBody>
      </p:sp>
      <p:sp>
        <p:nvSpPr>
          <p:cNvPr name="TextBox 12" id="12"/>
          <p:cNvSpPr txBox="true"/>
          <p:nvPr/>
        </p:nvSpPr>
        <p:spPr>
          <a:xfrm rot="0">
            <a:off x="2663943" y="3460643"/>
            <a:ext cx="13818348"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Performa Penjualan Setiap Toko (Boxplot-Matplotlib)</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15966518" cy="7050197"/>
            <a:chOff x="0" y="0"/>
            <a:chExt cx="4205173" cy="1856842"/>
          </a:xfrm>
        </p:grpSpPr>
        <p:sp>
          <p:nvSpPr>
            <p:cNvPr name="Freeform 4" id="4"/>
            <p:cNvSpPr/>
            <p:nvPr/>
          </p:nvSpPr>
          <p:spPr>
            <a:xfrm flipH="false" flipV="false" rot="0">
              <a:off x="0" y="0"/>
              <a:ext cx="4205174" cy="1856842"/>
            </a:xfrm>
            <a:custGeom>
              <a:avLst/>
              <a:gdLst/>
              <a:ahLst/>
              <a:cxnLst/>
              <a:rect r="r" b="b" t="t" l="l"/>
              <a:pathLst>
                <a:path h="1856842" w="4205174">
                  <a:moveTo>
                    <a:pt x="32002" y="0"/>
                  </a:moveTo>
                  <a:lnTo>
                    <a:pt x="4173171" y="0"/>
                  </a:lnTo>
                  <a:cubicBezTo>
                    <a:pt x="4190846" y="0"/>
                    <a:pt x="4205174" y="14328"/>
                    <a:pt x="4205174" y="32002"/>
                  </a:cubicBezTo>
                  <a:lnTo>
                    <a:pt x="4205174" y="1824840"/>
                  </a:lnTo>
                  <a:cubicBezTo>
                    <a:pt x="4205174" y="1842514"/>
                    <a:pt x="4190846" y="1856842"/>
                    <a:pt x="4173171" y="1856842"/>
                  </a:cubicBezTo>
                  <a:lnTo>
                    <a:pt x="32002" y="1856842"/>
                  </a:lnTo>
                  <a:cubicBezTo>
                    <a:pt x="14328" y="1856842"/>
                    <a:pt x="0" y="1842514"/>
                    <a:pt x="0" y="1824840"/>
                  </a:cubicBezTo>
                  <a:lnTo>
                    <a:pt x="0" y="32002"/>
                  </a:lnTo>
                  <a:cubicBezTo>
                    <a:pt x="0" y="14328"/>
                    <a:pt x="14328" y="0"/>
                    <a:pt x="32002"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4205173" cy="1885417"/>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3636004" y="3936709"/>
            <a:ext cx="10498459" cy="6062860"/>
          </a:xfrm>
          <a:custGeom>
            <a:avLst/>
            <a:gdLst/>
            <a:ahLst/>
            <a:cxnLst/>
            <a:rect r="r" b="b" t="t" l="l"/>
            <a:pathLst>
              <a:path h="6062860" w="10498459">
                <a:moveTo>
                  <a:pt x="0" y="0"/>
                </a:moveTo>
                <a:lnTo>
                  <a:pt x="10498459" y="0"/>
                </a:lnTo>
                <a:lnTo>
                  <a:pt x="10498459" y="6062860"/>
                </a:lnTo>
                <a:lnTo>
                  <a:pt x="0" y="6062860"/>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Python &amp; EDA</a:t>
            </a:r>
          </a:p>
        </p:txBody>
      </p:sp>
      <p:sp>
        <p:nvSpPr>
          <p:cNvPr name="TextBox 11" id="11"/>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03</a:t>
            </a:r>
          </a:p>
        </p:txBody>
      </p:sp>
      <p:sp>
        <p:nvSpPr>
          <p:cNvPr name="TextBox 12" id="12"/>
          <p:cNvSpPr txBox="true"/>
          <p:nvPr/>
        </p:nvSpPr>
        <p:spPr>
          <a:xfrm rot="0">
            <a:off x="2663943" y="3460643"/>
            <a:ext cx="13818348"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Total Pendapatan per Genre (Horizontal Bar Chart-Matplotlib)</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15966518" cy="7050197"/>
            <a:chOff x="0" y="0"/>
            <a:chExt cx="4205173" cy="1856842"/>
          </a:xfrm>
        </p:grpSpPr>
        <p:sp>
          <p:nvSpPr>
            <p:cNvPr name="Freeform 4" id="4"/>
            <p:cNvSpPr/>
            <p:nvPr/>
          </p:nvSpPr>
          <p:spPr>
            <a:xfrm flipH="false" flipV="false" rot="0">
              <a:off x="0" y="0"/>
              <a:ext cx="4205174" cy="1856842"/>
            </a:xfrm>
            <a:custGeom>
              <a:avLst/>
              <a:gdLst/>
              <a:ahLst/>
              <a:cxnLst/>
              <a:rect r="r" b="b" t="t" l="l"/>
              <a:pathLst>
                <a:path h="1856842" w="4205174">
                  <a:moveTo>
                    <a:pt x="32002" y="0"/>
                  </a:moveTo>
                  <a:lnTo>
                    <a:pt x="4173171" y="0"/>
                  </a:lnTo>
                  <a:cubicBezTo>
                    <a:pt x="4190846" y="0"/>
                    <a:pt x="4205174" y="14328"/>
                    <a:pt x="4205174" y="32002"/>
                  </a:cubicBezTo>
                  <a:lnTo>
                    <a:pt x="4205174" y="1824840"/>
                  </a:lnTo>
                  <a:cubicBezTo>
                    <a:pt x="4205174" y="1842514"/>
                    <a:pt x="4190846" y="1856842"/>
                    <a:pt x="4173171" y="1856842"/>
                  </a:cubicBezTo>
                  <a:lnTo>
                    <a:pt x="32002" y="1856842"/>
                  </a:lnTo>
                  <a:cubicBezTo>
                    <a:pt x="14328" y="1856842"/>
                    <a:pt x="0" y="1842514"/>
                    <a:pt x="0" y="1824840"/>
                  </a:cubicBezTo>
                  <a:lnTo>
                    <a:pt x="0" y="32002"/>
                  </a:lnTo>
                  <a:cubicBezTo>
                    <a:pt x="0" y="14328"/>
                    <a:pt x="14328" y="0"/>
                    <a:pt x="32002"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4205173" cy="1885417"/>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2952238" y="4060370"/>
            <a:ext cx="11865991" cy="5873665"/>
          </a:xfrm>
          <a:custGeom>
            <a:avLst/>
            <a:gdLst/>
            <a:ahLst/>
            <a:cxnLst/>
            <a:rect r="r" b="b" t="t" l="l"/>
            <a:pathLst>
              <a:path h="5873665" w="11865991">
                <a:moveTo>
                  <a:pt x="0" y="0"/>
                </a:moveTo>
                <a:lnTo>
                  <a:pt x="11865991" y="0"/>
                </a:lnTo>
                <a:lnTo>
                  <a:pt x="11865991" y="5873665"/>
                </a:lnTo>
                <a:lnTo>
                  <a:pt x="0" y="5873665"/>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Python &amp; EDA</a:t>
            </a:r>
          </a:p>
        </p:txBody>
      </p:sp>
      <p:sp>
        <p:nvSpPr>
          <p:cNvPr name="TextBox 11" id="11"/>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04</a:t>
            </a:r>
          </a:p>
        </p:txBody>
      </p:sp>
      <p:sp>
        <p:nvSpPr>
          <p:cNvPr name="TextBox 12" id="12"/>
          <p:cNvSpPr txBox="true"/>
          <p:nvPr/>
        </p:nvSpPr>
        <p:spPr>
          <a:xfrm rot="0">
            <a:off x="2663943" y="3460643"/>
            <a:ext cx="13818348"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Durasi Rental Berdasarkan Rating Film (Boxplot-Seaborn)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15966518" cy="7050197"/>
            <a:chOff x="0" y="0"/>
            <a:chExt cx="4205173" cy="1856842"/>
          </a:xfrm>
        </p:grpSpPr>
        <p:sp>
          <p:nvSpPr>
            <p:cNvPr name="Freeform 4" id="4"/>
            <p:cNvSpPr/>
            <p:nvPr/>
          </p:nvSpPr>
          <p:spPr>
            <a:xfrm flipH="false" flipV="false" rot="0">
              <a:off x="0" y="0"/>
              <a:ext cx="4205174" cy="1856842"/>
            </a:xfrm>
            <a:custGeom>
              <a:avLst/>
              <a:gdLst/>
              <a:ahLst/>
              <a:cxnLst/>
              <a:rect r="r" b="b" t="t" l="l"/>
              <a:pathLst>
                <a:path h="1856842" w="4205174">
                  <a:moveTo>
                    <a:pt x="32002" y="0"/>
                  </a:moveTo>
                  <a:lnTo>
                    <a:pt x="4173171" y="0"/>
                  </a:lnTo>
                  <a:cubicBezTo>
                    <a:pt x="4190846" y="0"/>
                    <a:pt x="4205174" y="14328"/>
                    <a:pt x="4205174" y="32002"/>
                  </a:cubicBezTo>
                  <a:lnTo>
                    <a:pt x="4205174" y="1824840"/>
                  </a:lnTo>
                  <a:cubicBezTo>
                    <a:pt x="4205174" y="1842514"/>
                    <a:pt x="4190846" y="1856842"/>
                    <a:pt x="4173171" y="1856842"/>
                  </a:cubicBezTo>
                  <a:lnTo>
                    <a:pt x="32002" y="1856842"/>
                  </a:lnTo>
                  <a:cubicBezTo>
                    <a:pt x="14328" y="1856842"/>
                    <a:pt x="0" y="1842514"/>
                    <a:pt x="0" y="1824840"/>
                  </a:cubicBezTo>
                  <a:lnTo>
                    <a:pt x="0" y="32002"/>
                  </a:lnTo>
                  <a:cubicBezTo>
                    <a:pt x="0" y="14328"/>
                    <a:pt x="14328" y="0"/>
                    <a:pt x="32002"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4205173" cy="1885417"/>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6160331" y="3936709"/>
            <a:ext cx="5967339" cy="6035235"/>
          </a:xfrm>
          <a:custGeom>
            <a:avLst/>
            <a:gdLst/>
            <a:ahLst/>
            <a:cxnLst/>
            <a:rect r="r" b="b" t="t" l="l"/>
            <a:pathLst>
              <a:path h="6035235" w="5967339">
                <a:moveTo>
                  <a:pt x="0" y="0"/>
                </a:moveTo>
                <a:lnTo>
                  <a:pt x="5967338" y="0"/>
                </a:lnTo>
                <a:lnTo>
                  <a:pt x="5967338" y="6035235"/>
                </a:lnTo>
                <a:lnTo>
                  <a:pt x="0" y="6035235"/>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Python &amp; EDA</a:t>
            </a:r>
          </a:p>
        </p:txBody>
      </p:sp>
      <p:sp>
        <p:nvSpPr>
          <p:cNvPr name="TextBox 11" id="11"/>
          <p:cNvSpPr txBox="true"/>
          <p:nvPr/>
        </p:nvSpPr>
        <p:spPr>
          <a:xfrm rot="0">
            <a:off x="1316790" y="3484462"/>
            <a:ext cx="874803"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05</a:t>
            </a:r>
          </a:p>
        </p:txBody>
      </p:sp>
      <p:sp>
        <p:nvSpPr>
          <p:cNvPr name="TextBox 12" id="12"/>
          <p:cNvSpPr txBox="true"/>
          <p:nvPr/>
        </p:nvSpPr>
        <p:spPr>
          <a:xfrm rot="0">
            <a:off x="2663943" y="3460643"/>
            <a:ext cx="13818348"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Kontribusi Revenue Berdasarkan Rating Film (Pie Chart-Matplotlib)</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15966518" cy="7050197"/>
            <a:chOff x="0" y="0"/>
            <a:chExt cx="4205173" cy="1856842"/>
          </a:xfrm>
        </p:grpSpPr>
        <p:sp>
          <p:nvSpPr>
            <p:cNvPr name="Freeform 4" id="4"/>
            <p:cNvSpPr/>
            <p:nvPr/>
          </p:nvSpPr>
          <p:spPr>
            <a:xfrm flipH="false" flipV="false" rot="0">
              <a:off x="0" y="0"/>
              <a:ext cx="4205174" cy="1856842"/>
            </a:xfrm>
            <a:custGeom>
              <a:avLst/>
              <a:gdLst/>
              <a:ahLst/>
              <a:cxnLst/>
              <a:rect r="r" b="b" t="t" l="l"/>
              <a:pathLst>
                <a:path h="1856842" w="4205174">
                  <a:moveTo>
                    <a:pt x="32002" y="0"/>
                  </a:moveTo>
                  <a:lnTo>
                    <a:pt x="4173171" y="0"/>
                  </a:lnTo>
                  <a:cubicBezTo>
                    <a:pt x="4190846" y="0"/>
                    <a:pt x="4205174" y="14328"/>
                    <a:pt x="4205174" y="32002"/>
                  </a:cubicBezTo>
                  <a:lnTo>
                    <a:pt x="4205174" y="1824840"/>
                  </a:lnTo>
                  <a:cubicBezTo>
                    <a:pt x="4205174" y="1842514"/>
                    <a:pt x="4190846" y="1856842"/>
                    <a:pt x="4173171" y="1856842"/>
                  </a:cubicBezTo>
                  <a:lnTo>
                    <a:pt x="32002" y="1856842"/>
                  </a:lnTo>
                  <a:cubicBezTo>
                    <a:pt x="14328" y="1856842"/>
                    <a:pt x="0" y="1842514"/>
                    <a:pt x="0" y="1824840"/>
                  </a:cubicBezTo>
                  <a:lnTo>
                    <a:pt x="0" y="32002"/>
                  </a:lnTo>
                  <a:cubicBezTo>
                    <a:pt x="0" y="14328"/>
                    <a:pt x="14328" y="0"/>
                    <a:pt x="32002"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4205173" cy="1885417"/>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4817588" y="3936709"/>
            <a:ext cx="8135293" cy="6091300"/>
          </a:xfrm>
          <a:custGeom>
            <a:avLst/>
            <a:gdLst/>
            <a:ahLst/>
            <a:cxnLst/>
            <a:rect r="r" b="b" t="t" l="l"/>
            <a:pathLst>
              <a:path h="6091300" w="8135293">
                <a:moveTo>
                  <a:pt x="0" y="0"/>
                </a:moveTo>
                <a:lnTo>
                  <a:pt x="8135292" y="0"/>
                </a:lnTo>
                <a:lnTo>
                  <a:pt x="8135292" y="6091300"/>
                </a:lnTo>
                <a:lnTo>
                  <a:pt x="0" y="6091300"/>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Python &amp; EDA</a:t>
            </a:r>
          </a:p>
        </p:txBody>
      </p:sp>
      <p:sp>
        <p:nvSpPr>
          <p:cNvPr name="TextBox 11" id="11"/>
          <p:cNvSpPr txBox="true"/>
          <p:nvPr/>
        </p:nvSpPr>
        <p:spPr>
          <a:xfrm rot="0">
            <a:off x="1315178" y="3460643"/>
            <a:ext cx="878027"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06</a:t>
            </a:r>
          </a:p>
        </p:txBody>
      </p:sp>
      <p:sp>
        <p:nvSpPr>
          <p:cNvPr name="TextBox 12" id="12"/>
          <p:cNvSpPr txBox="true"/>
          <p:nvPr/>
        </p:nvSpPr>
        <p:spPr>
          <a:xfrm rot="0">
            <a:off x="2663943" y="3460643"/>
            <a:ext cx="13818348"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Basis Pelanggan Berdasarkan Negara/Kota (Bar Chart-Seaborn)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16357325" cy="7050197"/>
            <a:chOff x="0" y="0"/>
            <a:chExt cx="4308102" cy="1856842"/>
          </a:xfrm>
        </p:grpSpPr>
        <p:sp>
          <p:nvSpPr>
            <p:cNvPr name="Freeform 4" id="4"/>
            <p:cNvSpPr/>
            <p:nvPr/>
          </p:nvSpPr>
          <p:spPr>
            <a:xfrm flipH="false" flipV="false" rot="0">
              <a:off x="0" y="0"/>
              <a:ext cx="4308102" cy="1856842"/>
            </a:xfrm>
            <a:custGeom>
              <a:avLst/>
              <a:gdLst/>
              <a:ahLst/>
              <a:cxnLst/>
              <a:rect r="r" b="b" t="t" l="l"/>
              <a:pathLst>
                <a:path h="1856842" w="4308102">
                  <a:moveTo>
                    <a:pt x="31238" y="0"/>
                  </a:moveTo>
                  <a:lnTo>
                    <a:pt x="4276865" y="0"/>
                  </a:lnTo>
                  <a:cubicBezTo>
                    <a:pt x="4285149" y="0"/>
                    <a:pt x="4293095" y="3291"/>
                    <a:pt x="4298953" y="9149"/>
                  </a:cubicBezTo>
                  <a:cubicBezTo>
                    <a:pt x="4304811" y="15008"/>
                    <a:pt x="4308102" y="22953"/>
                    <a:pt x="4308102" y="31238"/>
                  </a:cubicBezTo>
                  <a:lnTo>
                    <a:pt x="4308102" y="1825604"/>
                  </a:lnTo>
                  <a:cubicBezTo>
                    <a:pt x="4308102" y="1833889"/>
                    <a:pt x="4304811" y="1841834"/>
                    <a:pt x="4298953" y="1847693"/>
                  </a:cubicBezTo>
                  <a:cubicBezTo>
                    <a:pt x="4293095" y="1853551"/>
                    <a:pt x="4285149" y="1856842"/>
                    <a:pt x="4276865" y="1856842"/>
                  </a:cubicBezTo>
                  <a:lnTo>
                    <a:pt x="31238" y="1856842"/>
                  </a:lnTo>
                  <a:cubicBezTo>
                    <a:pt x="22953" y="1856842"/>
                    <a:pt x="15008" y="1853551"/>
                    <a:pt x="9149" y="1847693"/>
                  </a:cubicBezTo>
                  <a:cubicBezTo>
                    <a:pt x="3291" y="1841834"/>
                    <a:pt x="0" y="1833889"/>
                    <a:pt x="0" y="1825604"/>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4308102" cy="1885417"/>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2388245" y="3936709"/>
            <a:ext cx="13511509" cy="6046400"/>
          </a:xfrm>
          <a:custGeom>
            <a:avLst/>
            <a:gdLst/>
            <a:ahLst/>
            <a:cxnLst/>
            <a:rect r="r" b="b" t="t" l="l"/>
            <a:pathLst>
              <a:path h="6046400" w="13511509">
                <a:moveTo>
                  <a:pt x="0" y="0"/>
                </a:moveTo>
                <a:lnTo>
                  <a:pt x="13511510" y="0"/>
                </a:lnTo>
                <a:lnTo>
                  <a:pt x="13511510" y="6046400"/>
                </a:lnTo>
                <a:lnTo>
                  <a:pt x="0" y="6046400"/>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Python &amp; EDA</a:t>
            </a:r>
          </a:p>
        </p:txBody>
      </p:sp>
      <p:sp>
        <p:nvSpPr>
          <p:cNvPr name="TextBox 11" id="11"/>
          <p:cNvSpPr txBox="true"/>
          <p:nvPr/>
        </p:nvSpPr>
        <p:spPr>
          <a:xfrm rot="0">
            <a:off x="1328547" y="3484462"/>
            <a:ext cx="851288"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07</a:t>
            </a:r>
          </a:p>
        </p:txBody>
      </p:sp>
      <p:sp>
        <p:nvSpPr>
          <p:cNvPr name="TextBox 12" id="12"/>
          <p:cNvSpPr txBox="true"/>
          <p:nvPr/>
        </p:nvSpPr>
        <p:spPr>
          <a:xfrm rot="0">
            <a:off x="2663943" y="3460643"/>
            <a:ext cx="1459535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Klasifikasi Customer Berdasarkan Total Spend (Countplot-Seaborn)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16357325" cy="7050197"/>
            <a:chOff x="0" y="0"/>
            <a:chExt cx="4308102" cy="1856842"/>
          </a:xfrm>
        </p:grpSpPr>
        <p:sp>
          <p:nvSpPr>
            <p:cNvPr name="Freeform 4" id="4"/>
            <p:cNvSpPr/>
            <p:nvPr/>
          </p:nvSpPr>
          <p:spPr>
            <a:xfrm flipH="false" flipV="false" rot="0">
              <a:off x="0" y="0"/>
              <a:ext cx="4308102" cy="1856842"/>
            </a:xfrm>
            <a:custGeom>
              <a:avLst/>
              <a:gdLst/>
              <a:ahLst/>
              <a:cxnLst/>
              <a:rect r="r" b="b" t="t" l="l"/>
              <a:pathLst>
                <a:path h="1856842" w="4308102">
                  <a:moveTo>
                    <a:pt x="31238" y="0"/>
                  </a:moveTo>
                  <a:lnTo>
                    <a:pt x="4276865" y="0"/>
                  </a:lnTo>
                  <a:cubicBezTo>
                    <a:pt x="4285149" y="0"/>
                    <a:pt x="4293095" y="3291"/>
                    <a:pt x="4298953" y="9149"/>
                  </a:cubicBezTo>
                  <a:cubicBezTo>
                    <a:pt x="4304811" y="15008"/>
                    <a:pt x="4308102" y="22953"/>
                    <a:pt x="4308102" y="31238"/>
                  </a:cubicBezTo>
                  <a:lnTo>
                    <a:pt x="4308102" y="1825604"/>
                  </a:lnTo>
                  <a:cubicBezTo>
                    <a:pt x="4308102" y="1833889"/>
                    <a:pt x="4304811" y="1841834"/>
                    <a:pt x="4298953" y="1847693"/>
                  </a:cubicBezTo>
                  <a:cubicBezTo>
                    <a:pt x="4293095" y="1853551"/>
                    <a:pt x="4285149" y="1856842"/>
                    <a:pt x="4276865" y="1856842"/>
                  </a:cubicBezTo>
                  <a:lnTo>
                    <a:pt x="31238" y="1856842"/>
                  </a:lnTo>
                  <a:cubicBezTo>
                    <a:pt x="22953" y="1856842"/>
                    <a:pt x="15008" y="1853551"/>
                    <a:pt x="9149" y="1847693"/>
                  </a:cubicBezTo>
                  <a:cubicBezTo>
                    <a:pt x="3291" y="1841834"/>
                    <a:pt x="0" y="1833889"/>
                    <a:pt x="0" y="1825604"/>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4308102" cy="1885417"/>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4366516" y="4341515"/>
            <a:ext cx="9554968" cy="5697150"/>
          </a:xfrm>
          <a:custGeom>
            <a:avLst/>
            <a:gdLst/>
            <a:ahLst/>
            <a:cxnLst/>
            <a:rect r="r" b="b" t="t" l="l"/>
            <a:pathLst>
              <a:path h="5697150" w="9554968">
                <a:moveTo>
                  <a:pt x="0" y="0"/>
                </a:moveTo>
                <a:lnTo>
                  <a:pt x="9554968" y="0"/>
                </a:lnTo>
                <a:lnTo>
                  <a:pt x="9554968" y="5697149"/>
                </a:lnTo>
                <a:lnTo>
                  <a:pt x="0" y="5697149"/>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Python &amp; EDA</a:t>
            </a:r>
          </a:p>
        </p:txBody>
      </p:sp>
      <p:sp>
        <p:nvSpPr>
          <p:cNvPr name="TextBox 11" id="11"/>
          <p:cNvSpPr txBox="true"/>
          <p:nvPr/>
        </p:nvSpPr>
        <p:spPr>
          <a:xfrm rot="0">
            <a:off x="1314607" y="3479693"/>
            <a:ext cx="879168"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08</a:t>
            </a:r>
          </a:p>
        </p:txBody>
      </p:sp>
      <p:sp>
        <p:nvSpPr>
          <p:cNvPr name="TextBox 12" id="12"/>
          <p:cNvSpPr txBox="true"/>
          <p:nvPr/>
        </p:nvSpPr>
        <p:spPr>
          <a:xfrm rot="0">
            <a:off x="2663943" y="3460643"/>
            <a:ext cx="14595357"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Hubungan antara "Durasi Keterlambatan Pengembalian" vs "Total Denda yang Dibayar" (Scatter Plot-Matplotlib)</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grpSp>
        <p:nvGrpSpPr>
          <p:cNvPr name="Group 3" id="3"/>
          <p:cNvGrpSpPr/>
          <p:nvPr/>
        </p:nvGrpSpPr>
        <p:grpSpPr>
          <a:xfrm rot="0">
            <a:off x="901975" y="3061729"/>
            <a:ext cx="16357325" cy="7050197"/>
            <a:chOff x="0" y="0"/>
            <a:chExt cx="4308102" cy="1856842"/>
          </a:xfrm>
        </p:grpSpPr>
        <p:sp>
          <p:nvSpPr>
            <p:cNvPr name="Freeform 4" id="4"/>
            <p:cNvSpPr/>
            <p:nvPr/>
          </p:nvSpPr>
          <p:spPr>
            <a:xfrm flipH="false" flipV="false" rot="0">
              <a:off x="0" y="0"/>
              <a:ext cx="4308102" cy="1856842"/>
            </a:xfrm>
            <a:custGeom>
              <a:avLst/>
              <a:gdLst/>
              <a:ahLst/>
              <a:cxnLst/>
              <a:rect r="r" b="b" t="t" l="l"/>
              <a:pathLst>
                <a:path h="1856842" w="4308102">
                  <a:moveTo>
                    <a:pt x="31238" y="0"/>
                  </a:moveTo>
                  <a:lnTo>
                    <a:pt x="4276865" y="0"/>
                  </a:lnTo>
                  <a:cubicBezTo>
                    <a:pt x="4285149" y="0"/>
                    <a:pt x="4293095" y="3291"/>
                    <a:pt x="4298953" y="9149"/>
                  </a:cubicBezTo>
                  <a:cubicBezTo>
                    <a:pt x="4304811" y="15008"/>
                    <a:pt x="4308102" y="22953"/>
                    <a:pt x="4308102" y="31238"/>
                  </a:cubicBezTo>
                  <a:lnTo>
                    <a:pt x="4308102" y="1825604"/>
                  </a:lnTo>
                  <a:cubicBezTo>
                    <a:pt x="4308102" y="1833889"/>
                    <a:pt x="4304811" y="1841834"/>
                    <a:pt x="4298953" y="1847693"/>
                  </a:cubicBezTo>
                  <a:cubicBezTo>
                    <a:pt x="4293095" y="1853551"/>
                    <a:pt x="4285149" y="1856842"/>
                    <a:pt x="4276865" y="1856842"/>
                  </a:cubicBezTo>
                  <a:lnTo>
                    <a:pt x="31238" y="1856842"/>
                  </a:lnTo>
                  <a:cubicBezTo>
                    <a:pt x="22953" y="1856842"/>
                    <a:pt x="15008" y="1853551"/>
                    <a:pt x="9149" y="1847693"/>
                  </a:cubicBezTo>
                  <a:cubicBezTo>
                    <a:pt x="3291" y="1841834"/>
                    <a:pt x="0" y="1833889"/>
                    <a:pt x="0" y="1825604"/>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5" id="5"/>
            <p:cNvSpPr txBox="true"/>
            <p:nvPr/>
          </p:nvSpPr>
          <p:spPr>
            <a:xfrm>
              <a:off x="0" y="-28575"/>
              <a:ext cx="4308102" cy="1885417"/>
            </a:xfrm>
            <a:prstGeom prst="rect">
              <a:avLst/>
            </a:prstGeom>
          </p:spPr>
          <p:txBody>
            <a:bodyPr anchor="ctr" rtlCol="false" tIns="50800" lIns="50800" bIns="50800" rIns="50800"/>
            <a:lstStyle/>
            <a:p>
              <a:pPr algn="ctr">
                <a:lnSpc>
                  <a:spcPts val="2015"/>
                </a:lnSpc>
              </a:pPr>
            </a:p>
          </p:txBody>
        </p:sp>
      </p:grpSp>
      <p:grpSp>
        <p:nvGrpSpPr>
          <p:cNvPr name="Group 6" id="6"/>
          <p:cNvGrpSpPr/>
          <p:nvPr/>
        </p:nvGrpSpPr>
        <p:grpSpPr>
          <a:xfrm rot="0">
            <a:off x="1177090" y="3256012"/>
            <a:ext cx="1154202" cy="804358"/>
            <a:chOff x="0" y="0"/>
            <a:chExt cx="303987" cy="211847"/>
          </a:xfrm>
        </p:grpSpPr>
        <p:sp>
          <p:nvSpPr>
            <p:cNvPr name="Freeform 7" id="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8" id="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Freeform 9" id="9"/>
          <p:cNvSpPr/>
          <p:nvPr/>
        </p:nvSpPr>
        <p:spPr>
          <a:xfrm flipH="false" flipV="false" rot="0">
            <a:off x="4986640" y="4060370"/>
            <a:ext cx="8187995" cy="5926061"/>
          </a:xfrm>
          <a:custGeom>
            <a:avLst/>
            <a:gdLst/>
            <a:ahLst/>
            <a:cxnLst/>
            <a:rect r="r" b="b" t="t" l="l"/>
            <a:pathLst>
              <a:path h="5926061" w="8187995">
                <a:moveTo>
                  <a:pt x="0" y="0"/>
                </a:moveTo>
                <a:lnTo>
                  <a:pt x="8187995" y="0"/>
                </a:lnTo>
                <a:lnTo>
                  <a:pt x="8187995" y="5926062"/>
                </a:lnTo>
                <a:lnTo>
                  <a:pt x="0" y="5926062"/>
                </a:lnTo>
                <a:lnTo>
                  <a:pt x="0" y="0"/>
                </a:lnTo>
                <a:close/>
              </a:path>
            </a:pathLst>
          </a:custGeom>
          <a:blipFill>
            <a:blip r:embed="rId3"/>
            <a:stretch>
              <a:fillRect l="0" t="0" r="0" b="0"/>
            </a:stretch>
          </a:blipFill>
        </p:spPr>
      </p:sp>
      <p:sp>
        <p:nvSpPr>
          <p:cNvPr name="TextBox 10" id="10"/>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Python &amp; EDA</a:t>
            </a:r>
          </a:p>
        </p:txBody>
      </p:sp>
      <p:sp>
        <p:nvSpPr>
          <p:cNvPr name="TextBox 11" id="11"/>
          <p:cNvSpPr txBox="true"/>
          <p:nvPr/>
        </p:nvSpPr>
        <p:spPr>
          <a:xfrm rot="0">
            <a:off x="1315178" y="3479693"/>
            <a:ext cx="878027"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09</a:t>
            </a:r>
          </a:p>
        </p:txBody>
      </p:sp>
      <p:sp>
        <p:nvSpPr>
          <p:cNvPr name="TextBox 12" id="12"/>
          <p:cNvSpPr txBox="true"/>
          <p:nvPr/>
        </p:nvSpPr>
        <p:spPr>
          <a:xfrm rot="0">
            <a:off x="2663943" y="3460643"/>
            <a:ext cx="1459535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Performa Staf Berdasarkan Total Pendapatan (Bar Charts-Matplotlib)</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Bold"/>
                <a:ea typeface="Open Sauce Bold"/>
                <a:cs typeface="Open Sauce Bold"/>
                <a:sym typeface="Open Sauce Bold"/>
              </a:rPr>
              <a:t>Business Metrics</a:t>
            </a:r>
          </a:p>
        </p:txBody>
      </p:sp>
      <p:grpSp>
        <p:nvGrpSpPr>
          <p:cNvPr name="Group 4" id="4"/>
          <p:cNvGrpSpPr/>
          <p:nvPr/>
        </p:nvGrpSpPr>
        <p:grpSpPr>
          <a:xfrm rot="0">
            <a:off x="901975" y="3061729"/>
            <a:ext cx="7428904" cy="2998333"/>
            <a:chOff x="0" y="0"/>
            <a:chExt cx="1956584" cy="789684"/>
          </a:xfrm>
        </p:grpSpPr>
        <p:sp>
          <p:nvSpPr>
            <p:cNvPr name="Freeform 5" id="5"/>
            <p:cNvSpPr/>
            <p:nvPr/>
          </p:nvSpPr>
          <p:spPr>
            <a:xfrm flipH="false" flipV="false" rot="0">
              <a:off x="0" y="0"/>
              <a:ext cx="1956584" cy="789684"/>
            </a:xfrm>
            <a:custGeom>
              <a:avLst/>
              <a:gdLst/>
              <a:ahLst/>
              <a:cxnLst/>
              <a:rect r="r" b="b" t="t" l="l"/>
              <a:pathLst>
                <a:path h="789684" w="19565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1956584" cy="818259"/>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2560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1754191" y="6507737"/>
            <a:ext cx="7808783" cy="2998333"/>
            <a:chOff x="0" y="0"/>
            <a:chExt cx="2056634" cy="789684"/>
          </a:xfrm>
        </p:grpSpPr>
        <p:sp>
          <p:nvSpPr>
            <p:cNvPr name="Freeform 11" id="11"/>
            <p:cNvSpPr/>
            <p:nvPr/>
          </p:nvSpPr>
          <p:spPr>
            <a:xfrm flipH="false" flipV="false" rot="0">
              <a:off x="0" y="0"/>
              <a:ext cx="2056634" cy="789684"/>
            </a:xfrm>
            <a:custGeom>
              <a:avLst/>
              <a:gdLst/>
              <a:ahLst/>
              <a:cxnLst/>
              <a:rect r="r" b="b" t="t" l="l"/>
              <a:pathLst>
                <a:path h="789684" w="2056634">
                  <a:moveTo>
                    <a:pt x="65435" y="0"/>
                  </a:moveTo>
                  <a:lnTo>
                    <a:pt x="1991199" y="0"/>
                  </a:lnTo>
                  <a:cubicBezTo>
                    <a:pt x="2008554" y="0"/>
                    <a:pt x="2025197" y="6894"/>
                    <a:pt x="2037469" y="19165"/>
                  </a:cubicBezTo>
                  <a:cubicBezTo>
                    <a:pt x="2049740" y="31437"/>
                    <a:pt x="2056634" y="48080"/>
                    <a:pt x="2056634" y="65435"/>
                  </a:cubicBezTo>
                  <a:lnTo>
                    <a:pt x="2056634" y="724250"/>
                  </a:lnTo>
                  <a:cubicBezTo>
                    <a:pt x="2056634" y="741604"/>
                    <a:pt x="2049740" y="758248"/>
                    <a:pt x="2037469" y="770519"/>
                  </a:cubicBezTo>
                  <a:cubicBezTo>
                    <a:pt x="2025197" y="782790"/>
                    <a:pt x="2008554" y="789684"/>
                    <a:pt x="1991199" y="789684"/>
                  </a:cubicBezTo>
                  <a:lnTo>
                    <a:pt x="65435" y="789684"/>
                  </a:lnTo>
                  <a:cubicBezTo>
                    <a:pt x="48080" y="789684"/>
                    <a:pt x="31437" y="782790"/>
                    <a:pt x="19165" y="770519"/>
                  </a:cubicBezTo>
                  <a:cubicBezTo>
                    <a:pt x="6894" y="758248"/>
                    <a:pt x="0" y="741604"/>
                    <a:pt x="0" y="724250"/>
                  </a:cubicBezTo>
                  <a:lnTo>
                    <a:pt x="0" y="65435"/>
                  </a:lnTo>
                  <a:cubicBezTo>
                    <a:pt x="0" y="48080"/>
                    <a:pt x="6894" y="31437"/>
                    <a:pt x="19165" y="19165"/>
                  </a:cubicBezTo>
                  <a:cubicBezTo>
                    <a:pt x="31437" y="6894"/>
                    <a:pt x="48080" y="0"/>
                    <a:pt x="65435"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2056634" cy="818259"/>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8784269" y="3061729"/>
            <a:ext cx="7863667" cy="2998333"/>
            <a:chOff x="0" y="0"/>
            <a:chExt cx="2071089" cy="789684"/>
          </a:xfrm>
        </p:grpSpPr>
        <p:sp>
          <p:nvSpPr>
            <p:cNvPr name="Freeform 14" id="14"/>
            <p:cNvSpPr/>
            <p:nvPr/>
          </p:nvSpPr>
          <p:spPr>
            <a:xfrm flipH="false" flipV="false" rot="0">
              <a:off x="0" y="0"/>
              <a:ext cx="2071089" cy="789684"/>
            </a:xfrm>
            <a:custGeom>
              <a:avLst/>
              <a:gdLst/>
              <a:ahLst/>
              <a:cxnLst/>
              <a:rect r="r" b="b" t="t" l="l"/>
              <a:pathLst>
                <a:path h="789684" w="2071089">
                  <a:moveTo>
                    <a:pt x="64978" y="0"/>
                  </a:moveTo>
                  <a:lnTo>
                    <a:pt x="2006111" y="0"/>
                  </a:lnTo>
                  <a:cubicBezTo>
                    <a:pt x="2023344" y="0"/>
                    <a:pt x="2039872" y="6846"/>
                    <a:pt x="2052058" y="19032"/>
                  </a:cubicBezTo>
                  <a:cubicBezTo>
                    <a:pt x="2064243" y="31217"/>
                    <a:pt x="2071089" y="47745"/>
                    <a:pt x="2071089" y="64978"/>
                  </a:cubicBezTo>
                  <a:lnTo>
                    <a:pt x="2071089" y="724706"/>
                  </a:lnTo>
                  <a:cubicBezTo>
                    <a:pt x="2071089" y="760593"/>
                    <a:pt x="2041998" y="789684"/>
                    <a:pt x="2006111" y="789684"/>
                  </a:cubicBezTo>
                  <a:lnTo>
                    <a:pt x="64978" y="789684"/>
                  </a:lnTo>
                  <a:cubicBezTo>
                    <a:pt x="29092" y="789684"/>
                    <a:pt x="0" y="760593"/>
                    <a:pt x="0" y="724706"/>
                  </a:cubicBezTo>
                  <a:lnTo>
                    <a:pt x="0" y="64978"/>
                  </a:lnTo>
                  <a:cubicBezTo>
                    <a:pt x="0" y="29092"/>
                    <a:pt x="29092" y="0"/>
                    <a:pt x="64978" y="0"/>
                  </a:cubicBezTo>
                  <a:close/>
                </a:path>
              </a:pathLst>
            </a:custGeom>
            <a:solidFill>
              <a:srgbClr val="D0D7DD"/>
            </a:solidFill>
            <a:ln w="19050" cap="rnd">
              <a:solidFill>
                <a:srgbClr val="424242"/>
              </a:solidFill>
              <a:prstDash val="solid"/>
              <a:round/>
            </a:ln>
          </p:spPr>
        </p:sp>
        <p:sp>
          <p:nvSpPr>
            <p:cNvPr name="TextBox 15" id="15"/>
            <p:cNvSpPr txBox="true"/>
            <p:nvPr/>
          </p:nvSpPr>
          <p:spPr>
            <a:xfrm>
              <a:off x="0" y="-28575"/>
              <a:ext cx="2071089" cy="818259"/>
            </a:xfrm>
            <a:prstGeom prst="rect">
              <a:avLst/>
            </a:prstGeom>
          </p:spPr>
          <p:txBody>
            <a:bodyPr anchor="ctr" rtlCol="false" tIns="50800" lIns="50800" bIns="50800" rIns="50800"/>
            <a:lstStyle/>
            <a:p>
              <a:pPr algn="ctr">
                <a:lnSpc>
                  <a:spcPts val="2015"/>
                </a:lnSpc>
              </a:pPr>
            </a:p>
          </p:txBody>
        </p:sp>
      </p:grpSp>
      <p:grpSp>
        <p:nvGrpSpPr>
          <p:cNvPr name="Group 16" id="16"/>
          <p:cNvGrpSpPr/>
          <p:nvPr/>
        </p:nvGrpSpPr>
        <p:grpSpPr>
          <a:xfrm rot="0">
            <a:off x="9062075" y="3256012"/>
            <a:ext cx="1154202" cy="804358"/>
            <a:chOff x="0" y="0"/>
            <a:chExt cx="303987" cy="211847"/>
          </a:xfrm>
        </p:grpSpPr>
        <p:sp>
          <p:nvSpPr>
            <p:cNvPr name="Freeform 17" id="1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8" id="1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9" id="19"/>
          <p:cNvGrpSpPr/>
          <p:nvPr/>
        </p:nvGrpSpPr>
        <p:grpSpPr>
          <a:xfrm rot="0">
            <a:off x="2148612" y="6736337"/>
            <a:ext cx="1154202" cy="804358"/>
            <a:chOff x="0" y="0"/>
            <a:chExt cx="303987" cy="211847"/>
          </a:xfrm>
        </p:grpSpPr>
        <p:sp>
          <p:nvSpPr>
            <p:cNvPr name="Freeform 20" id="20"/>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21" id="21"/>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22" id="22"/>
          <p:cNvSpPr txBox="true"/>
          <p:nvPr/>
        </p:nvSpPr>
        <p:spPr>
          <a:xfrm rot="0">
            <a:off x="9214039"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02</a:t>
            </a:r>
          </a:p>
        </p:txBody>
      </p:sp>
      <p:sp>
        <p:nvSpPr>
          <p:cNvPr name="TextBox 23" id="23"/>
          <p:cNvSpPr txBox="true"/>
          <p:nvPr/>
        </p:nvSpPr>
        <p:spPr>
          <a:xfrm rot="0">
            <a:off x="2300576" y="6964786"/>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03</a:t>
            </a:r>
          </a:p>
        </p:txBody>
      </p:sp>
      <p:sp>
        <p:nvSpPr>
          <p:cNvPr name="TextBox 24" id="24"/>
          <p:cNvSpPr txBox="true"/>
          <p:nvPr/>
        </p:nvSpPr>
        <p:spPr>
          <a:xfrm rot="0">
            <a:off x="10548928" y="3460643"/>
            <a:ext cx="5664246"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Top-Performing Product Categories</a:t>
            </a:r>
          </a:p>
        </p:txBody>
      </p:sp>
      <p:sp>
        <p:nvSpPr>
          <p:cNvPr name="TextBox 25" id="25"/>
          <p:cNvSpPr txBox="true"/>
          <p:nvPr/>
        </p:nvSpPr>
        <p:spPr>
          <a:xfrm rot="0">
            <a:off x="3635465" y="6940967"/>
            <a:ext cx="5533089"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 Store Revenue Share </a:t>
            </a:r>
          </a:p>
        </p:txBody>
      </p:sp>
      <p:grpSp>
        <p:nvGrpSpPr>
          <p:cNvPr name="Group 26" id="26"/>
          <p:cNvGrpSpPr/>
          <p:nvPr/>
        </p:nvGrpSpPr>
        <p:grpSpPr>
          <a:xfrm rot="0">
            <a:off x="10016364" y="6507737"/>
            <a:ext cx="7428904" cy="2998333"/>
            <a:chOff x="0" y="0"/>
            <a:chExt cx="1956584" cy="789684"/>
          </a:xfrm>
        </p:grpSpPr>
        <p:sp>
          <p:nvSpPr>
            <p:cNvPr name="Freeform 27" id="27"/>
            <p:cNvSpPr/>
            <p:nvPr/>
          </p:nvSpPr>
          <p:spPr>
            <a:xfrm flipH="false" flipV="false" rot="0">
              <a:off x="0" y="0"/>
              <a:ext cx="1956584" cy="789684"/>
            </a:xfrm>
            <a:custGeom>
              <a:avLst/>
              <a:gdLst/>
              <a:ahLst/>
              <a:cxnLst/>
              <a:rect r="r" b="b" t="t" l="l"/>
              <a:pathLst>
                <a:path h="789684" w="19565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28" id="28"/>
            <p:cNvSpPr txBox="true"/>
            <p:nvPr/>
          </p:nvSpPr>
          <p:spPr>
            <a:xfrm>
              <a:off x="0" y="-28575"/>
              <a:ext cx="1956584" cy="818259"/>
            </a:xfrm>
            <a:prstGeom prst="rect">
              <a:avLst/>
            </a:prstGeom>
          </p:spPr>
          <p:txBody>
            <a:bodyPr anchor="ctr" rtlCol="false" tIns="50800" lIns="50800" bIns="50800" rIns="50800"/>
            <a:lstStyle/>
            <a:p>
              <a:pPr algn="ctr">
                <a:lnSpc>
                  <a:spcPts val="2015"/>
                </a:lnSpc>
              </a:pPr>
            </a:p>
          </p:txBody>
        </p:sp>
      </p:grpSp>
      <p:grpSp>
        <p:nvGrpSpPr>
          <p:cNvPr name="Group 29" id="29"/>
          <p:cNvGrpSpPr/>
          <p:nvPr/>
        </p:nvGrpSpPr>
        <p:grpSpPr>
          <a:xfrm rot="0">
            <a:off x="10345740" y="6736337"/>
            <a:ext cx="1154202" cy="804358"/>
            <a:chOff x="0" y="0"/>
            <a:chExt cx="303987" cy="211847"/>
          </a:xfrm>
        </p:grpSpPr>
        <p:sp>
          <p:nvSpPr>
            <p:cNvPr name="Freeform 30" id="30"/>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31" id="31"/>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32" id="32"/>
          <p:cNvSpPr txBox="true"/>
          <p:nvPr/>
        </p:nvSpPr>
        <p:spPr>
          <a:xfrm rot="0">
            <a:off x="10497704" y="6964786"/>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04</a:t>
            </a:r>
          </a:p>
        </p:txBody>
      </p:sp>
      <p:sp>
        <p:nvSpPr>
          <p:cNvPr name="TextBox 33" id="33"/>
          <p:cNvSpPr txBox="true"/>
          <p:nvPr/>
        </p:nvSpPr>
        <p:spPr>
          <a:xfrm rot="0">
            <a:off x="11832593" y="6931442"/>
            <a:ext cx="5426707" cy="826643"/>
          </a:xfrm>
          <a:prstGeom prst="rect">
            <a:avLst/>
          </a:prstGeom>
        </p:spPr>
        <p:txBody>
          <a:bodyPr anchor="t" rtlCol="false" tIns="0" lIns="0" bIns="0" rIns="0">
            <a:spAutoFit/>
          </a:bodyPr>
          <a:lstStyle/>
          <a:p>
            <a:pPr algn="l">
              <a:lnSpc>
                <a:spcPts val="3196"/>
              </a:lnSpc>
            </a:pPr>
            <a:r>
              <a:rPr lang="en-US" sz="3400" spc="-159" b="true">
                <a:solidFill>
                  <a:srgbClr val="424242"/>
                </a:solidFill>
                <a:latin typeface="Open Sauce Heavy"/>
                <a:ea typeface="Open Sauce Heavy"/>
                <a:cs typeface="Open Sauce Heavy"/>
                <a:sym typeface="Open Sauce Heavy"/>
              </a:rPr>
              <a:t>Rental Retention Duration by Rating</a:t>
            </a:r>
          </a:p>
        </p:txBody>
      </p:sp>
      <p:sp>
        <p:nvSpPr>
          <p:cNvPr name="TextBox 34" id="34"/>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01</a:t>
            </a:r>
          </a:p>
        </p:txBody>
      </p:sp>
      <p:sp>
        <p:nvSpPr>
          <p:cNvPr name="TextBox 35" id="35"/>
          <p:cNvSpPr txBox="true"/>
          <p:nvPr/>
        </p:nvSpPr>
        <p:spPr>
          <a:xfrm rot="0">
            <a:off x="1208915" y="4318634"/>
            <a:ext cx="6815023" cy="824866"/>
          </a:xfrm>
          <a:prstGeom prst="rect">
            <a:avLst/>
          </a:prstGeom>
        </p:spPr>
        <p:txBody>
          <a:bodyPr anchor="t" rtlCol="false" tIns="0" lIns="0" bIns="0" rIns="0">
            <a:spAutoFit/>
          </a:bodyPr>
          <a:lstStyle/>
          <a:p>
            <a:pPr algn="l">
              <a:lnSpc>
                <a:spcPts val="3359"/>
              </a:lnSpc>
            </a:pPr>
            <a:r>
              <a:rPr lang="en-US" sz="2399" spc="-112" b="true">
                <a:solidFill>
                  <a:srgbClr val="424242"/>
                </a:solidFill>
                <a:latin typeface="Open Sauce Bold"/>
                <a:ea typeface="Open Sauce Bold"/>
                <a:cs typeface="Open Sauce Bold"/>
                <a:sym typeface="Open Sauce Bold"/>
              </a:rPr>
              <a:t>Melihat apakah uang yang masuk ke toko setiap bulan makin naik, atau malah makin turun.</a:t>
            </a:r>
          </a:p>
        </p:txBody>
      </p:sp>
      <p:sp>
        <p:nvSpPr>
          <p:cNvPr name="TextBox 36" id="36"/>
          <p:cNvSpPr txBox="true"/>
          <p:nvPr/>
        </p:nvSpPr>
        <p:spPr>
          <a:xfrm rot="0">
            <a:off x="9062075" y="4513270"/>
            <a:ext cx="7240465" cy="1243966"/>
          </a:xfrm>
          <a:prstGeom prst="rect">
            <a:avLst/>
          </a:prstGeom>
        </p:spPr>
        <p:txBody>
          <a:bodyPr anchor="t" rtlCol="false" tIns="0" lIns="0" bIns="0" rIns="0">
            <a:spAutoFit/>
          </a:bodyPr>
          <a:lstStyle/>
          <a:p>
            <a:pPr algn="l">
              <a:lnSpc>
                <a:spcPts val="3359"/>
              </a:lnSpc>
            </a:pPr>
            <a:r>
              <a:rPr lang="en-US" sz="2399" spc="-112" b="true">
                <a:solidFill>
                  <a:srgbClr val="424242"/>
                </a:solidFill>
                <a:latin typeface="Open Sauce Bold"/>
                <a:ea typeface="Open Sauce Bold"/>
                <a:cs typeface="Open Sauce Bold"/>
                <a:sym typeface="Open Sauce Bold"/>
              </a:rPr>
              <a:t>Mencari tahu produk (genre film) apa yang menjadi "mesin uang" utama toko, dan produk apa yang kurang diminati.</a:t>
            </a:r>
          </a:p>
        </p:txBody>
      </p:sp>
      <p:sp>
        <p:nvSpPr>
          <p:cNvPr name="TextBox 37" id="37"/>
          <p:cNvSpPr txBox="true"/>
          <p:nvPr/>
        </p:nvSpPr>
        <p:spPr>
          <a:xfrm rot="0">
            <a:off x="2148612" y="7774214"/>
            <a:ext cx="7089980" cy="1243966"/>
          </a:xfrm>
          <a:prstGeom prst="rect">
            <a:avLst/>
          </a:prstGeom>
        </p:spPr>
        <p:txBody>
          <a:bodyPr anchor="t" rtlCol="false" tIns="0" lIns="0" bIns="0" rIns="0">
            <a:spAutoFit/>
          </a:bodyPr>
          <a:lstStyle/>
          <a:p>
            <a:pPr algn="l">
              <a:lnSpc>
                <a:spcPts val="3359"/>
              </a:lnSpc>
            </a:pPr>
            <a:r>
              <a:rPr lang="en-US" sz="2399" spc="-112" b="true">
                <a:solidFill>
                  <a:srgbClr val="424242"/>
                </a:solidFill>
                <a:latin typeface="Open Sauce Bold"/>
                <a:ea typeface="Open Sauce Bold"/>
                <a:cs typeface="Open Sauce Bold"/>
                <a:sym typeface="Open Sauce Bold"/>
              </a:rPr>
              <a:t>Membandingkan performa antar-cabang toko, mana toko yang paling menguntungkan dan ramai pelanggan.</a:t>
            </a:r>
          </a:p>
        </p:txBody>
      </p:sp>
      <p:sp>
        <p:nvSpPr>
          <p:cNvPr name="TextBox 38" id="38"/>
          <p:cNvSpPr txBox="true"/>
          <p:nvPr/>
        </p:nvSpPr>
        <p:spPr>
          <a:xfrm rot="0">
            <a:off x="2634037" y="3484462"/>
            <a:ext cx="4815344"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Revenue Growth Rate</a:t>
            </a:r>
          </a:p>
        </p:txBody>
      </p:sp>
      <p:sp>
        <p:nvSpPr>
          <p:cNvPr name="TextBox 39" id="39"/>
          <p:cNvSpPr txBox="true"/>
          <p:nvPr/>
        </p:nvSpPr>
        <p:spPr>
          <a:xfrm rot="0">
            <a:off x="10216277" y="7780208"/>
            <a:ext cx="7089980" cy="1243966"/>
          </a:xfrm>
          <a:prstGeom prst="rect">
            <a:avLst/>
          </a:prstGeom>
        </p:spPr>
        <p:txBody>
          <a:bodyPr anchor="t" rtlCol="false" tIns="0" lIns="0" bIns="0" rIns="0">
            <a:spAutoFit/>
          </a:bodyPr>
          <a:lstStyle/>
          <a:p>
            <a:pPr algn="l">
              <a:lnSpc>
                <a:spcPts val="3359"/>
              </a:lnSpc>
            </a:pPr>
            <a:r>
              <a:rPr lang="en-US" sz="2399" spc="-112" b="true">
                <a:solidFill>
                  <a:srgbClr val="424242"/>
                </a:solidFill>
                <a:latin typeface="Open Sauce Bold"/>
                <a:ea typeface="Open Sauce Bold"/>
                <a:cs typeface="Open Sauce Bold"/>
                <a:sym typeface="Open Sauce Bold"/>
              </a:rPr>
              <a:t>Menganalisis apakah rating film memengaruhi lamanya pelanggan menyimpan film sebelum dikembalikan.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Bold"/>
                <a:ea typeface="Open Sauce Bold"/>
                <a:cs typeface="Open Sauce Bold"/>
                <a:sym typeface="Open Sauce Bold"/>
              </a:rPr>
              <a:t>Business Metrics</a:t>
            </a:r>
          </a:p>
        </p:txBody>
      </p:sp>
      <p:grpSp>
        <p:nvGrpSpPr>
          <p:cNvPr name="Group 4" id="4"/>
          <p:cNvGrpSpPr/>
          <p:nvPr/>
        </p:nvGrpSpPr>
        <p:grpSpPr>
          <a:xfrm rot="0">
            <a:off x="901975" y="3061729"/>
            <a:ext cx="7428904" cy="2998333"/>
            <a:chOff x="0" y="0"/>
            <a:chExt cx="1956584" cy="789684"/>
          </a:xfrm>
        </p:grpSpPr>
        <p:sp>
          <p:nvSpPr>
            <p:cNvPr name="Freeform 5" id="5"/>
            <p:cNvSpPr/>
            <p:nvPr/>
          </p:nvSpPr>
          <p:spPr>
            <a:xfrm flipH="false" flipV="false" rot="0">
              <a:off x="0" y="0"/>
              <a:ext cx="1956584" cy="789684"/>
            </a:xfrm>
            <a:custGeom>
              <a:avLst/>
              <a:gdLst/>
              <a:ahLst/>
              <a:cxnLst/>
              <a:rect r="r" b="b" t="t" l="l"/>
              <a:pathLst>
                <a:path h="789684" w="1956584">
                  <a:moveTo>
                    <a:pt x="68781" y="0"/>
                  </a:moveTo>
                  <a:lnTo>
                    <a:pt x="1887803" y="0"/>
                  </a:lnTo>
                  <a:cubicBezTo>
                    <a:pt x="1925790" y="0"/>
                    <a:pt x="1956584" y="30794"/>
                    <a:pt x="1956584" y="68781"/>
                  </a:cubicBezTo>
                  <a:lnTo>
                    <a:pt x="1956584" y="720904"/>
                  </a:lnTo>
                  <a:cubicBezTo>
                    <a:pt x="1956584" y="758890"/>
                    <a:pt x="1925790" y="789684"/>
                    <a:pt x="1887803" y="789684"/>
                  </a:cubicBezTo>
                  <a:lnTo>
                    <a:pt x="68781" y="789684"/>
                  </a:lnTo>
                  <a:cubicBezTo>
                    <a:pt x="30794" y="789684"/>
                    <a:pt x="0" y="758890"/>
                    <a:pt x="0" y="720904"/>
                  </a:cubicBezTo>
                  <a:lnTo>
                    <a:pt x="0" y="68781"/>
                  </a:lnTo>
                  <a:cubicBezTo>
                    <a:pt x="0" y="30794"/>
                    <a:pt x="30794" y="0"/>
                    <a:pt x="68781"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1956584" cy="818259"/>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2560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1754191" y="6507737"/>
            <a:ext cx="7808783" cy="2998333"/>
            <a:chOff x="0" y="0"/>
            <a:chExt cx="2056634" cy="789684"/>
          </a:xfrm>
        </p:grpSpPr>
        <p:sp>
          <p:nvSpPr>
            <p:cNvPr name="Freeform 11" id="11"/>
            <p:cNvSpPr/>
            <p:nvPr/>
          </p:nvSpPr>
          <p:spPr>
            <a:xfrm flipH="false" flipV="false" rot="0">
              <a:off x="0" y="0"/>
              <a:ext cx="2056634" cy="789684"/>
            </a:xfrm>
            <a:custGeom>
              <a:avLst/>
              <a:gdLst/>
              <a:ahLst/>
              <a:cxnLst/>
              <a:rect r="r" b="b" t="t" l="l"/>
              <a:pathLst>
                <a:path h="789684" w="2056634">
                  <a:moveTo>
                    <a:pt x="65435" y="0"/>
                  </a:moveTo>
                  <a:lnTo>
                    <a:pt x="1991199" y="0"/>
                  </a:lnTo>
                  <a:cubicBezTo>
                    <a:pt x="2008554" y="0"/>
                    <a:pt x="2025197" y="6894"/>
                    <a:pt x="2037469" y="19165"/>
                  </a:cubicBezTo>
                  <a:cubicBezTo>
                    <a:pt x="2049740" y="31437"/>
                    <a:pt x="2056634" y="48080"/>
                    <a:pt x="2056634" y="65435"/>
                  </a:cubicBezTo>
                  <a:lnTo>
                    <a:pt x="2056634" y="724250"/>
                  </a:lnTo>
                  <a:cubicBezTo>
                    <a:pt x="2056634" y="741604"/>
                    <a:pt x="2049740" y="758248"/>
                    <a:pt x="2037469" y="770519"/>
                  </a:cubicBezTo>
                  <a:cubicBezTo>
                    <a:pt x="2025197" y="782790"/>
                    <a:pt x="2008554" y="789684"/>
                    <a:pt x="1991199" y="789684"/>
                  </a:cubicBezTo>
                  <a:lnTo>
                    <a:pt x="65435" y="789684"/>
                  </a:lnTo>
                  <a:cubicBezTo>
                    <a:pt x="48080" y="789684"/>
                    <a:pt x="31437" y="782790"/>
                    <a:pt x="19165" y="770519"/>
                  </a:cubicBezTo>
                  <a:cubicBezTo>
                    <a:pt x="6894" y="758248"/>
                    <a:pt x="0" y="741604"/>
                    <a:pt x="0" y="724250"/>
                  </a:cubicBezTo>
                  <a:lnTo>
                    <a:pt x="0" y="65435"/>
                  </a:lnTo>
                  <a:cubicBezTo>
                    <a:pt x="0" y="48080"/>
                    <a:pt x="6894" y="31437"/>
                    <a:pt x="19165" y="19165"/>
                  </a:cubicBezTo>
                  <a:cubicBezTo>
                    <a:pt x="31437" y="6894"/>
                    <a:pt x="48080" y="0"/>
                    <a:pt x="65435"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2056634" cy="818259"/>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8784269" y="3061729"/>
            <a:ext cx="7863667" cy="2998333"/>
            <a:chOff x="0" y="0"/>
            <a:chExt cx="2071089" cy="789684"/>
          </a:xfrm>
        </p:grpSpPr>
        <p:sp>
          <p:nvSpPr>
            <p:cNvPr name="Freeform 14" id="14"/>
            <p:cNvSpPr/>
            <p:nvPr/>
          </p:nvSpPr>
          <p:spPr>
            <a:xfrm flipH="false" flipV="false" rot="0">
              <a:off x="0" y="0"/>
              <a:ext cx="2071089" cy="789684"/>
            </a:xfrm>
            <a:custGeom>
              <a:avLst/>
              <a:gdLst/>
              <a:ahLst/>
              <a:cxnLst/>
              <a:rect r="r" b="b" t="t" l="l"/>
              <a:pathLst>
                <a:path h="789684" w="2071089">
                  <a:moveTo>
                    <a:pt x="64978" y="0"/>
                  </a:moveTo>
                  <a:lnTo>
                    <a:pt x="2006111" y="0"/>
                  </a:lnTo>
                  <a:cubicBezTo>
                    <a:pt x="2023344" y="0"/>
                    <a:pt x="2039872" y="6846"/>
                    <a:pt x="2052058" y="19032"/>
                  </a:cubicBezTo>
                  <a:cubicBezTo>
                    <a:pt x="2064243" y="31217"/>
                    <a:pt x="2071089" y="47745"/>
                    <a:pt x="2071089" y="64978"/>
                  </a:cubicBezTo>
                  <a:lnTo>
                    <a:pt x="2071089" y="724706"/>
                  </a:lnTo>
                  <a:cubicBezTo>
                    <a:pt x="2071089" y="760593"/>
                    <a:pt x="2041998" y="789684"/>
                    <a:pt x="2006111" y="789684"/>
                  </a:cubicBezTo>
                  <a:lnTo>
                    <a:pt x="64978" y="789684"/>
                  </a:lnTo>
                  <a:cubicBezTo>
                    <a:pt x="29092" y="789684"/>
                    <a:pt x="0" y="760593"/>
                    <a:pt x="0" y="724706"/>
                  </a:cubicBezTo>
                  <a:lnTo>
                    <a:pt x="0" y="64978"/>
                  </a:lnTo>
                  <a:cubicBezTo>
                    <a:pt x="0" y="29092"/>
                    <a:pt x="29092" y="0"/>
                    <a:pt x="64978" y="0"/>
                  </a:cubicBezTo>
                  <a:close/>
                </a:path>
              </a:pathLst>
            </a:custGeom>
            <a:solidFill>
              <a:srgbClr val="D0D7DD"/>
            </a:solidFill>
            <a:ln w="19050" cap="rnd">
              <a:solidFill>
                <a:srgbClr val="424242"/>
              </a:solidFill>
              <a:prstDash val="solid"/>
              <a:round/>
            </a:ln>
          </p:spPr>
        </p:sp>
        <p:sp>
          <p:nvSpPr>
            <p:cNvPr name="TextBox 15" id="15"/>
            <p:cNvSpPr txBox="true"/>
            <p:nvPr/>
          </p:nvSpPr>
          <p:spPr>
            <a:xfrm>
              <a:off x="0" y="-28575"/>
              <a:ext cx="2071089" cy="818259"/>
            </a:xfrm>
            <a:prstGeom prst="rect">
              <a:avLst/>
            </a:prstGeom>
          </p:spPr>
          <p:txBody>
            <a:bodyPr anchor="ctr" rtlCol="false" tIns="50800" lIns="50800" bIns="50800" rIns="50800"/>
            <a:lstStyle/>
            <a:p>
              <a:pPr algn="ctr">
                <a:lnSpc>
                  <a:spcPts val="2015"/>
                </a:lnSpc>
              </a:pPr>
            </a:p>
          </p:txBody>
        </p:sp>
      </p:grpSp>
      <p:grpSp>
        <p:nvGrpSpPr>
          <p:cNvPr name="Group 16" id="16"/>
          <p:cNvGrpSpPr/>
          <p:nvPr/>
        </p:nvGrpSpPr>
        <p:grpSpPr>
          <a:xfrm rot="0">
            <a:off x="9062075" y="3256012"/>
            <a:ext cx="1154202" cy="804358"/>
            <a:chOff x="0" y="0"/>
            <a:chExt cx="303987" cy="211847"/>
          </a:xfrm>
        </p:grpSpPr>
        <p:sp>
          <p:nvSpPr>
            <p:cNvPr name="Freeform 17" id="17"/>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8" id="18"/>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9" id="19"/>
          <p:cNvGrpSpPr/>
          <p:nvPr/>
        </p:nvGrpSpPr>
        <p:grpSpPr>
          <a:xfrm rot="0">
            <a:off x="2148612" y="6736337"/>
            <a:ext cx="1154202" cy="804358"/>
            <a:chOff x="0" y="0"/>
            <a:chExt cx="303987" cy="211847"/>
          </a:xfrm>
        </p:grpSpPr>
        <p:sp>
          <p:nvSpPr>
            <p:cNvPr name="Freeform 20" id="20"/>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21" id="21"/>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22" id="22"/>
          <p:cNvSpPr txBox="true"/>
          <p:nvPr/>
        </p:nvSpPr>
        <p:spPr>
          <a:xfrm rot="0">
            <a:off x="9214039"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06</a:t>
            </a:r>
          </a:p>
        </p:txBody>
      </p:sp>
      <p:sp>
        <p:nvSpPr>
          <p:cNvPr name="TextBox 23" id="23"/>
          <p:cNvSpPr txBox="true"/>
          <p:nvPr/>
        </p:nvSpPr>
        <p:spPr>
          <a:xfrm rot="0">
            <a:off x="2300576" y="6964786"/>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07</a:t>
            </a:r>
          </a:p>
        </p:txBody>
      </p:sp>
      <p:sp>
        <p:nvSpPr>
          <p:cNvPr name="TextBox 24" id="24"/>
          <p:cNvSpPr txBox="true"/>
          <p:nvPr/>
        </p:nvSpPr>
        <p:spPr>
          <a:xfrm rot="0">
            <a:off x="10548928" y="3460643"/>
            <a:ext cx="5664246"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Customer Geographic Performance</a:t>
            </a:r>
          </a:p>
        </p:txBody>
      </p:sp>
      <p:sp>
        <p:nvSpPr>
          <p:cNvPr name="TextBox 25" id="25"/>
          <p:cNvSpPr txBox="true"/>
          <p:nvPr/>
        </p:nvSpPr>
        <p:spPr>
          <a:xfrm rot="0">
            <a:off x="3635465" y="6940967"/>
            <a:ext cx="5533089"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Segmentasi Loyalitas Pelanggan</a:t>
            </a:r>
          </a:p>
        </p:txBody>
      </p:sp>
      <p:grpSp>
        <p:nvGrpSpPr>
          <p:cNvPr name="Group 26" id="26"/>
          <p:cNvGrpSpPr/>
          <p:nvPr/>
        </p:nvGrpSpPr>
        <p:grpSpPr>
          <a:xfrm rot="0">
            <a:off x="10016364" y="6507737"/>
            <a:ext cx="7569841" cy="2998333"/>
            <a:chOff x="0" y="0"/>
            <a:chExt cx="1993703" cy="789684"/>
          </a:xfrm>
        </p:grpSpPr>
        <p:sp>
          <p:nvSpPr>
            <p:cNvPr name="Freeform 27" id="27"/>
            <p:cNvSpPr/>
            <p:nvPr/>
          </p:nvSpPr>
          <p:spPr>
            <a:xfrm flipH="false" flipV="false" rot="0">
              <a:off x="0" y="0"/>
              <a:ext cx="1993703" cy="789684"/>
            </a:xfrm>
            <a:custGeom>
              <a:avLst/>
              <a:gdLst/>
              <a:ahLst/>
              <a:cxnLst/>
              <a:rect r="r" b="b" t="t" l="l"/>
              <a:pathLst>
                <a:path h="789684" w="1993703">
                  <a:moveTo>
                    <a:pt x="67500" y="0"/>
                  </a:moveTo>
                  <a:lnTo>
                    <a:pt x="1926203" y="0"/>
                  </a:lnTo>
                  <a:cubicBezTo>
                    <a:pt x="1944105" y="0"/>
                    <a:pt x="1961274" y="7112"/>
                    <a:pt x="1973933" y="19770"/>
                  </a:cubicBezTo>
                  <a:cubicBezTo>
                    <a:pt x="1986591" y="32429"/>
                    <a:pt x="1993703" y="49598"/>
                    <a:pt x="1993703" y="67500"/>
                  </a:cubicBezTo>
                  <a:lnTo>
                    <a:pt x="1993703" y="722184"/>
                  </a:lnTo>
                  <a:cubicBezTo>
                    <a:pt x="1993703" y="740086"/>
                    <a:pt x="1986591" y="757255"/>
                    <a:pt x="1973933" y="769914"/>
                  </a:cubicBezTo>
                  <a:cubicBezTo>
                    <a:pt x="1961274" y="782573"/>
                    <a:pt x="1944105" y="789684"/>
                    <a:pt x="1926203" y="789684"/>
                  </a:cubicBezTo>
                  <a:lnTo>
                    <a:pt x="67500" y="789684"/>
                  </a:lnTo>
                  <a:cubicBezTo>
                    <a:pt x="49598" y="789684"/>
                    <a:pt x="32429" y="782573"/>
                    <a:pt x="19770" y="769914"/>
                  </a:cubicBezTo>
                  <a:cubicBezTo>
                    <a:pt x="7112" y="757255"/>
                    <a:pt x="0" y="740086"/>
                    <a:pt x="0" y="722184"/>
                  </a:cubicBezTo>
                  <a:lnTo>
                    <a:pt x="0" y="67500"/>
                  </a:lnTo>
                  <a:cubicBezTo>
                    <a:pt x="0" y="49598"/>
                    <a:pt x="7112" y="32429"/>
                    <a:pt x="19770" y="19770"/>
                  </a:cubicBezTo>
                  <a:cubicBezTo>
                    <a:pt x="32429" y="7112"/>
                    <a:pt x="49598" y="0"/>
                    <a:pt x="67500"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28" id="28"/>
            <p:cNvSpPr txBox="true"/>
            <p:nvPr/>
          </p:nvSpPr>
          <p:spPr>
            <a:xfrm>
              <a:off x="0" y="-28575"/>
              <a:ext cx="1993703" cy="818259"/>
            </a:xfrm>
            <a:prstGeom prst="rect">
              <a:avLst/>
            </a:prstGeom>
          </p:spPr>
          <p:txBody>
            <a:bodyPr anchor="ctr" rtlCol="false" tIns="50800" lIns="50800" bIns="50800" rIns="50800"/>
            <a:lstStyle/>
            <a:p>
              <a:pPr algn="ctr">
                <a:lnSpc>
                  <a:spcPts val="2015"/>
                </a:lnSpc>
              </a:pPr>
            </a:p>
          </p:txBody>
        </p:sp>
      </p:grpSp>
      <p:grpSp>
        <p:nvGrpSpPr>
          <p:cNvPr name="Group 29" id="29"/>
          <p:cNvGrpSpPr/>
          <p:nvPr/>
        </p:nvGrpSpPr>
        <p:grpSpPr>
          <a:xfrm rot="0">
            <a:off x="10345740" y="6736337"/>
            <a:ext cx="1154202" cy="804358"/>
            <a:chOff x="0" y="0"/>
            <a:chExt cx="303987" cy="211847"/>
          </a:xfrm>
        </p:grpSpPr>
        <p:sp>
          <p:nvSpPr>
            <p:cNvPr name="Freeform 30" id="30"/>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31" id="31"/>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32" id="32"/>
          <p:cNvSpPr txBox="true"/>
          <p:nvPr/>
        </p:nvSpPr>
        <p:spPr>
          <a:xfrm rot="0">
            <a:off x="10497704" y="6964786"/>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08</a:t>
            </a:r>
          </a:p>
        </p:txBody>
      </p:sp>
      <p:sp>
        <p:nvSpPr>
          <p:cNvPr name="TextBox 33" id="33"/>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05</a:t>
            </a:r>
          </a:p>
        </p:txBody>
      </p:sp>
      <p:sp>
        <p:nvSpPr>
          <p:cNvPr name="TextBox 34" id="34"/>
          <p:cNvSpPr txBox="true"/>
          <p:nvPr/>
        </p:nvSpPr>
        <p:spPr>
          <a:xfrm rot="0">
            <a:off x="1208915" y="4288155"/>
            <a:ext cx="7121964" cy="1663066"/>
          </a:xfrm>
          <a:prstGeom prst="rect">
            <a:avLst/>
          </a:prstGeom>
        </p:spPr>
        <p:txBody>
          <a:bodyPr anchor="t" rtlCol="false" tIns="0" lIns="0" bIns="0" rIns="0">
            <a:spAutoFit/>
          </a:bodyPr>
          <a:lstStyle/>
          <a:p>
            <a:pPr algn="l">
              <a:lnSpc>
                <a:spcPts val="3359"/>
              </a:lnSpc>
            </a:pPr>
            <a:r>
              <a:rPr lang="en-US" sz="2399" spc="-112" b="true">
                <a:solidFill>
                  <a:srgbClr val="424242"/>
                </a:solidFill>
                <a:latin typeface="Open Sauce Bold"/>
                <a:ea typeface="Open Sauce Bold"/>
                <a:cs typeface="Open Sauce Bold"/>
                <a:sym typeface="Open Sauce Bold"/>
              </a:rPr>
              <a:t>Mengukur kontribusi masing-masing rating film terhadap total pendapatan untuk mengetahui kategori rating yang paling berperan dalam menghasilkan revenue.</a:t>
            </a:r>
          </a:p>
        </p:txBody>
      </p:sp>
      <p:sp>
        <p:nvSpPr>
          <p:cNvPr name="TextBox 35" id="35"/>
          <p:cNvSpPr txBox="true"/>
          <p:nvPr/>
        </p:nvSpPr>
        <p:spPr>
          <a:xfrm rot="0">
            <a:off x="9062075" y="4451984"/>
            <a:ext cx="7240465" cy="1243966"/>
          </a:xfrm>
          <a:prstGeom prst="rect">
            <a:avLst/>
          </a:prstGeom>
        </p:spPr>
        <p:txBody>
          <a:bodyPr anchor="t" rtlCol="false" tIns="0" lIns="0" bIns="0" rIns="0">
            <a:spAutoFit/>
          </a:bodyPr>
          <a:lstStyle/>
          <a:p>
            <a:pPr algn="l">
              <a:lnSpc>
                <a:spcPts val="3359"/>
              </a:lnSpc>
            </a:pPr>
            <a:r>
              <a:rPr lang="en-US" sz="2399" spc="-112" b="true">
                <a:solidFill>
                  <a:srgbClr val="424242"/>
                </a:solidFill>
                <a:latin typeface="Open Sauce Bold"/>
                <a:ea typeface="Open Sauce Bold"/>
                <a:cs typeface="Open Sauce Bold"/>
                <a:sym typeface="Open Sauce Bold"/>
              </a:rPr>
              <a:t>Menganalisis negara dengan jumlah transaksi dan pendapatan tertinggi untuk menentukan fokus strategi pemasaran.</a:t>
            </a:r>
          </a:p>
        </p:txBody>
      </p:sp>
      <p:sp>
        <p:nvSpPr>
          <p:cNvPr name="TextBox 36" id="36"/>
          <p:cNvSpPr txBox="true"/>
          <p:nvPr/>
        </p:nvSpPr>
        <p:spPr>
          <a:xfrm rot="0">
            <a:off x="2124058" y="7959278"/>
            <a:ext cx="7089980" cy="1243966"/>
          </a:xfrm>
          <a:prstGeom prst="rect">
            <a:avLst/>
          </a:prstGeom>
        </p:spPr>
        <p:txBody>
          <a:bodyPr anchor="t" rtlCol="false" tIns="0" lIns="0" bIns="0" rIns="0">
            <a:spAutoFit/>
          </a:bodyPr>
          <a:lstStyle/>
          <a:p>
            <a:pPr algn="l">
              <a:lnSpc>
                <a:spcPts val="3359"/>
              </a:lnSpc>
            </a:pPr>
            <a:r>
              <a:rPr lang="en-US" sz="2399" spc="-112" b="true">
                <a:solidFill>
                  <a:srgbClr val="424242"/>
                </a:solidFill>
                <a:latin typeface="Open Sauce Bold"/>
                <a:ea typeface="Open Sauce Bold"/>
                <a:cs typeface="Open Sauce Bold"/>
                <a:sym typeface="Open Sauce Bold"/>
              </a:rPr>
              <a:t>Mengidentifikasi kelompok pelanggan paling bernilai untuk meningkatkan retensi dan profitabilitas bisnis.</a:t>
            </a:r>
          </a:p>
        </p:txBody>
      </p:sp>
      <p:sp>
        <p:nvSpPr>
          <p:cNvPr name="TextBox 37" id="37"/>
          <p:cNvSpPr txBox="true"/>
          <p:nvPr/>
        </p:nvSpPr>
        <p:spPr>
          <a:xfrm rot="0">
            <a:off x="2634037" y="3474937"/>
            <a:ext cx="4815344" cy="826643"/>
          </a:xfrm>
          <a:prstGeom prst="rect">
            <a:avLst/>
          </a:prstGeom>
        </p:spPr>
        <p:txBody>
          <a:bodyPr anchor="t" rtlCol="false" tIns="0" lIns="0" bIns="0" rIns="0">
            <a:spAutoFit/>
          </a:bodyPr>
          <a:lstStyle/>
          <a:p>
            <a:pPr algn="l">
              <a:lnSpc>
                <a:spcPts val="3196"/>
              </a:lnSpc>
            </a:pPr>
            <a:r>
              <a:rPr lang="en-US" sz="3400" spc="-159" b="true">
                <a:solidFill>
                  <a:srgbClr val="424242"/>
                </a:solidFill>
                <a:latin typeface="Open Sauce Heavy"/>
                <a:ea typeface="Open Sauce Heavy"/>
                <a:cs typeface="Open Sauce Heavy"/>
                <a:sym typeface="Open Sauce Heavy"/>
              </a:rPr>
              <a:t>Revenue Contribution by Film Rating</a:t>
            </a:r>
          </a:p>
        </p:txBody>
      </p:sp>
      <p:sp>
        <p:nvSpPr>
          <p:cNvPr name="TextBox 38" id="38"/>
          <p:cNvSpPr txBox="true"/>
          <p:nvPr/>
        </p:nvSpPr>
        <p:spPr>
          <a:xfrm rot="0">
            <a:off x="11832593" y="6964786"/>
            <a:ext cx="5664246"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Penalty Revenue Contribution</a:t>
            </a:r>
          </a:p>
        </p:txBody>
      </p:sp>
      <p:sp>
        <p:nvSpPr>
          <p:cNvPr name="TextBox 39" id="39"/>
          <p:cNvSpPr txBox="true"/>
          <p:nvPr/>
        </p:nvSpPr>
        <p:spPr>
          <a:xfrm rot="0">
            <a:off x="10345740" y="8014334"/>
            <a:ext cx="7240465" cy="1243966"/>
          </a:xfrm>
          <a:prstGeom prst="rect">
            <a:avLst/>
          </a:prstGeom>
        </p:spPr>
        <p:txBody>
          <a:bodyPr anchor="t" rtlCol="false" tIns="0" lIns="0" bIns="0" rIns="0">
            <a:spAutoFit/>
          </a:bodyPr>
          <a:lstStyle/>
          <a:p>
            <a:pPr algn="l">
              <a:lnSpc>
                <a:spcPts val="3359"/>
              </a:lnSpc>
            </a:pPr>
            <a:r>
              <a:rPr lang="en-US" sz="2399" spc="-112" b="true">
                <a:solidFill>
                  <a:srgbClr val="424242"/>
                </a:solidFill>
                <a:latin typeface="Open Sauce Bold"/>
                <a:ea typeface="Open Sauce Bold"/>
                <a:cs typeface="Open Sauce Bold"/>
                <a:sym typeface="Open Sauce Bold"/>
              </a:rPr>
              <a:t>Menghitung seberapa besar toko bergantung pada uang denda orang yang telat mengembalikan kaset, bukan dari sewa normal.</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Bold"/>
                <a:ea typeface="Open Sauce Bold"/>
                <a:cs typeface="Open Sauce Bold"/>
                <a:sym typeface="Open Sauce Bold"/>
              </a:rPr>
              <a:t>Business Metrics</a:t>
            </a:r>
          </a:p>
        </p:txBody>
      </p:sp>
      <p:grpSp>
        <p:nvGrpSpPr>
          <p:cNvPr name="Group 4" id="4"/>
          <p:cNvGrpSpPr/>
          <p:nvPr/>
        </p:nvGrpSpPr>
        <p:grpSpPr>
          <a:xfrm rot="0">
            <a:off x="901975" y="3061729"/>
            <a:ext cx="7653231" cy="2998333"/>
            <a:chOff x="0" y="0"/>
            <a:chExt cx="2015666" cy="789684"/>
          </a:xfrm>
        </p:grpSpPr>
        <p:sp>
          <p:nvSpPr>
            <p:cNvPr name="Freeform 5" id="5"/>
            <p:cNvSpPr/>
            <p:nvPr/>
          </p:nvSpPr>
          <p:spPr>
            <a:xfrm flipH="false" flipV="false" rot="0">
              <a:off x="0" y="0"/>
              <a:ext cx="2015666" cy="789684"/>
            </a:xfrm>
            <a:custGeom>
              <a:avLst/>
              <a:gdLst/>
              <a:ahLst/>
              <a:cxnLst/>
              <a:rect r="r" b="b" t="t" l="l"/>
              <a:pathLst>
                <a:path h="789684" w="2015666">
                  <a:moveTo>
                    <a:pt x="66765" y="0"/>
                  </a:moveTo>
                  <a:lnTo>
                    <a:pt x="1948901" y="0"/>
                  </a:lnTo>
                  <a:cubicBezTo>
                    <a:pt x="1966608" y="0"/>
                    <a:pt x="1983590" y="7034"/>
                    <a:pt x="1996111" y="19555"/>
                  </a:cubicBezTo>
                  <a:cubicBezTo>
                    <a:pt x="2008632" y="32076"/>
                    <a:pt x="2015666" y="49058"/>
                    <a:pt x="2015666" y="66765"/>
                  </a:cubicBezTo>
                  <a:lnTo>
                    <a:pt x="2015666" y="722920"/>
                  </a:lnTo>
                  <a:cubicBezTo>
                    <a:pt x="2015666" y="759793"/>
                    <a:pt x="1985774" y="789684"/>
                    <a:pt x="1948901" y="789684"/>
                  </a:cubicBezTo>
                  <a:lnTo>
                    <a:pt x="66765" y="789684"/>
                  </a:lnTo>
                  <a:cubicBezTo>
                    <a:pt x="29892" y="789684"/>
                    <a:pt x="0" y="759793"/>
                    <a:pt x="0" y="722920"/>
                  </a:cubicBezTo>
                  <a:lnTo>
                    <a:pt x="0" y="66765"/>
                  </a:lnTo>
                  <a:cubicBezTo>
                    <a:pt x="0" y="29892"/>
                    <a:pt x="29892" y="0"/>
                    <a:pt x="66765"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2015666" cy="818259"/>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2560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0" id="10"/>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09</a:t>
            </a:r>
          </a:p>
        </p:txBody>
      </p:sp>
      <p:sp>
        <p:nvSpPr>
          <p:cNvPr name="TextBox 11" id="11"/>
          <p:cNvSpPr txBox="true"/>
          <p:nvPr/>
        </p:nvSpPr>
        <p:spPr>
          <a:xfrm rot="0">
            <a:off x="1208915" y="4318634"/>
            <a:ext cx="7121964" cy="1243966"/>
          </a:xfrm>
          <a:prstGeom prst="rect">
            <a:avLst/>
          </a:prstGeom>
        </p:spPr>
        <p:txBody>
          <a:bodyPr anchor="t" rtlCol="false" tIns="0" lIns="0" bIns="0" rIns="0">
            <a:spAutoFit/>
          </a:bodyPr>
          <a:lstStyle/>
          <a:p>
            <a:pPr algn="l">
              <a:lnSpc>
                <a:spcPts val="3359"/>
              </a:lnSpc>
            </a:pPr>
            <a:r>
              <a:rPr lang="en-US" sz="2399" spc="-112" b="true">
                <a:solidFill>
                  <a:srgbClr val="424242"/>
                </a:solidFill>
                <a:latin typeface="Open Sauce Bold"/>
                <a:ea typeface="Open Sauce Bold"/>
                <a:cs typeface="Open Sauce Bold"/>
                <a:sym typeface="Open Sauce Bold"/>
              </a:rPr>
              <a:t>Mengukur rata-rata uang yang berhasil dikumpulkan oleh masing-masing kasir saat mereka berjaga.</a:t>
            </a:r>
          </a:p>
        </p:txBody>
      </p:sp>
      <p:sp>
        <p:nvSpPr>
          <p:cNvPr name="TextBox 12" id="12"/>
          <p:cNvSpPr txBox="true"/>
          <p:nvPr/>
        </p:nvSpPr>
        <p:spPr>
          <a:xfrm rot="0">
            <a:off x="2634037" y="3484462"/>
            <a:ext cx="5696843"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Staff Revenue Productivity</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Insight</a:t>
            </a:r>
          </a:p>
        </p:txBody>
      </p:sp>
      <p:grpSp>
        <p:nvGrpSpPr>
          <p:cNvPr name="Group 4" id="4"/>
          <p:cNvGrpSpPr/>
          <p:nvPr/>
        </p:nvGrpSpPr>
        <p:grpSpPr>
          <a:xfrm rot="0">
            <a:off x="901975" y="3061729"/>
            <a:ext cx="16357325" cy="2725003"/>
            <a:chOff x="0" y="0"/>
            <a:chExt cx="4308102" cy="717696"/>
          </a:xfrm>
        </p:grpSpPr>
        <p:sp>
          <p:nvSpPr>
            <p:cNvPr name="Freeform 5" id="5"/>
            <p:cNvSpPr/>
            <p:nvPr/>
          </p:nvSpPr>
          <p:spPr>
            <a:xfrm flipH="false" flipV="false" rot="0">
              <a:off x="0" y="0"/>
              <a:ext cx="4308102" cy="717696"/>
            </a:xfrm>
            <a:custGeom>
              <a:avLst/>
              <a:gdLst/>
              <a:ahLst/>
              <a:cxnLst/>
              <a:rect r="r" b="b" t="t" l="l"/>
              <a:pathLst>
                <a:path h="717696" w="4308102">
                  <a:moveTo>
                    <a:pt x="31238" y="0"/>
                  </a:moveTo>
                  <a:lnTo>
                    <a:pt x="4276865" y="0"/>
                  </a:lnTo>
                  <a:cubicBezTo>
                    <a:pt x="4285149" y="0"/>
                    <a:pt x="4293095" y="3291"/>
                    <a:pt x="4298953" y="9149"/>
                  </a:cubicBezTo>
                  <a:cubicBezTo>
                    <a:pt x="4304811" y="15008"/>
                    <a:pt x="4308102" y="22953"/>
                    <a:pt x="4308102" y="31238"/>
                  </a:cubicBezTo>
                  <a:lnTo>
                    <a:pt x="4308102" y="686458"/>
                  </a:lnTo>
                  <a:cubicBezTo>
                    <a:pt x="4308102" y="694743"/>
                    <a:pt x="4304811" y="702689"/>
                    <a:pt x="4298953" y="708547"/>
                  </a:cubicBezTo>
                  <a:cubicBezTo>
                    <a:pt x="4293095" y="714405"/>
                    <a:pt x="4285149" y="717696"/>
                    <a:pt x="4276865" y="717696"/>
                  </a:cubicBezTo>
                  <a:lnTo>
                    <a:pt x="31238" y="717696"/>
                  </a:lnTo>
                  <a:cubicBezTo>
                    <a:pt x="22953" y="717696"/>
                    <a:pt x="15008" y="714405"/>
                    <a:pt x="9149" y="708547"/>
                  </a:cubicBezTo>
                  <a:cubicBezTo>
                    <a:pt x="3291" y="702689"/>
                    <a:pt x="0" y="694743"/>
                    <a:pt x="0" y="686458"/>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308102" cy="746271"/>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2560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901975" y="6034381"/>
            <a:ext cx="16357325" cy="2769659"/>
            <a:chOff x="0" y="0"/>
            <a:chExt cx="4308102" cy="729457"/>
          </a:xfrm>
        </p:grpSpPr>
        <p:sp>
          <p:nvSpPr>
            <p:cNvPr name="Freeform 11" id="11"/>
            <p:cNvSpPr/>
            <p:nvPr/>
          </p:nvSpPr>
          <p:spPr>
            <a:xfrm flipH="false" flipV="false" rot="0">
              <a:off x="0" y="0"/>
              <a:ext cx="4308102" cy="729457"/>
            </a:xfrm>
            <a:custGeom>
              <a:avLst/>
              <a:gdLst/>
              <a:ahLst/>
              <a:cxnLst/>
              <a:rect r="r" b="b" t="t" l="l"/>
              <a:pathLst>
                <a:path h="729457" w="4308102">
                  <a:moveTo>
                    <a:pt x="31238" y="0"/>
                  </a:moveTo>
                  <a:lnTo>
                    <a:pt x="4276865" y="0"/>
                  </a:lnTo>
                  <a:cubicBezTo>
                    <a:pt x="4285149" y="0"/>
                    <a:pt x="4293095" y="3291"/>
                    <a:pt x="4298953" y="9149"/>
                  </a:cubicBezTo>
                  <a:cubicBezTo>
                    <a:pt x="4304811" y="15008"/>
                    <a:pt x="4308102" y="22953"/>
                    <a:pt x="4308102" y="31238"/>
                  </a:cubicBezTo>
                  <a:lnTo>
                    <a:pt x="4308102" y="698220"/>
                  </a:lnTo>
                  <a:cubicBezTo>
                    <a:pt x="4308102" y="715472"/>
                    <a:pt x="4294117" y="729457"/>
                    <a:pt x="4276865" y="729457"/>
                  </a:cubicBezTo>
                  <a:lnTo>
                    <a:pt x="31238" y="729457"/>
                  </a:lnTo>
                  <a:cubicBezTo>
                    <a:pt x="22953" y="729457"/>
                    <a:pt x="15008" y="726166"/>
                    <a:pt x="9149" y="720308"/>
                  </a:cubicBezTo>
                  <a:cubicBezTo>
                    <a:pt x="3291" y="714450"/>
                    <a:pt x="0" y="706504"/>
                    <a:pt x="0" y="698220"/>
                  </a:cubicBezTo>
                  <a:lnTo>
                    <a:pt x="0" y="31238"/>
                  </a:lnTo>
                  <a:cubicBezTo>
                    <a:pt x="0" y="22953"/>
                    <a:pt x="3291" y="15008"/>
                    <a:pt x="9149" y="9149"/>
                  </a:cubicBezTo>
                  <a:cubicBezTo>
                    <a:pt x="15008" y="3291"/>
                    <a:pt x="22953" y="0"/>
                    <a:pt x="31238"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4308102" cy="758032"/>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1249978" y="6262981"/>
            <a:ext cx="1154202" cy="804358"/>
            <a:chOff x="0" y="0"/>
            <a:chExt cx="303987" cy="211847"/>
          </a:xfrm>
        </p:grpSpPr>
        <p:sp>
          <p:nvSpPr>
            <p:cNvPr name="Freeform 14" id="14"/>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5" id="15"/>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6" id="16"/>
          <p:cNvSpPr txBox="true"/>
          <p:nvPr/>
        </p:nvSpPr>
        <p:spPr>
          <a:xfrm rot="0">
            <a:off x="1401941" y="6491430"/>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02</a:t>
            </a:r>
          </a:p>
        </p:txBody>
      </p:sp>
      <p:sp>
        <p:nvSpPr>
          <p:cNvPr name="TextBox 17" id="17"/>
          <p:cNvSpPr txBox="true"/>
          <p:nvPr/>
        </p:nvSpPr>
        <p:spPr>
          <a:xfrm rot="0">
            <a:off x="2736831" y="6467612"/>
            <a:ext cx="7417026"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Performa Penjualan Setiap Toko</a:t>
            </a:r>
          </a:p>
        </p:txBody>
      </p:sp>
      <p:sp>
        <p:nvSpPr>
          <p:cNvPr name="TextBox 18" id="18"/>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01</a:t>
            </a:r>
          </a:p>
        </p:txBody>
      </p:sp>
      <p:sp>
        <p:nvSpPr>
          <p:cNvPr name="TextBox 19" id="19"/>
          <p:cNvSpPr txBox="true"/>
          <p:nvPr/>
        </p:nvSpPr>
        <p:spPr>
          <a:xfrm rot="0">
            <a:off x="2663943" y="3460643"/>
            <a:ext cx="5666936"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Pendapatan Bulanan</a:t>
            </a:r>
          </a:p>
        </p:txBody>
      </p:sp>
      <p:sp>
        <p:nvSpPr>
          <p:cNvPr name="TextBox 20" id="20"/>
          <p:cNvSpPr txBox="true"/>
          <p:nvPr/>
        </p:nvSpPr>
        <p:spPr>
          <a:xfrm rot="0">
            <a:off x="1177090" y="4122482"/>
            <a:ext cx="15922856" cy="139700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Denda keterlambatan di toko Sakila dapat menjadi sumber pendapatan pasif (secondary revenue stream). Pelanggan di toko ini memiliki kecenderungan tinggi untuk telat mengembalikan DVD.</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Bulan Juli dan Agustus merupakan peak season toko ini. Kemungkinan besar ini dipengaruhi oleh faktor eksternal seperti liburan musim panas (summer break), di mana orang-orang memiliki lebih banyak waktu luang untuk menyewa dan menonton film di rumah.</a:t>
            </a:r>
          </a:p>
        </p:txBody>
      </p:sp>
      <p:sp>
        <p:nvSpPr>
          <p:cNvPr name="TextBox 21" id="21"/>
          <p:cNvSpPr txBox="true"/>
          <p:nvPr/>
        </p:nvSpPr>
        <p:spPr>
          <a:xfrm rot="0">
            <a:off x="1249978" y="7134014"/>
            <a:ext cx="15849968" cy="139700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Sebanyak 50% dari total pelanggan di kedua toko memiliki rentang pengeluaran akumulatif yang sama, yaitu antara 40 dollar hingga 70 dollar. Ini menunjukkan pengeluaran pelanggan utama di kedua toko sangat mirip.</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Secara statistik nilai tengah, performa penjualan dan kontribusi dari pelanggan reguler di Toko 1 dan Toko 2 adalah seimbang.</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Toko 1 memiliki nilai transaksi ekstrem per pelanggan yang lebih tinggi dibandingkan Toko 2.</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Insight</a:t>
            </a:r>
          </a:p>
        </p:txBody>
      </p:sp>
      <p:grpSp>
        <p:nvGrpSpPr>
          <p:cNvPr name="Group 4" id="4"/>
          <p:cNvGrpSpPr/>
          <p:nvPr/>
        </p:nvGrpSpPr>
        <p:grpSpPr>
          <a:xfrm rot="0">
            <a:off x="901975" y="3061729"/>
            <a:ext cx="16357325" cy="3153079"/>
            <a:chOff x="0" y="0"/>
            <a:chExt cx="4308102" cy="830441"/>
          </a:xfrm>
        </p:grpSpPr>
        <p:sp>
          <p:nvSpPr>
            <p:cNvPr name="Freeform 5" id="5"/>
            <p:cNvSpPr/>
            <p:nvPr/>
          </p:nvSpPr>
          <p:spPr>
            <a:xfrm flipH="false" flipV="false" rot="0">
              <a:off x="0" y="0"/>
              <a:ext cx="4308102" cy="830441"/>
            </a:xfrm>
            <a:custGeom>
              <a:avLst/>
              <a:gdLst/>
              <a:ahLst/>
              <a:cxnLst/>
              <a:rect r="r" b="b" t="t" l="l"/>
              <a:pathLst>
                <a:path h="830441" w="4308102">
                  <a:moveTo>
                    <a:pt x="31238" y="0"/>
                  </a:moveTo>
                  <a:lnTo>
                    <a:pt x="4276865" y="0"/>
                  </a:lnTo>
                  <a:cubicBezTo>
                    <a:pt x="4285149" y="0"/>
                    <a:pt x="4293095" y="3291"/>
                    <a:pt x="4298953" y="9149"/>
                  </a:cubicBezTo>
                  <a:cubicBezTo>
                    <a:pt x="4304811" y="15008"/>
                    <a:pt x="4308102" y="22953"/>
                    <a:pt x="4308102" y="31238"/>
                  </a:cubicBezTo>
                  <a:lnTo>
                    <a:pt x="4308102" y="799203"/>
                  </a:lnTo>
                  <a:cubicBezTo>
                    <a:pt x="4308102" y="807488"/>
                    <a:pt x="4304811" y="815433"/>
                    <a:pt x="4298953" y="821291"/>
                  </a:cubicBezTo>
                  <a:cubicBezTo>
                    <a:pt x="4293095" y="827150"/>
                    <a:pt x="4285149" y="830441"/>
                    <a:pt x="4276865" y="830441"/>
                  </a:cubicBezTo>
                  <a:lnTo>
                    <a:pt x="31238" y="830441"/>
                  </a:lnTo>
                  <a:cubicBezTo>
                    <a:pt x="22953" y="830441"/>
                    <a:pt x="15008" y="827150"/>
                    <a:pt x="9149" y="821291"/>
                  </a:cubicBezTo>
                  <a:cubicBezTo>
                    <a:pt x="3291" y="815433"/>
                    <a:pt x="0" y="807488"/>
                    <a:pt x="0" y="799203"/>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308102" cy="859016"/>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2560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901975" y="6462458"/>
            <a:ext cx="16357325" cy="2769659"/>
            <a:chOff x="0" y="0"/>
            <a:chExt cx="4308102" cy="729457"/>
          </a:xfrm>
        </p:grpSpPr>
        <p:sp>
          <p:nvSpPr>
            <p:cNvPr name="Freeform 11" id="11"/>
            <p:cNvSpPr/>
            <p:nvPr/>
          </p:nvSpPr>
          <p:spPr>
            <a:xfrm flipH="false" flipV="false" rot="0">
              <a:off x="0" y="0"/>
              <a:ext cx="4308102" cy="729457"/>
            </a:xfrm>
            <a:custGeom>
              <a:avLst/>
              <a:gdLst/>
              <a:ahLst/>
              <a:cxnLst/>
              <a:rect r="r" b="b" t="t" l="l"/>
              <a:pathLst>
                <a:path h="729457" w="4308102">
                  <a:moveTo>
                    <a:pt x="31238" y="0"/>
                  </a:moveTo>
                  <a:lnTo>
                    <a:pt x="4276865" y="0"/>
                  </a:lnTo>
                  <a:cubicBezTo>
                    <a:pt x="4285149" y="0"/>
                    <a:pt x="4293095" y="3291"/>
                    <a:pt x="4298953" y="9149"/>
                  </a:cubicBezTo>
                  <a:cubicBezTo>
                    <a:pt x="4304811" y="15008"/>
                    <a:pt x="4308102" y="22953"/>
                    <a:pt x="4308102" y="31238"/>
                  </a:cubicBezTo>
                  <a:lnTo>
                    <a:pt x="4308102" y="698220"/>
                  </a:lnTo>
                  <a:cubicBezTo>
                    <a:pt x="4308102" y="715472"/>
                    <a:pt x="4294117" y="729457"/>
                    <a:pt x="4276865" y="729457"/>
                  </a:cubicBezTo>
                  <a:lnTo>
                    <a:pt x="31238" y="729457"/>
                  </a:lnTo>
                  <a:cubicBezTo>
                    <a:pt x="22953" y="729457"/>
                    <a:pt x="15008" y="726166"/>
                    <a:pt x="9149" y="720308"/>
                  </a:cubicBezTo>
                  <a:cubicBezTo>
                    <a:pt x="3291" y="714450"/>
                    <a:pt x="0" y="706504"/>
                    <a:pt x="0" y="698220"/>
                  </a:cubicBezTo>
                  <a:lnTo>
                    <a:pt x="0" y="31238"/>
                  </a:lnTo>
                  <a:cubicBezTo>
                    <a:pt x="0" y="22953"/>
                    <a:pt x="3291" y="15008"/>
                    <a:pt x="9149" y="9149"/>
                  </a:cubicBezTo>
                  <a:cubicBezTo>
                    <a:pt x="15008" y="3291"/>
                    <a:pt x="22953" y="0"/>
                    <a:pt x="31238"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4308102" cy="758032"/>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1249978" y="6691058"/>
            <a:ext cx="1154202" cy="804358"/>
            <a:chOff x="0" y="0"/>
            <a:chExt cx="303987" cy="211847"/>
          </a:xfrm>
        </p:grpSpPr>
        <p:sp>
          <p:nvSpPr>
            <p:cNvPr name="Freeform 14" id="14"/>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5" id="15"/>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6" id="16"/>
          <p:cNvSpPr txBox="true"/>
          <p:nvPr/>
        </p:nvSpPr>
        <p:spPr>
          <a:xfrm rot="0">
            <a:off x="1401941" y="6919507"/>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04</a:t>
            </a:r>
          </a:p>
        </p:txBody>
      </p:sp>
      <p:sp>
        <p:nvSpPr>
          <p:cNvPr name="TextBox 17" id="17"/>
          <p:cNvSpPr txBox="true"/>
          <p:nvPr/>
        </p:nvSpPr>
        <p:spPr>
          <a:xfrm rot="0">
            <a:off x="2736831" y="6895688"/>
            <a:ext cx="1282717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Durasi Rental Berdasarkan Rating Film</a:t>
            </a:r>
          </a:p>
        </p:txBody>
      </p:sp>
      <p:sp>
        <p:nvSpPr>
          <p:cNvPr name="TextBox 18" id="18"/>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03</a:t>
            </a:r>
          </a:p>
        </p:txBody>
      </p:sp>
      <p:sp>
        <p:nvSpPr>
          <p:cNvPr name="TextBox 19" id="19"/>
          <p:cNvSpPr txBox="true"/>
          <p:nvPr/>
        </p:nvSpPr>
        <p:spPr>
          <a:xfrm rot="0">
            <a:off x="2663943" y="3460643"/>
            <a:ext cx="1397151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Total Pendapatan per Genre</a:t>
            </a:r>
          </a:p>
        </p:txBody>
      </p:sp>
      <p:sp>
        <p:nvSpPr>
          <p:cNvPr name="TextBox 20" id="20"/>
          <p:cNvSpPr txBox="true"/>
          <p:nvPr/>
        </p:nvSpPr>
        <p:spPr>
          <a:xfrm rot="0">
            <a:off x="1177090" y="4122482"/>
            <a:ext cx="15922856" cy="174942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Genre Sports adalah produk paling populer dan menjadi penggerak utama bagi total pendapatan toko film Sakila.</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Genre Sci-Fi, Animation, Drama, Comedy, New, Action, Foreign, Games, Documentary, dan Family </a:t>
            </a:r>
            <a:r>
              <a:rPr lang="en-US" b="true" sz="1999" spc="-93">
                <a:solidFill>
                  <a:srgbClr val="424242"/>
                </a:solidFill>
                <a:latin typeface="Open Sauce Bold"/>
                <a:ea typeface="Open Sauce Bold"/>
                <a:cs typeface="Open Sauce Bold"/>
                <a:sym typeface="Open Sauce Bold"/>
              </a:rPr>
              <a:t>adalah kategori film yang memiliki pasar yang stabil dan konsisten.</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Genre Music, Travel, Classic kurang diminati oleh basis pelanggan toko Sakila, sehingga perputaran uang pada kategori ini berjalan lambat.</a:t>
            </a:r>
          </a:p>
        </p:txBody>
      </p:sp>
      <p:sp>
        <p:nvSpPr>
          <p:cNvPr name="TextBox 21" id="21"/>
          <p:cNvSpPr txBox="true"/>
          <p:nvPr/>
        </p:nvSpPr>
        <p:spPr>
          <a:xfrm rot="0">
            <a:off x="1249978" y="7562090"/>
            <a:ext cx="15849968" cy="139700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Pelanggan cenderung mengembalikan film dalam rentang waktu yang relatif sama untuk seluruh kategori rating film.</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Penyebaran durasi rental pada setiap rating film hampir sama.</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Tidak terdapat perbedaan perilaku rental yang signifikan antara pelanggan yang menyewa film untuk semua umur (G) maupun film dewasa (NC-17).</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Insight</a:t>
            </a:r>
          </a:p>
        </p:txBody>
      </p:sp>
      <p:grpSp>
        <p:nvGrpSpPr>
          <p:cNvPr name="Group 4" id="4"/>
          <p:cNvGrpSpPr/>
          <p:nvPr/>
        </p:nvGrpSpPr>
        <p:grpSpPr>
          <a:xfrm rot="0">
            <a:off x="901975" y="3061729"/>
            <a:ext cx="16357325" cy="3153079"/>
            <a:chOff x="0" y="0"/>
            <a:chExt cx="4308102" cy="830441"/>
          </a:xfrm>
        </p:grpSpPr>
        <p:sp>
          <p:nvSpPr>
            <p:cNvPr name="Freeform 5" id="5"/>
            <p:cNvSpPr/>
            <p:nvPr/>
          </p:nvSpPr>
          <p:spPr>
            <a:xfrm flipH="false" flipV="false" rot="0">
              <a:off x="0" y="0"/>
              <a:ext cx="4308102" cy="830441"/>
            </a:xfrm>
            <a:custGeom>
              <a:avLst/>
              <a:gdLst/>
              <a:ahLst/>
              <a:cxnLst/>
              <a:rect r="r" b="b" t="t" l="l"/>
              <a:pathLst>
                <a:path h="830441" w="4308102">
                  <a:moveTo>
                    <a:pt x="31238" y="0"/>
                  </a:moveTo>
                  <a:lnTo>
                    <a:pt x="4276865" y="0"/>
                  </a:lnTo>
                  <a:cubicBezTo>
                    <a:pt x="4285149" y="0"/>
                    <a:pt x="4293095" y="3291"/>
                    <a:pt x="4298953" y="9149"/>
                  </a:cubicBezTo>
                  <a:cubicBezTo>
                    <a:pt x="4304811" y="15008"/>
                    <a:pt x="4308102" y="22953"/>
                    <a:pt x="4308102" y="31238"/>
                  </a:cubicBezTo>
                  <a:lnTo>
                    <a:pt x="4308102" y="799203"/>
                  </a:lnTo>
                  <a:cubicBezTo>
                    <a:pt x="4308102" y="807488"/>
                    <a:pt x="4304811" y="815433"/>
                    <a:pt x="4298953" y="821291"/>
                  </a:cubicBezTo>
                  <a:cubicBezTo>
                    <a:pt x="4293095" y="827150"/>
                    <a:pt x="4285149" y="830441"/>
                    <a:pt x="4276865" y="830441"/>
                  </a:cubicBezTo>
                  <a:lnTo>
                    <a:pt x="31238" y="830441"/>
                  </a:lnTo>
                  <a:cubicBezTo>
                    <a:pt x="22953" y="830441"/>
                    <a:pt x="15008" y="827150"/>
                    <a:pt x="9149" y="821291"/>
                  </a:cubicBezTo>
                  <a:cubicBezTo>
                    <a:pt x="3291" y="815433"/>
                    <a:pt x="0" y="807488"/>
                    <a:pt x="0" y="799203"/>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308102" cy="859016"/>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2560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901975" y="6462458"/>
            <a:ext cx="16357325" cy="2769659"/>
            <a:chOff x="0" y="0"/>
            <a:chExt cx="4308102" cy="729457"/>
          </a:xfrm>
        </p:grpSpPr>
        <p:sp>
          <p:nvSpPr>
            <p:cNvPr name="Freeform 11" id="11"/>
            <p:cNvSpPr/>
            <p:nvPr/>
          </p:nvSpPr>
          <p:spPr>
            <a:xfrm flipH="false" flipV="false" rot="0">
              <a:off x="0" y="0"/>
              <a:ext cx="4308102" cy="729457"/>
            </a:xfrm>
            <a:custGeom>
              <a:avLst/>
              <a:gdLst/>
              <a:ahLst/>
              <a:cxnLst/>
              <a:rect r="r" b="b" t="t" l="l"/>
              <a:pathLst>
                <a:path h="729457" w="4308102">
                  <a:moveTo>
                    <a:pt x="31238" y="0"/>
                  </a:moveTo>
                  <a:lnTo>
                    <a:pt x="4276865" y="0"/>
                  </a:lnTo>
                  <a:cubicBezTo>
                    <a:pt x="4285149" y="0"/>
                    <a:pt x="4293095" y="3291"/>
                    <a:pt x="4298953" y="9149"/>
                  </a:cubicBezTo>
                  <a:cubicBezTo>
                    <a:pt x="4304811" y="15008"/>
                    <a:pt x="4308102" y="22953"/>
                    <a:pt x="4308102" y="31238"/>
                  </a:cubicBezTo>
                  <a:lnTo>
                    <a:pt x="4308102" y="698220"/>
                  </a:lnTo>
                  <a:cubicBezTo>
                    <a:pt x="4308102" y="715472"/>
                    <a:pt x="4294117" y="729457"/>
                    <a:pt x="4276865" y="729457"/>
                  </a:cubicBezTo>
                  <a:lnTo>
                    <a:pt x="31238" y="729457"/>
                  </a:lnTo>
                  <a:cubicBezTo>
                    <a:pt x="22953" y="729457"/>
                    <a:pt x="15008" y="726166"/>
                    <a:pt x="9149" y="720308"/>
                  </a:cubicBezTo>
                  <a:cubicBezTo>
                    <a:pt x="3291" y="714450"/>
                    <a:pt x="0" y="706504"/>
                    <a:pt x="0" y="698220"/>
                  </a:cubicBezTo>
                  <a:lnTo>
                    <a:pt x="0" y="31238"/>
                  </a:lnTo>
                  <a:cubicBezTo>
                    <a:pt x="0" y="22953"/>
                    <a:pt x="3291" y="15008"/>
                    <a:pt x="9149" y="9149"/>
                  </a:cubicBezTo>
                  <a:cubicBezTo>
                    <a:pt x="15008" y="3291"/>
                    <a:pt x="22953" y="0"/>
                    <a:pt x="31238"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4308102" cy="758032"/>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1249978" y="6691058"/>
            <a:ext cx="1154202" cy="804358"/>
            <a:chOff x="0" y="0"/>
            <a:chExt cx="303987" cy="211847"/>
          </a:xfrm>
        </p:grpSpPr>
        <p:sp>
          <p:nvSpPr>
            <p:cNvPr name="Freeform 14" id="14"/>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5" id="15"/>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6" id="16"/>
          <p:cNvSpPr txBox="true"/>
          <p:nvPr/>
        </p:nvSpPr>
        <p:spPr>
          <a:xfrm rot="0">
            <a:off x="1401941" y="6919507"/>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06</a:t>
            </a:r>
          </a:p>
        </p:txBody>
      </p:sp>
      <p:sp>
        <p:nvSpPr>
          <p:cNvPr name="TextBox 17" id="17"/>
          <p:cNvSpPr txBox="true"/>
          <p:nvPr/>
        </p:nvSpPr>
        <p:spPr>
          <a:xfrm rot="0">
            <a:off x="2736831" y="6895688"/>
            <a:ext cx="1282717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Basis Pelanggan Berdasarkan Negara/Kota</a:t>
            </a:r>
          </a:p>
        </p:txBody>
      </p:sp>
      <p:sp>
        <p:nvSpPr>
          <p:cNvPr name="TextBox 18" id="18"/>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05</a:t>
            </a:r>
          </a:p>
        </p:txBody>
      </p:sp>
      <p:sp>
        <p:nvSpPr>
          <p:cNvPr name="TextBox 19" id="19"/>
          <p:cNvSpPr txBox="true"/>
          <p:nvPr/>
        </p:nvSpPr>
        <p:spPr>
          <a:xfrm rot="0">
            <a:off x="2663943" y="3460643"/>
            <a:ext cx="1397151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Kontribusi Revenue Berdasarkan Rating Film</a:t>
            </a:r>
          </a:p>
        </p:txBody>
      </p:sp>
      <p:sp>
        <p:nvSpPr>
          <p:cNvPr name="TextBox 20" id="20"/>
          <p:cNvSpPr txBox="true"/>
          <p:nvPr/>
        </p:nvSpPr>
        <p:spPr>
          <a:xfrm rot="0">
            <a:off x="1249978" y="7533515"/>
            <a:ext cx="15849968" cy="139700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India menjadi negara dengan jumlah transaksi dan pendapatan tertinggi dibandingkan negara lainnya.</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Kontribusi pendapatan yang besar menunjukkan bahwa pasar India memiliki tingkat permintaan dan loyalitas pelanggan yang tinggi.</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Perusahaan dapat memprioritaskan strategi pemasaran dan program loyalitas di India untuk mempertahankan pertumbuhan pendapatan.</a:t>
            </a:r>
          </a:p>
        </p:txBody>
      </p:sp>
      <p:sp>
        <p:nvSpPr>
          <p:cNvPr name="TextBox 21" id="21"/>
          <p:cNvSpPr txBox="true"/>
          <p:nvPr/>
        </p:nvSpPr>
        <p:spPr>
          <a:xfrm rot="0">
            <a:off x="1249978" y="4098925"/>
            <a:ext cx="15849968" cy="210185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Rating PG-13 memberikan kontribusi pendapatan terbesar dengan proporsi sekitar 22,6% dari total revenue perusahaan (paling menguntungkan bagi toko).</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Seluruh kategori rating film memberikan kontribusi pendapatan yang relatif seimbang, dengan rentang kontribusi sekitar 17% hingga 23%, yang artinya pendapatan perusahaan tidak bergantung pada satu kategori rating tertentu.</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Rating G memiliki kontribusi revenue paling rendah dibandingkan kategori lainnya, tetapi tetap menyumbang porsi pendapatan yang cukup signifikan.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Insight</a:t>
            </a:r>
          </a:p>
        </p:txBody>
      </p:sp>
      <p:grpSp>
        <p:nvGrpSpPr>
          <p:cNvPr name="Group 4" id="4"/>
          <p:cNvGrpSpPr/>
          <p:nvPr/>
        </p:nvGrpSpPr>
        <p:grpSpPr>
          <a:xfrm rot="0">
            <a:off x="901975" y="3061729"/>
            <a:ext cx="16357325" cy="2081771"/>
            <a:chOff x="0" y="0"/>
            <a:chExt cx="4308102" cy="548285"/>
          </a:xfrm>
        </p:grpSpPr>
        <p:sp>
          <p:nvSpPr>
            <p:cNvPr name="Freeform 5" id="5"/>
            <p:cNvSpPr/>
            <p:nvPr/>
          </p:nvSpPr>
          <p:spPr>
            <a:xfrm flipH="false" flipV="false" rot="0">
              <a:off x="0" y="0"/>
              <a:ext cx="4308102" cy="548285"/>
            </a:xfrm>
            <a:custGeom>
              <a:avLst/>
              <a:gdLst/>
              <a:ahLst/>
              <a:cxnLst/>
              <a:rect r="r" b="b" t="t" l="l"/>
              <a:pathLst>
                <a:path h="548285" w="4308102">
                  <a:moveTo>
                    <a:pt x="31238" y="0"/>
                  </a:moveTo>
                  <a:lnTo>
                    <a:pt x="4276865" y="0"/>
                  </a:lnTo>
                  <a:cubicBezTo>
                    <a:pt x="4285149" y="0"/>
                    <a:pt x="4293095" y="3291"/>
                    <a:pt x="4298953" y="9149"/>
                  </a:cubicBezTo>
                  <a:cubicBezTo>
                    <a:pt x="4304811" y="15008"/>
                    <a:pt x="4308102" y="22953"/>
                    <a:pt x="4308102" y="31238"/>
                  </a:cubicBezTo>
                  <a:lnTo>
                    <a:pt x="4308102" y="517048"/>
                  </a:lnTo>
                  <a:cubicBezTo>
                    <a:pt x="4308102" y="525332"/>
                    <a:pt x="4304811" y="533278"/>
                    <a:pt x="4298953" y="539136"/>
                  </a:cubicBezTo>
                  <a:cubicBezTo>
                    <a:pt x="4293095" y="544994"/>
                    <a:pt x="4285149" y="548285"/>
                    <a:pt x="4276865" y="548285"/>
                  </a:cubicBezTo>
                  <a:lnTo>
                    <a:pt x="31238" y="548285"/>
                  </a:lnTo>
                  <a:cubicBezTo>
                    <a:pt x="22953" y="548285"/>
                    <a:pt x="15008" y="544994"/>
                    <a:pt x="9149" y="539136"/>
                  </a:cubicBezTo>
                  <a:cubicBezTo>
                    <a:pt x="3291" y="533278"/>
                    <a:pt x="0" y="525332"/>
                    <a:pt x="0" y="517048"/>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308102" cy="576860"/>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2560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901975" y="5219700"/>
            <a:ext cx="16357325" cy="2892078"/>
            <a:chOff x="0" y="0"/>
            <a:chExt cx="4308102" cy="761699"/>
          </a:xfrm>
        </p:grpSpPr>
        <p:sp>
          <p:nvSpPr>
            <p:cNvPr name="Freeform 11" id="11"/>
            <p:cNvSpPr/>
            <p:nvPr/>
          </p:nvSpPr>
          <p:spPr>
            <a:xfrm flipH="false" flipV="false" rot="0">
              <a:off x="0" y="0"/>
              <a:ext cx="4308102" cy="761699"/>
            </a:xfrm>
            <a:custGeom>
              <a:avLst/>
              <a:gdLst/>
              <a:ahLst/>
              <a:cxnLst/>
              <a:rect r="r" b="b" t="t" l="l"/>
              <a:pathLst>
                <a:path h="761699" w="4308102">
                  <a:moveTo>
                    <a:pt x="31238" y="0"/>
                  </a:moveTo>
                  <a:lnTo>
                    <a:pt x="4276865" y="0"/>
                  </a:lnTo>
                  <a:cubicBezTo>
                    <a:pt x="4285149" y="0"/>
                    <a:pt x="4293095" y="3291"/>
                    <a:pt x="4298953" y="9149"/>
                  </a:cubicBezTo>
                  <a:cubicBezTo>
                    <a:pt x="4304811" y="15008"/>
                    <a:pt x="4308102" y="22953"/>
                    <a:pt x="4308102" y="31238"/>
                  </a:cubicBezTo>
                  <a:lnTo>
                    <a:pt x="4308102" y="730462"/>
                  </a:lnTo>
                  <a:cubicBezTo>
                    <a:pt x="4308102" y="738746"/>
                    <a:pt x="4304811" y="746692"/>
                    <a:pt x="4298953" y="752550"/>
                  </a:cubicBezTo>
                  <a:cubicBezTo>
                    <a:pt x="4293095" y="758408"/>
                    <a:pt x="4285149" y="761699"/>
                    <a:pt x="4276865" y="761699"/>
                  </a:cubicBezTo>
                  <a:lnTo>
                    <a:pt x="31238" y="761699"/>
                  </a:lnTo>
                  <a:cubicBezTo>
                    <a:pt x="22953" y="761699"/>
                    <a:pt x="15008" y="758408"/>
                    <a:pt x="9149" y="752550"/>
                  </a:cubicBezTo>
                  <a:cubicBezTo>
                    <a:pt x="3291" y="746692"/>
                    <a:pt x="0" y="738746"/>
                    <a:pt x="0" y="730462"/>
                  </a:cubicBezTo>
                  <a:lnTo>
                    <a:pt x="0" y="31238"/>
                  </a:lnTo>
                  <a:cubicBezTo>
                    <a:pt x="0" y="22953"/>
                    <a:pt x="3291" y="15008"/>
                    <a:pt x="9149" y="9149"/>
                  </a:cubicBezTo>
                  <a:cubicBezTo>
                    <a:pt x="15008" y="3291"/>
                    <a:pt x="22953" y="0"/>
                    <a:pt x="31238"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4308102" cy="790274"/>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1249978" y="5448300"/>
            <a:ext cx="1154202" cy="804358"/>
            <a:chOff x="0" y="0"/>
            <a:chExt cx="303987" cy="211847"/>
          </a:xfrm>
        </p:grpSpPr>
        <p:sp>
          <p:nvSpPr>
            <p:cNvPr name="Freeform 14" id="14"/>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5" id="15"/>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6" id="16"/>
          <p:cNvSpPr txBox="true"/>
          <p:nvPr/>
        </p:nvSpPr>
        <p:spPr>
          <a:xfrm rot="0">
            <a:off x="1401941" y="5676749"/>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08</a:t>
            </a:r>
          </a:p>
        </p:txBody>
      </p:sp>
      <p:sp>
        <p:nvSpPr>
          <p:cNvPr name="TextBox 17" id="17"/>
          <p:cNvSpPr txBox="true"/>
          <p:nvPr/>
        </p:nvSpPr>
        <p:spPr>
          <a:xfrm rot="0">
            <a:off x="2736831" y="5652930"/>
            <a:ext cx="12827177"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Hubungan antara "Durasi Keterlambatan Pengembalian" vs "Total Denda yang Dibayar" </a:t>
            </a:r>
          </a:p>
        </p:txBody>
      </p:sp>
      <p:sp>
        <p:nvSpPr>
          <p:cNvPr name="TextBox 18" id="18"/>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07</a:t>
            </a:r>
          </a:p>
        </p:txBody>
      </p:sp>
      <p:sp>
        <p:nvSpPr>
          <p:cNvPr name="TextBox 19" id="19"/>
          <p:cNvSpPr txBox="true"/>
          <p:nvPr/>
        </p:nvSpPr>
        <p:spPr>
          <a:xfrm rot="0">
            <a:off x="2663943" y="3460643"/>
            <a:ext cx="1397151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Klasifikasi Customer Berdasarkan Total Spend </a:t>
            </a:r>
          </a:p>
        </p:txBody>
      </p:sp>
      <p:sp>
        <p:nvSpPr>
          <p:cNvPr name="TextBox 20" id="20"/>
          <p:cNvSpPr txBox="true"/>
          <p:nvPr/>
        </p:nvSpPr>
        <p:spPr>
          <a:xfrm rot="0">
            <a:off x="1177090" y="4096930"/>
            <a:ext cx="15849968" cy="69215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Mayoritas pelanggan berada pada segmen Silver sehingga segmen ini menjadi kontributor utama jumlah transaksi.</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Pelanggan Gold memiliki nilai transaksi rata-rata yang lebih tinggi dibandingkan segmen lainnya meskipun jumlahnya lebih sedikit.</a:t>
            </a:r>
          </a:p>
        </p:txBody>
      </p:sp>
      <p:sp>
        <p:nvSpPr>
          <p:cNvPr name="TextBox 21" id="21"/>
          <p:cNvSpPr txBox="true"/>
          <p:nvPr/>
        </p:nvSpPr>
        <p:spPr>
          <a:xfrm rot="0">
            <a:off x="1155653" y="6571902"/>
            <a:ext cx="15849968" cy="139700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Semakin lama jumlah hari keterlambatan pelanggan dalam mengembalikan kaset (sumbu X), maka total uang yang harus dibayarkan di kasir (sumbu Y) akan semakin membengkak secara konsisten.</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Tarif denda per hari yang diterapkan toko adalah sama rata (konstan) untuk semua jenis film (di database Sakila, tarif denda umumnya dipatok 1 dollar per hari keterlambatan).</a:t>
            </a:r>
          </a:p>
        </p:txBody>
      </p:sp>
      <p:grpSp>
        <p:nvGrpSpPr>
          <p:cNvPr name="Group 22" id="22"/>
          <p:cNvGrpSpPr/>
          <p:nvPr/>
        </p:nvGrpSpPr>
        <p:grpSpPr>
          <a:xfrm rot="0">
            <a:off x="901975" y="8330853"/>
            <a:ext cx="16357325" cy="1849818"/>
            <a:chOff x="0" y="0"/>
            <a:chExt cx="4308102" cy="487195"/>
          </a:xfrm>
        </p:grpSpPr>
        <p:sp>
          <p:nvSpPr>
            <p:cNvPr name="Freeform 23" id="23"/>
            <p:cNvSpPr/>
            <p:nvPr/>
          </p:nvSpPr>
          <p:spPr>
            <a:xfrm flipH="false" flipV="false" rot="0">
              <a:off x="0" y="0"/>
              <a:ext cx="4308102" cy="487195"/>
            </a:xfrm>
            <a:custGeom>
              <a:avLst/>
              <a:gdLst/>
              <a:ahLst/>
              <a:cxnLst/>
              <a:rect r="r" b="b" t="t" l="l"/>
              <a:pathLst>
                <a:path h="487195" w="4308102">
                  <a:moveTo>
                    <a:pt x="31238" y="0"/>
                  </a:moveTo>
                  <a:lnTo>
                    <a:pt x="4276865" y="0"/>
                  </a:lnTo>
                  <a:cubicBezTo>
                    <a:pt x="4285149" y="0"/>
                    <a:pt x="4293095" y="3291"/>
                    <a:pt x="4298953" y="9149"/>
                  </a:cubicBezTo>
                  <a:cubicBezTo>
                    <a:pt x="4304811" y="15008"/>
                    <a:pt x="4308102" y="22953"/>
                    <a:pt x="4308102" y="31238"/>
                  </a:cubicBezTo>
                  <a:lnTo>
                    <a:pt x="4308102" y="455957"/>
                  </a:lnTo>
                  <a:cubicBezTo>
                    <a:pt x="4308102" y="473209"/>
                    <a:pt x="4294117" y="487195"/>
                    <a:pt x="4276865" y="487195"/>
                  </a:cubicBezTo>
                  <a:lnTo>
                    <a:pt x="31238" y="487195"/>
                  </a:lnTo>
                  <a:cubicBezTo>
                    <a:pt x="22953" y="487195"/>
                    <a:pt x="15008" y="483904"/>
                    <a:pt x="9149" y="478045"/>
                  </a:cubicBezTo>
                  <a:cubicBezTo>
                    <a:pt x="3291" y="472187"/>
                    <a:pt x="0" y="464242"/>
                    <a:pt x="0" y="455957"/>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24" id="24"/>
            <p:cNvSpPr txBox="true"/>
            <p:nvPr/>
          </p:nvSpPr>
          <p:spPr>
            <a:xfrm>
              <a:off x="0" y="-28575"/>
              <a:ext cx="4308102" cy="515770"/>
            </a:xfrm>
            <a:prstGeom prst="rect">
              <a:avLst/>
            </a:prstGeom>
          </p:spPr>
          <p:txBody>
            <a:bodyPr anchor="ctr" rtlCol="false" tIns="50800" lIns="50800" bIns="50800" rIns="50800"/>
            <a:lstStyle/>
            <a:p>
              <a:pPr algn="ctr">
                <a:lnSpc>
                  <a:spcPts val="2015"/>
                </a:lnSpc>
              </a:pPr>
            </a:p>
          </p:txBody>
        </p:sp>
      </p:grpSp>
      <p:grpSp>
        <p:nvGrpSpPr>
          <p:cNvPr name="Group 25" id="25"/>
          <p:cNvGrpSpPr/>
          <p:nvPr/>
        </p:nvGrpSpPr>
        <p:grpSpPr>
          <a:xfrm rot="0">
            <a:off x="1177090" y="8525137"/>
            <a:ext cx="1154202" cy="804358"/>
            <a:chOff x="0" y="0"/>
            <a:chExt cx="303987" cy="211847"/>
          </a:xfrm>
        </p:grpSpPr>
        <p:sp>
          <p:nvSpPr>
            <p:cNvPr name="Freeform 26" id="26"/>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27" id="27"/>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28" id="28"/>
          <p:cNvSpPr txBox="true"/>
          <p:nvPr/>
        </p:nvSpPr>
        <p:spPr>
          <a:xfrm rot="0">
            <a:off x="1329054" y="8753586"/>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09</a:t>
            </a:r>
          </a:p>
        </p:txBody>
      </p:sp>
      <p:sp>
        <p:nvSpPr>
          <p:cNvPr name="TextBox 29" id="29"/>
          <p:cNvSpPr txBox="true"/>
          <p:nvPr/>
        </p:nvSpPr>
        <p:spPr>
          <a:xfrm rot="0">
            <a:off x="2663943" y="8729767"/>
            <a:ext cx="1397151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Performa Staf Berdasarkan Total Pendapatan </a:t>
            </a:r>
          </a:p>
        </p:txBody>
      </p:sp>
      <p:sp>
        <p:nvSpPr>
          <p:cNvPr name="TextBox 30" id="30"/>
          <p:cNvSpPr txBox="true"/>
          <p:nvPr/>
        </p:nvSpPr>
        <p:spPr>
          <a:xfrm rot="0">
            <a:off x="1177090" y="9366055"/>
            <a:ext cx="15849968" cy="69215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Pembagian beban kerja adil dan merata di antara para staf. Tidak ada ketimpangan di mana satu staf bekerja jauh lebih keras daripada staf lainnya. Siapa pun staf yang berjaga di meja depan, performa transaksi yang dihasilkan tetap stabil dan konsisten.</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Recommendation</a:t>
            </a:r>
          </a:p>
        </p:txBody>
      </p:sp>
      <p:grpSp>
        <p:nvGrpSpPr>
          <p:cNvPr name="Group 4" id="4"/>
          <p:cNvGrpSpPr/>
          <p:nvPr/>
        </p:nvGrpSpPr>
        <p:grpSpPr>
          <a:xfrm rot="0">
            <a:off x="901975" y="3061729"/>
            <a:ext cx="16357325" cy="3153079"/>
            <a:chOff x="0" y="0"/>
            <a:chExt cx="4308102" cy="830441"/>
          </a:xfrm>
        </p:grpSpPr>
        <p:sp>
          <p:nvSpPr>
            <p:cNvPr name="Freeform 5" id="5"/>
            <p:cNvSpPr/>
            <p:nvPr/>
          </p:nvSpPr>
          <p:spPr>
            <a:xfrm flipH="false" flipV="false" rot="0">
              <a:off x="0" y="0"/>
              <a:ext cx="4308102" cy="830441"/>
            </a:xfrm>
            <a:custGeom>
              <a:avLst/>
              <a:gdLst/>
              <a:ahLst/>
              <a:cxnLst/>
              <a:rect r="r" b="b" t="t" l="l"/>
              <a:pathLst>
                <a:path h="830441" w="4308102">
                  <a:moveTo>
                    <a:pt x="31238" y="0"/>
                  </a:moveTo>
                  <a:lnTo>
                    <a:pt x="4276865" y="0"/>
                  </a:lnTo>
                  <a:cubicBezTo>
                    <a:pt x="4285149" y="0"/>
                    <a:pt x="4293095" y="3291"/>
                    <a:pt x="4298953" y="9149"/>
                  </a:cubicBezTo>
                  <a:cubicBezTo>
                    <a:pt x="4304811" y="15008"/>
                    <a:pt x="4308102" y="22953"/>
                    <a:pt x="4308102" y="31238"/>
                  </a:cubicBezTo>
                  <a:lnTo>
                    <a:pt x="4308102" y="799203"/>
                  </a:lnTo>
                  <a:cubicBezTo>
                    <a:pt x="4308102" y="807488"/>
                    <a:pt x="4304811" y="815433"/>
                    <a:pt x="4298953" y="821291"/>
                  </a:cubicBezTo>
                  <a:cubicBezTo>
                    <a:pt x="4293095" y="827150"/>
                    <a:pt x="4285149" y="830441"/>
                    <a:pt x="4276865" y="830441"/>
                  </a:cubicBezTo>
                  <a:lnTo>
                    <a:pt x="31238" y="830441"/>
                  </a:lnTo>
                  <a:cubicBezTo>
                    <a:pt x="22953" y="830441"/>
                    <a:pt x="15008" y="827150"/>
                    <a:pt x="9149" y="821291"/>
                  </a:cubicBezTo>
                  <a:cubicBezTo>
                    <a:pt x="3291" y="815433"/>
                    <a:pt x="0" y="807488"/>
                    <a:pt x="0" y="799203"/>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308102" cy="859016"/>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2560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901975" y="6462458"/>
            <a:ext cx="16357325" cy="2769659"/>
            <a:chOff x="0" y="0"/>
            <a:chExt cx="4308102" cy="729457"/>
          </a:xfrm>
        </p:grpSpPr>
        <p:sp>
          <p:nvSpPr>
            <p:cNvPr name="Freeform 11" id="11"/>
            <p:cNvSpPr/>
            <p:nvPr/>
          </p:nvSpPr>
          <p:spPr>
            <a:xfrm flipH="false" flipV="false" rot="0">
              <a:off x="0" y="0"/>
              <a:ext cx="4308102" cy="729457"/>
            </a:xfrm>
            <a:custGeom>
              <a:avLst/>
              <a:gdLst/>
              <a:ahLst/>
              <a:cxnLst/>
              <a:rect r="r" b="b" t="t" l="l"/>
              <a:pathLst>
                <a:path h="729457" w="4308102">
                  <a:moveTo>
                    <a:pt x="31238" y="0"/>
                  </a:moveTo>
                  <a:lnTo>
                    <a:pt x="4276865" y="0"/>
                  </a:lnTo>
                  <a:cubicBezTo>
                    <a:pt x="4285149" y="0"/>
                    <a:pt x="4293095" y="3291"/>
                    <a:pt x="4298953" y="9149"/>
                  </a:cubicBezTo>
                  <a:cubicBezTo>
                    <a:pt x="4304811" y="15008"/>
                    <a:pt x="4308102" y="22953"/>
                    <a:pt x="4308102" y="31238"/>
                  </a:cubicBezTo>
                  <a:lnTo>
                    <a:pt x="4308102" y="698220"/>
                  </a:lnTo>
                  <a:cubicBezTo>
                    <a:pt x="4308102" y="715472"/>
                    <a:pt x="4294117" y="729457"/>
                    <a:pt x="4276865" y="729457"/>
                  </a:cubicBezTo>
                  <a:lnTo>
                    <a:pt x="31238" y="729457"/>
                  </a:lnTo>
                  <a:cubicBezTo>
                    <a:pt x="22953" y="729457"/>
                    <a:pt x="15008" y="726166"/>
                    <a:pt x="9149" y="720308"/>
                  </a:cubicBezTo>
                  <a:cubicBezTo>
                    <a:pt x="3291" y="714450"/>
                    <a:pt x="0" y="706504"/>
                    <a:pt x="0" y="698220"/>
                  </a:cubicBezTo>
                  <a:lnTo>
                    <a:pt x="0" y="31238"/>
                  </a:lnTo>
                  <a:cubicBezTo>
                    <a:pt x="0" y="22953"/>
                    <a:pt x="3291" y="15008"/>
                    <a:pt x="9149" y="9149"/>
                  </a:cubicBezTo>
                  <a:cubicBezTo>
                    <a:pt x="15008" y="3291"/>
                    <a:pt x="22953" y="0"/>
                    <a:pt x="31238"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4308102" cy="758032"/>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1249978" y="6691058"/>
            <a:ext cx="1154202" cy="804358"/>
            <a:chOff x="0" y="0"/>
            <a:chExt cx="303987" cy="211847"/>
          </a:xfrm>
        </p:grpSpPr>
        <p:sp>
          <p:nvSpPr>
            <p:cNvPr name="Freeform 14" id="14"/>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5" id="15"/>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6" id="16"/>
          <p:cNvSpPr txBox="true"/>
          <p:nvPr/>
        </p:nvSpPr>
        <p:spPr>
          <a:xfrm rot="0">
            <a:off x="1401941" y="6919507"/>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02</a:t>
            </a:r>
          </a:p>
        </p:txBody>
      </p:sp>
      <p:sp>
        <p:nvSpPr>
          <p:cNvPr name="TextBox 17" id="17"/>
          <p:cNvSpPr txBox="true"/>
          <p:nvPr/>
        </p:nvSpPr>
        <p:spPr>
          <a:xfrm rot="0">
            <a:off x="2736831" y="6895688"/>
            <a:ext cx="7417026"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Performa Penjualan Setiap Toko</a:t>
            </a:r>
          </a:p>
        </p:txBody>
      </p:sp>
      <p:sp>
        <p:nvSpPr>
          <p:cNvPr name="TextBox 18" id="18"/>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01</a:t>
            </a:r>
          </a:p>
        </p:txBody>
      </p:sp>
      <p:sp>
        <p:nvSpPr>
          <p:cNvPr name="TextBox 19" id="19"/>
          <p:cNvSpPr txBox="true"/>
          <p:nvPr/>
        </p:nvSpPr>
        <p:spPr>
          <a:xfrm rot="0">
            <a:off x="2663943" y="3460643"/>
            <a:ext cx="5666936"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Pendapatan Bulanan</a:t>
            </a:r>
          </a:p>
        </p:txBody>
      </p:sp>
      <p:sp>
        <p:nvSpPr>
          <p:cNvPr name="TextBox 20" id="20"/>
          <p:cNvSpPr txBox="true"/>
          <p:nvPr/>
        </p:nvSpPr>
        <p:spPr>
          <a:xfrm rot="0">
            <a:off x="1177090" y="4122482"/>
            <a:ext cx="15922856" cy="174942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Karena kontribusi denda sangat besar, manajemen tidak perlu memperketat durasi sewa (misal dengan buru-buru menghubungi pelanggan untuk mengembalikan DVD), karena "kelalaian" pelanggan terbukti menguntungkan secara finansial bagi toko selama aset kaset pada akhirnya tetap kembali.</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Mengingat b</a:t>
            </a:r>
            <a:r>
              <a:rPr lang="en-US" b="true" sz="1999" spc="-93">
                <a:solidFill>
                  <a:srgbClr val="424242"/>
                </a:solidFill>
                <a:latin typeface="Open Sauce Bold"/>
                <a:ea typeface="Open Sauce Bold"/>
                <a:cs typeface="Open Sauce Bold"/>
                <a:sym typeface="Open Sauce Bold"/>
              </a:rPr>
              <a:t>ulan Juli-Agustus adalah peak season, toko harus melakukan perawatan kaset dan memperbanyak stok film populer pada bulan Mei atau Juni di tahun berikutnya agar tidak kehilangan potensi pasar saat permintaan melonjak.</a:t>
            </a:r>
          </a:p>
        </p:txBody>
      </p:sp>
      <p:sp>
        <p:nvSpPr>
          <p:cNvPr name="TextBox 21" id="21"/>
          <p:cNvSpPr txBox="true"/>
          <p:nvPr/>
        </p:nvSpPr>
        <p:spPr>
          <a:xfrm rot="0">
            <a:off x="1249978" y="7562090"/>
            <a:ext cx="15849968" cy="139700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Karena Toko 1 punya pelanggan yang berani keluar uang paling banyak (sampai 125 dollar). Toko bisa membuatkan program khusus seperti member VIP, diskon ulang tahun, atau hadiah kecil supaya mereka tidak pindah ke toko kompetitor.</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a:t>
            </a:r>
            <a:r>
              <a:rPr lang="en-US" b="true" sz="1999" spc="-93">
                <a:solidFill>
                  <a:srgbClr val="424242"/>
                </a:solidFill>
                <a:latin typeface="Open Sauce Bold"/>
                <a:ea typeface="Open Sauce Bold"/>
                <a:cs typeface="Open Sauce Bold"/>
                <a:sym typeface="Open Sauce Bold"/>
              </a:rPr>
              <a:t>embuat promo paket bundling (misal: "Sewa 3 film sekaligus mendapat potongan harga berapa persen") di Toko 2, agar pelanggan menengah di sana terpancing untuk mengeluarkan uang lebih banyak.</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95002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Recommendation</a:t>
            </a:r>
          </a:p>
        </p:txBody>
      </p:sp>
      <p:grpSp>
        <p:nvGrpSpPr>
          <p:cNvPr name="Group 4" id="4"/>
          <p:cNvGrpSpPr/>
          <p:nvPr/>
        </p:nvGrpSpPr>
        <p:grpSpPr>
          <a:xfrm rot="0">
            <a:off x="901975" y="2350329"/>
            <a:ext cx="16357325" cy="4179092"/>
            <a:chOff x="0" y="0"/>
            <a:chExt cx="4308102" cy="1100666"/>
          </a:xfrm>
        </p:grpSpPr>
        <p:sp>
          <p:nvSpPr>
            <p:cNvPr name="Freeform 5" id="5"/>
            <p:cNvSpPr/>
            <p:nvPr/>
          </p:nvSpPr>
          <p:spPr>
            <a:xfrm flipH="false" flipV="false" rot="0">
              <a:off x="0" y="0"/>
              <a:ext cx="4308102" cy="1100666"/>
            </a:xfrm>
            <a:custGeom>
              <a:avLst/>
              <a:gdLst/>
              <a:ahLst/>
              <a:cxnLst/>
              <a:rect r="r" b="b" t="t" l="l"/>
              <a:pathLst>
                <a:path h="1100666" w="4308102">
                  <a:moveTo>
                    <a:pt x="31238" y="0"/>
                  </a:moveTo>
                  <a:lnTo>
                    <a:pt x="4276865" y="0"/>
                  </a:lnTo>
                  <a:cubicBezTo>
                    <a:pt x="4285149" y="0"/>
                    <a:pt x="4293095" y="3291"/>
                    <a:pt x="4298953" y="9149"/>
                  </a:cubicBezTo>
                  <a:cubicBezTo>
                    <a:pt x="4304811" y="15008"/>
                    <a:pt x="4308102" y="22953"/>
                    <a:pt x="4308102" y="31238"/>
                  </a:cubicBezTo>
                  <a:lnTo>
                    <a:pt x="4308102" y="1069429"/>
                  </a:lnTo>
                  <a:cubicBezTo>
                    <a:pt x="4308102" y="1077713"/>
                    <a:pt x="4304811" y="1085659"/>
                    <a:pt x="4298953" y="1091517"/>
                  </a:cubicBezTo>
                  <a:cubicBezTo>
                    <a:pt x="4293095" y="1097375"/>
                    <a:pt x="4285149" y="1100666"/>
                    <a:pt x="4276865" y="1100666"/>
                  </a:cubicBezTo>
                  <a:lnTo>
                    <a:pt x="31238" y="1100666"/>
                  </a:lnTo>
                  <a:cubicBezTo>
                    <a:pt x="22953" y="1100666"/>
                    <a:pt x="15008" y="1097375"/>
                    <a:pt x="9149" y="1091517"/>
                  </a:cubicBezTo>
                  <a:cubicBezTo>
                    <a:pt x="3291" y="1085659"/>
                    <a:pt x="0" y="1077713"/>
                    <a:pt x="0" y="1069429"/>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308102" cy="1129241"/>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2458888"/>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901975" y="6691346"/>
            <a:ext cx="16357325" cy="3405154"/>
            <a:chOff x="0" y="0"/>
            <a:chExt cx="4308102" cy="896831"/>
          </a:xfrm>
        </p:grpSpPr>
        <p:sp>
          <p:nvSpPr>
            <p:cNvPr name="Freeform 11" id="11"/>
            <p:cNvSpPr/>
            <p:nvPr/>
          </p:nvSpPr>
          <p:spPr>
            <a:xfrm flipH="false" flipV="false" rot="0">
              <a:off x="0" y="0"/>
              <a:ext cx="4308102" cy="896831"/>
            </a:xfrm>
            <a:custGeom>
              <a:avLst/>
              <a:gdLst/>
              <a:ahLst/>
              <a:cxnLst/>
              <a:rect r="r" b="b" t="t" l="l"/>
              <a:pathLst>
                <a:path h="896831" w="4308102">
                  <a:moveTo>
                    <a:pt x="31238" y="0"/>
                  </a:moveTo>
                  <a:lnTo>
                    <a:pt x="4276865" y="0"/>
                  </a:lnTo>
                  <a:cubicBezTo>
                    <a:pt x="4285149" y="0"/>
                    <a:pt x="4293095" y="3291"/>
                    <a:pt x="4298953" y="9149"/>
                  </a:cubicBezTo>
                  <a:cubicBezTo>
                    <a:pt x="4304811" y="15008"/>
                    <a:pt x="4308102" y="22953"/>
                    <a:pt x="4308102" y="31238"/>
                  </a:cubicBezTo>
                  <a:lnTo>
                    <a:pt x="4308102" y="865593"/>
                  </a:lnTo>
                  <a:cubicBezTo>
                    <a:pt x="4308102" y="873878"/>
                    <a:pt x="4304811" y="881823"/>
                    <a:pt x="4298953" y="887681"/>
                  </a:cubicBezTo>
                  <a:cubicBezTo>
                    <a:pt x="4293095" y="893540"/>
                    <a:pt x="4285149" y="896831"/>
                    <a:pt x="4276865" y="896831"/>
                  </a:cubicBezTo>
                  <a:lnTo>
                    <a:pt x="31238" y="896831"/>
                  </a:lnTo>
                  <a:cubicBezTo>
                    <a:pt x="22953" y="896831"/>
                    <a:pt x="15008" y="893540"/>
                    <a:pt x="9149" y="887681"/>
                  </a:cubicBezTo>
                  <a:cubicBezTo>
                    <a:pt x="3291" y="881823"/>
                    <a:pt x="0" y="873878"/>
                    <a:pt x="0" y="865593"/>
                  </a:cubicBezTo>
                  <a:lnTo>
                    <a:pt x="0" y="31238"/>
                  </a:lnTo>
                  <a:cubicBezTo>
                    <a:pt x="0" y="22953"/>
                    <a:pt x="3291" y="15008"/>
                    <a:pt x="9149" y="9149"/>
                  </a:cubicBezTo>
                  <a:cubicBezTo>
                    <a:pt x="15008" y="3291"/>
                    <a:pt x="22953" y="0"/>
                    <a:pt x="31238"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4308102" cy="925406"/>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1249978" y="6919946"/>
            <a:ext cx="1154202" cy="804358"/>
            <a:chOff x="0" y="0"/>
            <a:chExt cx="303987" cy="211847"/>
          </a:xfrm>
        </p:grpSpPr>
        <p:sp>
          <p:nvSpPr>
            <p:cNvPr name="Freeform 14" id="14"/>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5" id="15"/>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6" id="16"/>
          <p:cNvSpPr txBox="true"/>
          <p:nvPr/>
        </p:nvSpPr>
        <p:spPr>
          <a:xfrm rot="0">
            <a:off x="1401941" y="7148395"/>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04</a:t>
            </a:r>
          </a:p>
        </p:txBody>
      </p:sp>
      <p:sp>
        <p:nvSpPr>
          <p:cNvPr name="TextBox 17" id="17"/>
          <p:cNvSpPr txBox="true"/>
          <p:nvPr/>
        </p:nvSpPr>
        <p:spPr>
          <a:xfrm rot="0">
            <a:off x="2736831" y="7124577"/>
            <a:ext cx="1282717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Durasi Rental Berdasarkan Rating Film</a:t>
            </a:r>
          </a:p>
        </p:txBody>
      </p:sp>
      <p:sp>
        <p:nvSpPr>
          <p:cNvPr name="TextBox 18" id="18"/>
          <p:cNvSpPr txBox="true"/>
          <p:nvPr/>
        </p:nvSpPr>
        <p:spPr>
          <a:xfrm rot="0">
            <a:off x="1329054" y="2687337"/>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03</a:t>
            </a:r>
          </a:p>
        </p:txBody>
      </p:sp>
      <p:sp>
        <p:nvSpPr>
          <p:cNvPr name="TextBox 19" id="19"/>
          <p:cNvSpPr txBox="true"/>
          <p:nvPr/>
        </p:nvSpPr>
        <p:spPr>
          <a:xfrm rot="0">
            <a:off x="2663943" y="2663518"/>
            <a:ext cx="1397151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Total Pendapatan per Genre</a:t>
            </a:r>
          </a:p>
        </p:txBody>
      </p:sp>
      <p:sp>
        <p:nvSpPr>
          <p:cNvPr name="TextBox 20" id="20"/>
          <p:cNvSpPr txBox="true"/>
          <p:nvPr/>
        </p:nvSpPr>
        <p:spPr>
          <a:xfrm rot="0">
            <a:off x="1249978" y="3310870"/>
            <a:ext cx="15922856" cy="315912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Maksimalisasi Potensi Produk Unggulan (Fokus pada Sports). Karena genre Sports penjualannya paling tinggi, manajemen harus memastikan ketersediaan stok film olahraga selalu diperbarui (up-to-date) dengan judul-judul box office terbaru. Letakkan kaset-kaset genre Sports di rak bagian depan toko.</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Strategi Promosi Silang (Cross-Promotion). Gunakan popularitas film Sports untuk mengangkat genre menengah. Misalnya, buat promo p</a:t>
            </a:r>
            <a:r>
              <a:rPr lang="en-US" b="true" sz="1999" spc="-93">
                <a:solidFill>
                  <a:srgbClr val="424242"/>
                </a:solidFill>
                <a:latin typeface="Open Sauce Bold"/>
                <a:ea typeface="Open Sauce Bold"/>
                <a:cs typeface="Open Sauce Bold"/>
                <a:sym typeface="Open Sauce Bold"/>
              </a:rPr>
              <a:t>aket bundling: "Setiap sewa 1 Film Sports, dapatkan diskon potongan harga untuk sewa film kategori Action atau Drama."</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Evaluasi Stok dan Efisiensi Anggaran (Fokus pada Music &amp; Travel). Kurangi alokasi anggaran untuk membeli atau menyetok film baru di genre Music, Travel, dan Classics. Membatasi anggaran pada genre yang sepi peminat ini akan membantu toko menghemat biaya operasional, lalu mengalihkan dananya untuk menambah variasi di genre Sports atau Sci-Fi yang terbukti mendatangkan untung lebih besar.</a:t>
            </a:r>
          </a:p>
        </p:txBody>
      </p:sp>
      <p:sp>
        <p:nvSpPr>
          <p:cNvPr name="TextBox 21" id="21"/>
          <p:cNvSpPr txBox="true"/>
          <p:nvPr/>
        </p:nvSpPr>
        <p:spPr>
          <a:xfrm rot="0">
            <a:off x="1249978" y="7790979"/>
            <a:ext cx="15849968" cy="210185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Karena seluruh kategori rating film memiliki durasi rental yang relatif sama, toko tidak perlu menerapkan kebijakan masa sewa yang berbeda untuk setiap rating film. Sistem rental yang saat ini diterapkan sudah cukup sesuai dengan perilaku pelanggan.</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Manajemen dapat lebih fokus pada faktor lain yang berpotensi memengaruhi lama penyewaan, seperti genre film, popularitas judul tertentu, atau program promosi, karena rating film terbukti tidak memberikan perbedaan yang signifikan terhadap durasi rental.</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Mengingat pola pengembalian pelanggan cukup konsisten di semua rating, toko dapat mempertahankan kebijakan pengingat pengembalian dan sistem denda yang berlaku saat ini tanpa perlu penyesuaian khusus berdasarkan rating film.</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b="true" sz="10965" spc="-515">
                <a:solidFill>
                  <a:srgbClr val="000000"/>
                </a:solidFill>
                <a:latin typeface="Open Sauce Heavy"/>
                <a:ea typeface="Open Sauce Heavy"/>
                <a:cs typeface="Open Sauce Heavy"/>
                <a:sym typeface="Open Sauce Heavy"/>
              </a:rPr>
              <a:t>Recommendation</a:t>
            </a:r>
          </a:p>
        </p:txBody>
      </p:sp>
      <p:grpSp>
        <p:nvGrpSpPr>
          <p:cNvPr name="Group 4" id="4"/>
          <p:cNvGrpSpPr/>
          <p:nvPr/>
        </p:nvGrpSpPr>
        <p:grpSpPr>
          <a:xfrm rot="0">
            <a:off x="901975" y="3061729"/>
            <a:ext cx="16357325" cy="3649675"/>
            <a:chOff x="0" y="0"/>
            <a:chExt cx="4308102" cy="961231"/>
          </a:xfrm>
        </p:grpSpPr>
        <p:sp>
          <p:nvSpPr>
            <p:cNvPr name="Freeform 5" id="5"/>
            <p:cNvSpPr/>
            <p:nvPr/>
          </p:nvSpPr>
          <p:spPr>
            <a:xfrm flipH="false" flipV="false" rot="0">
              <a:off x="0" y="0"/>
              <a:ext cx="4308102" cy="961231"/>
            </a:xfrm>
            <a:custGeom>
              <a:avLst/>
              <a:gdLst/>
              <a:ahLst/>
              <a:cxnLst/>
              <a:rect r="r" b="b" t="t" l="l"/>
              <a:pathLst>
                <a:path h="961231" w="4308102">
                  <a:moveTo>
                    <a:pt x="31238" y="0"/>
                  </a:moveTo>
                  <a:lnTo>
                    <a:pt x="4276865" y="0"/>
                  </a:lnTo>
                  <a:cubicBezTo>
                    <a:pt x="4285149" y="0"/>
                    <a:pt x="4293095" y="3291"/>
                    <a:pt x="4298953" y="9149"/>
                  </a:cubicBezTo>
                  <a:cubicBezTo>
                    <a:pt x="4304811" y="15008"/>
                    <a:pt x="4308102" y="22953"/>
                    <a:pt x="4308102" y="31238"/>
                  </a:cubicBezTo>
                  <a:lnTo>
                    <a:pt x="4308102" y="929994"/>
                  </a:lnTo>
                  <a:cubicBezTo>
                    <a:pt x="4308102" y="938278"/>
                    <a:pt x="4304811" y="946224"/>
                    <a:pt x="4298953" y="952082"/>
                  </a:cubicBezTo>
                  <a:cubicBezTo>
                    <a:pt x="4293095" y="957940"/>
                    <a:pt x="4285149" y="961231"/>
                    <a:pt x="4276865" y="961231"/>
                  </a:cubicBezTo>
                  <a:lnTo>
                    <a:pt x="31238" y="961231"/>
                  </a:lnTo>
                  <a:cubicBezTo>
                    <a:pt x="22953" y="961231"/>
                    <a:pt x="15008" y="957940"/>
                    <a:pt x="9149" y="952082"/>
                  </a:cubicBezTo>
                  <a:cubicBezTo>
                    <a:pt x="3291" y="946224"/>
                    <a:pt x="0" y="938278"/>
                    <a:pt x="0" y="929994"/>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308102" cy="989806"/>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2560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901975" y="7096125"/>
            <a:ext cx="16357325" cy="2769659"/>
            <a:chOff x="0" y="0"/>
            <a:chExt cx="4308102" cy="729457"/>
          </a:xfrm>
        </p:grpSpPr>
        <p:sp>
          <p:nvSpPr>
            <p:cNvPr name="Freeform 11" id="11"/>
            <p:cNvSpPr/>
            <p:nvPr/>
          </p:nvSpPr>
          <p:spPr>
            <a:xfrm flipH="false" flipV="false" rot="0">
              <a:off x="0" y="0"/>
              <a:ext cx="4308102" cy="729457"/>
            </a:xfrm>
            <a:custGeom>
              <a:avLst/>
              <a:gdLst/>
              <a:ahLst/>
              <a:cxnLst/>
              <a:rect r="r" b="b" t="t" l="l"/>
              <a:pathLst>
                <a:path h="729457" w="4308102">
                  <a:moveTo>
                    <a:pt x="31238" y="0"/>
                  </a:moveTo>
                  <a:lnTo>
                    <a:pt x="4276865" y="0"/>
                  </a:lnTo>
                  <a:cubicBezTo>
                    <a:pt x="4285149" y="0"/>
                    <a:pt x="4293095" y="3291"/>
                    <a:pt x="4298953" y="9149"/>
                  </a:cubicBezTo>
                  <a:cubicBezTo>
                    <a:pt x="4304811" y="15008"/>
                    <a:pt x="4308102" y="22953"/>
                    <a:pt x="4308102" y="31238"/>
                  </a:cubicBezTo>
                  <a:lnTo>
                    <a:pt x="4308102" y="698220"/>
                  </a:lnTo>
                  <a:cubicBezTo>
                    <a:pt x="4308102" y="715472"/>
                    <a:pt x="4294117" y="729457"/>
                    <a:pt x="4276865" y="729457"/>
                  </a:cubicBezTo>
                  <a:lnTo>
                    <a:pt x="31238" y="729457"/>
                  </a:lnTo>
                  <a:cubicBezTo>
                    <a:pt x="22953" y="729457"/>
                    <a:pt x="15008" y="726166"/>
                    <a:pt x="9149" y="720308"/>
                  </a:cubicBezTo>
                  <a:cubicBezTo>
                    <a:pt x="3291" y="714450"/>
                    <a:pt x="0" y="706504"/>
                    <a:pt x="0" y="698220"/>
                  </a:cubicBezTo>
                  <a:lnTo>
                    <a:pt x="0" y="31238"/>
                  </a:lnTo>
                  <a:cubicBezTo>
                    <a:pt x="0" y="22953"/>
                    <a:pt x="3291" y="15008"/>
                    <a:pt x="9149" y="9149"/>
                  </a:cubicBezTo>
                  <a:cubicBezTo>
                    <a:pt x="15008" y="3291"/>
                    <a:pt x="22953" y="0"/>
                    <a:pt x="31238"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4308102" cy="758032"/>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1249978" y="7324725"/>
            <a:ext cx="1154202" cy="804358"/>
            <a:chOff x="0" y="0"/>
            <a:chExt cx="303987" cy="211847"/>
          </a:xfrm>
        </p:grpSpPr>
        <p:sp>
          <p:nvSpPr>
            <p:cNvPr name="Freeform 14" id="14"/>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5" id="15"/>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6" id="16"/>
          <p:cNvSpPr txBox="true"/>
          <p:nvPr/>
        </p:nvSpPr>
        <p:spPr>
          <a:xfrm rot="0">
            <a:off x="1401941" y="7553174"/>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06</a:t>
            </a:r>
          </a:p>
        </p:txBody>
      </p:sp>
      <p:sp>
        <p:nvSpPr>
          <p:cNvPr name="TextBox 17" id="17"/>
          <p:cNvSpPr txBox="true"/>
          <p:nvPr/>
        </p:nvSpPr>
        <p:spPr>
          <a:xfrm rot="0">
            <a:off x="2736831" y="7529355"/>
            <a:ext cx="12827177" cy="452247"/>
          </a:xfrm>
          <a:prstGeom prst="rect">
            <a:avLst/>
          </a:prstGeom>
        </p:spPr>
        <p:txBody>
          <a:bodyPr anchor="t" rtlCol="false" tIns="0" lIns="0" bIns="0" rIns="0">
            <a:spAutoFit/>
          </a:bodyPr>
          <a:lstStyle/>
          <a:p>
            <a:pPr algn="l">
              <a:lnSpc>
                <a:spcPts val="3383"/>
              </a:lnSpc>
            </a:pPr>
            <a:r>
              <a:rPr lang="en-US" b="true" sz="3600" spc="-169">
                <a:solidFill>
                  <a:srgbClr val="424242"/>
                </a:solidFill>
                <a:latin typeface="Open Sauce Heavy"/>
                <a:ea typeface="Open Sauce Heavy"/>
                <a:cs typeface="Open Sauce Heavy"/>
                <a:sym typeface="Open Sauce Heavy"/>
              </a:rPr>
              <a:t>Basis Pelanggan Berdasarkan Negara/Kota</a:t>
            </a:r>
          </a:p>
        </p:txBody>
      </p:sp>
      <p:sp>
        <p:nvSpPr>
          <p:cNvPr name="TextBox 18" id="18"/>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05</a:t>
            </a:r>
          </a:p>
        </p:txBody>
      </p:sp>
      <p:sp>
        <p:nvSpPr>
          <p:cNvPr name="TextBox 19" id="19"/>
          <p:cNvSpPr txBox="true"/>
          <p:nvPr/>
        </p:nvSpPr>
        <p:spPr>
          <a:xfrm rot="0">
            <a:off x="2663943" y="3460643"/>
            <a:ext cx="13971517" cy="452247"/>
          </a:xfrm>
          <a:prstGeom prst="rect">
            <a:avLst/>
          </a:prstGeom>
        </p:spPr>
        <p:txBody>
          <a:bodyPr anchor="t" rtlCol="false" tIns="0" lIns="0" bIns="0" rIns="0">
            <a:spAutoFit/>
          </a:bodyPr>
          <a:lstStyle/>
          <a:p>
            <a:pPr algn="l">
              <a:lnSpc>
                <a:spcPts val="3383"/>
              </a:lnSpc>
            </a:pPr>
            <a:r>
              <a:rPr lang="en-US" b="true" sz="3600" spc="-169">
                <a:solidFill>
                  <a:srgbClr val="424242"/>
                </a:solidFill>
                <a:latin typeface="Open Sauce Heavy"/>
                <a:ea typeface="Open Sauce Heavy"/>
                <a:cs typeface="Open Sauce Heavy"/>
                <a:sym typeface="Open Sauce Heavy"/>
              </a:rPr>
              <a:t>Distribusi Rating Film</a:t>
            </a:r>
          </a:p>
        </p:txBody>
      </p:sp>
      <p:sp>
        <p:nvSpPr>
          <p:cNvPr name="TextBox 20" id="20"/>
          <p:cNvSpPr txBox="true"/>
          <p:nvPr/>
        </p:nvSpPr>
        <p:spPr>
          <a:xfrm rot="0">
            <a:off x="1249978" y="8195758"/>
            <a:ext cx="15849968" cy="104457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Alokasikan anggaran pemasaran lebih besar pada negara dengan kontribusi transaksi dan pendapatan tertinggi.</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Kembangkan promosi dan program loyalitas yang disesuaikan dengan karakteristik pelanggan di negara tersebut.</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Pantau tren transaksi per negara secara berkala untuk mengidentifikasi peluang ekspansi pasar baru.</a:t>
            </a:r>
          </a:p>
        </p:txBody>
      </p:sp>
      <p:sp>
        <p:nvSpPr>
          <p:cNvPr name="TextBox 21" id="21"/>
          <p:cNvSpPr txBox="true"/>
          <p:nvPr/>
        </p:nvSpPr>
        <p:spPr>
          <a:xfrm rot="0">
            <a:off x="1249978" y="4098925"/>
            <a:ext cx="15849968" cy="245427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Maksimalkan potensi kategori PG-13 sebagai penyumbang revenue terbesar dengan menambah variasi koleksi film, memperbarui judul populer, serta memberikan penempatan yang lebih strategis di area promosi toko.</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Karena kontribusi revenue dari seluruh rating film relatif seimbang, toko sebaiknya tetap menjaga ketersediaan stok pada semua kategori rating dan tidak hanya berfokus pada satu segmen pelanggan tertentu.</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Lakukan promosi yang disesuaikan dengan karakteristik masing-masing rating film. Misalnya, promosi film keluarga untuk kategori G dan PG, serta promosi film aksi atau thriller terbaru untuk kategori PG-13 dan R guna menjaga keseimbangan kontribusi pendapatan dari seluruh segmen pelanggan.</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Recommendation</a:t>
            </a:r>
          </a:p>
        </p:txBody>
      </p:sp>
      <p:grpSp>
        <p:nvGrpSpPr>
          <p:cNvPr name="Group 4" id="4"/>
          <p:cNvGrpSpPr/>
          <p:nvPr/>
        </p:nvGrpSpPr>
        <p:grpSpPr>
          <a:xfrm rot="0">
            <a:off x="901975" y="3061729"/>
            <a:ext cx="16357325" cy="2269724"/>
            <a:chOff x="0" y="0"/>
            <a:chExt cx="4308102" cy="597787"/>
          </a:xfrm>
        </p:grpSpPr>
        <p:sp>
          <p:nvSpPr>
            <p:cNvPr name="Freeform 5" id="5"/>
            <p:cNvSpPr/>
            <p:nvPr/>
          </p:nvSpPr>
          <p:spPr>
            <a:xfrm flipH="false" flipV="false" rot="0">
              <a:off x="0" y="0"/>
              <a:ext cx="4308102" cy="597787"/>
            </a:xfrm>
            <a:custGeom>
              <a:avLst/>
              <a:gdLst/>
              <a:ahLst/>
              <a:cxnLst/>
              <a:rect r="r" b="b" t="t" l="l"/>
              <a:pathLst>
                <a:path h="597787" w="4308102">
                  <a:moveTo>
                    <a:pt x="31238" y="0"/>
                  </a:moveTo>
                  <a:lnTo>
                    <a:pt x="4276865" y="0"/>
                  </a:lnTo>
                  <a:cubicBezTo>
                    <a:pt x="4285149" y="0"/>
                    <a:pt x="4293095" y="3291"/>
                    <a:pt x="4298953" y="9149"/>
                  </a:cubicBezTo>
                  <a:cubicBezTo>
                    <a:pt x="4304811" y="15008"/>
                    <a:pt x="4308102" y="22953"/>
                    <a:pt x="4308102" y="31238"/>
                  </a:cubicBezTo>
                  <a:lnTo>
                    <a:pt x="4308102" y="566550"/>
                  </a:lnTo>
                  <a:cubicBezTo>
                    <a:pt x="4308102" y="574834"/>
                    <a:pt x="4304811" y="582780"/>
                    <a:pt x="4298953" y="588638"/>
                  </a:cubicBezTo>
                  <a:cubicBezTo>
                    <a:pt x="4293095" y="594496"/>
                    <a:pt x="4285149" y="597787"/>
                    <a:pt x="4276865" y="597787"/>
                  </a:cubicBezTo>
                  <a:lnTo>
                    <a:pt x="31238" y="597787"/>
                  </a:lnTo>
                  <a:cubicBezTo>
                    <a:pt x="22953" y="597787"/>
                    <a:pt x="15008" y="594496"/>
                    <a:pt x="9149" y="588638"/>
                  </a:cubicBezTo>
                  <a:cubicBezTo>
                    <a:pt x="3291" y="582780"/>
                    <a:pt x="0" y="574834"/>
                    <a:pt x="0" y="566550"/>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308102" cy="626362"/>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2560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901975" y="5722321"/>
            <a:ext cx="16357325" cy="3837172"/>
            <a:chOff x="0" y="0"/>
            <a:chExt cx="4308102" cy="1010613"/>
          </a:xfrm>
        </p:grpSpPr>
        <p:sp>
          <p:nvSpPr>
            <p:cNvPr name="Freeform 11" id="11"/>
            <p:cNvSpPr/>
            <p:nvPr/>
          </p:nvSpPr>
          <p:spPr>
            <a:xfrm flipH="false" flipV="false" rot="0">
              <a:off x="0" y="0"/>
              <a:ext cx="4308102" cy="1010613"/>
            </a:xfrm>
            <a:custGeom>
              <a:avLst/>
              <a:gdLst/>
              <a:ahLst/>
              <a:cxnLst/>
              <a:rect r="r" b="b" t="t" l="l"/>
              <a:pathLst>
                <a:path h="1010613" w="4308102">
                  <a:moveTo>
                    <a:pt x="31238" y="0"/>
                  </a:moveTo>
                  <a:lnTo>
                    <a:pt x="4276865" y="0"/>
                  </a:lnTo>
                  <a:cubicBezTo>
                    <a:pt x="4285149" y="0"/>
                    <a:pt x="4293095" y="3291"/>
                    <a:pt x="4298953" y="9149"/>
                  </a:cubicBezTo>
                  <a:cubicBezTo>
                    <a:pt x="4304811" y="15008"/>
                    <a:pt x="4308102" y="22953"/>
                    <a:pt x="4308102" y="31238"/>
                  </a:cubicBezTo>
                  <a:lnTo>
                    <a:pt x="4308102" y="979375"/>
                  </a:lnTo>
                  <a:cubicBezTo>
                    <a:pt x="4308102" y="987660"/>
                    <a:pt x="4304811" y="995606"/>
                    <a:pt x="4298953" y="1001464"/>
                  </a:cubicBezTo>
                  <a:cubicBezTo>
                    <a:pt x="4293095" y="1007322"/>
                    <a:pt x="4285149" y="1010613"/>
                    <a:pt x="4276865" y="1010613"/>
                  </a:cubicBezTo>
                  <a:lnTo>
                    <a:pt x="31238" y="1010613"/>
                  </a:lnTo>
                  <a:cubicBezTo>
                    <a:pt x="22953" y="1010613"/>
                    <a:pt x="15008" y="1007322"/>
                    <a:pt x="9149" y="1001464"/>
                  </a:cubicBezTo>
                  <a:cubicBezTo>
                    <a:pt x="3291" y="995606"/>
                    <a:pt x="0" y="987660"/>
                    <a:pt x="0" y="979375"/>
                  </a:cubicBezTo>
                  <a:lnTo>
                    <a:pt x="0" y="31238"/>
                  </a:lnTo>
                  <a:cubicBezTo>
                    <a:pt x="0" y="22953"/>
                    <a:pt x="3291" y="15008"/>
                    <a:pt x="9149" y="9149"/>
                  </a:cubicBezTo>
                  <a:cubicBezTo>
                    <a:pt x="15008" y="3291"/>
                    <a:pt x="22953" y="0"/>
                    <a:pt x="31238"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4308102" cy="1039188"/>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1329054" y="5865196"/>
            <a:ext cx="1154202" cy="804358"/>
            <a:chOff x="0" y="0"/>
            <a:chExt cx="303987" cy="211847"/>
          </a:xfrm>
        </p:grpSpPr>
        <p:sp>
          <p:nvSpPr>
            <p:cNvPr name="Freeform 14" id="14"/>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5" id="15"/>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6" id="16"/>
          <p:cNvSpPr txBox="true"/>
          <p:nvPr/>
        </p:nvSpPr>
        <p:spPr>
          <a:xfrm rot="0">
            <a:off x="1481018" y="6093645"/>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08</a:t>
            </a:r>
          </a:p>
        </p:txBody>
      </p:sp>
      <p:sp>
        <p:nvSpPr>
          <p:cNvPr name="TextBox 17" id="17"/>
          <p:cNvSpPr txBox="true"/>
          <p:nvPr/>
        </p:nvSpPr>
        <p:spPr>
          <a:xfrm rot="0">
            <a:off x="2815907" y="6069826"/>
            <a:ext cx="12827177" cy="880872"/>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Hubungan antara "Durasi Keterlambatan Pengembalian" vs "Total Denda yang Dibayar" </a:t>
            </a:r>
          </a:p>
        </p:txBody>
      </p:sp>
      <p:sp>
        <p:nvSpPr>
          <p:cNvPr name="TextBox 18" id="18"/>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07</a:t>
            </a:r>
          </a:p>
        </p:txBody>
      </p:sp>
      <p:sp>
        <p:nvSpPr>
          <p:cNvPr name="TextBox 19" id="19"/>
          <p:cNvSpPr txBox="true"/>
          <p:nvPr/>
        </p:nvSpPr>
        <p:spPr>
          <a:xfrm rot="0">
            <a:off x="2663943" y="3460643"/>
            <a:ext cx="1397151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Klasifikasi Customer Berdasarkan Total Spend </a:t>
            </a:r>
          </a:p>
        </p:txBody>
      </p:sp>
      <p:sp>
        <p:nvSpPr>
          <p:cNvPr name="TextBox 20" id="20"/>
          <p:cNvSpPr txBox="true"/>
          <p:nvPr/>
        </p:nvSpPr>
        <p:spPr>
          <a:xfrm rot="0">
            <a:off x="1177090" y="4096930"/>
            <a:ext cx="15849968" cy="104457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Pertahankan pelanggan Gold melalui program membership eksklusif, reward, dan penawaran khusus.</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Dorong pelanggan Silver naik ke segmen Gold dengan sistem poin, diskon bertingkat, atau bonus transaksi.</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Lakukan kampanye personalisasi berdasarkan segmen pelanggan untuk meningkatkan frekuensi penyewaan dan nilai transaksi.</a:t>
            </a:r>
          </a:p>
        </p:txBody>
      </p:sp>
      <p:sp>
        <p:nvSpPr>
          <p:cNvPr name="TextBox 21" id="21"/>
          <p:cNvSpPr txBox="true"/>
          <p:nvPr/>
        </p:nvSpPr>
        <p:spPr>
          <a:xfrm rot="0">
            <a:off x="1155653" y="6912598"/>
            <a:ext cx="15849968" cy="245427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Mengadakan Sistem Peringatan Pengembalian. Karena biaya denda terus membengkak secara linear (kasihan pelanggannya jika telat terlalu lama), toko bisa membuat sistem EMAIL otomatis. Jika kaset belum kembali di H-1 batas durasi sewa, pelanggan akan dikirimi pengingat. Ini penting untuk menjaga loyalitas agar pelanggan tidak "kapok" menyewa akibat akumulasi denda yang terlalu besar.</a:t>
            </a:r>
          </a:p>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Pengetatan Aturan untuk Jalur Atas (film seharga 4.99 dollar). Pelanggan di jalur paling atas yang telat hingga 4-5 hari harus membayar total biaya hingga 10-12 dollar. Angka ini sudah mendekati harga yang harus dibayar kalau kaset rusak atau hilang (replacement cost). Manajemen disarankan memberikan batas maksimal denda (capped penalty) agar pelanggan tidak memilih untuk membawa kabur. kasetnya karena denda yang terlalu mahal.</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Recommendation</a:t>
            </a:r>
          </a:p>
        </p:txBody>
      </p:sp>
      <p:grpSp>
        <p:nvGrpSpPr>
          <p:cNvPr name="Group 4" id="4"/>
          <p:cNvGrpSpPr/>
          <p:nvPr/>
        </p:nvGrpSpPr>
        <p:grpSpPr>
          <a:xfrm rot="0">
            <a:off x="901975" y="3061729"/>
            <a:ext cx="16357325" cy="2306099"/>
            <a:chOff x="0" y="0"/>
            <a:chExt cx="4308102" cy="607368"/>
          </a:xfrm>
        </p:grpSpPr>
        <p:sp>
          <p:nvSpPr>
            <p:cNvPr name="Freeform 5" id="5"/>
            <p:cNvSpPr/>
            <p:nvPr/>
          </p:nvSpPr>
          <p:spPr>
            <a:xfrm flipH="false" flipV="false" rot="0">
              <a:off x="0" y="0"/>
              <a:ext cx="4308102" cy="607368"/>
            </a:xfrm>
            <a:custGeom>
              <a:avLst/>
              <a:gdLst/>
              <a:ahLst/>
              <a:cxnLst/>
              <a:rect r="r" b="b" t="t" l="l"/>
              <a:pathLst>
                <a:path h="607368" w="4308102">
                  <a:moveTo>
                    <a:pt x="31238" y="0"/>
                  </a:moveTo>
                  <a:lnTo>
                    <a:pt x="4276865" y="0"/>
                  </a:lnTo>
                  <a:cubicBezTo>
                    <a:pt x="4285149" y="0"/>
                    <a:pt x="4293095" y="3291"/>
                    <a:pt x="4298953" y="9149"/>
                  </a:cubicBezTo>
                  <a:cubicBezTo>
                    <a:pt x="4304811" y="15008"/>
                    <a:pt x="4308102" y="22953"/>
                    <a:pt x="4308102" y="31238"/>
                  </a:cubicBezTo>
                  <a:lnTo>
                    <a:pt x="4308102" y="576130"/>
                  </a:lnTo>
                  <a:cubicBezTo>
                    <a:pt x="4308102" y="584415"/>
                    <a:pt x="4304811" y="592360"/>
                    <a:pt x="4298953" y="598218"/>
                  </a:cubicBezTo>
                  <a:cubicBezTo>
                    <a:pt x="4293095" y="604076"/>
                    <a:pt x="4285149" y="607368"/>
                    <a:pt x="4276865" y="607368"/>
                  </a:cubicBezTo>
                  <a:lnTo>
                    <a:pt x="31238" y="607368"/>
                  </a:lnTo>
                  <a:cubicBezTo>
                    <a:pt x="22953" y="607368"/>
                    <a:pt x="15008" y="604076"/>
                    <a:pt x="9149" y="598218"/>
                  </a:cubicBezTo>
                  <a:cubicBezTo>
                    <a:pt x="3291" y="592360"/>
                    <a:pt x="0" y="584415"/>
                    <a:pt x="0" y="576130"/>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308102" cy="635943"/>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177090" y="3256012"/>
            <a:ext cx="1154202" cy="804358"/>
            <a:chOff x="0" y="0"/>
            <a:chExt cx="303987" cy="211847"/>
          </a:xfrm>
        </p:grpSpPr>
        <p:sp>
          <p:nvSpPr>
            <p:cNvPr name="Freeform 8" id="8"/>
            <p:cNvSpPr/>
            <p:nvPr/>
          </p:nvSpPr>
          <p:spPr>
            <a:xfrm flipH="false" flipV="false" rot="0">
              <a:off x="0" y="0"/>
              <a:ext cx="303987" cy="211847"/>
            </a:xfrm>
            <a:custGeom>
              <a:avLst/>
              <a:gdLst/>
              <a:ahLst/>
              <a:cxnLst/>
              <a:rect r="r" b="b" t="t" l="l"/>
              <a:pathLst>
                <a:path h="211847" w="303987">
                  <a:moveTo>
                    <a:pt x="105924" y="0"/>
                  </a:moveTo>
                  <a:lnTo>
                    <a:pt x="198064" y="0"/>
                  </a:lnTo>
                  <a:cubicBezTo>
                    <a:pt x="256564" y="0"/>
                    <a:pt x="303987" y="47424"/>
                    <a:pt x="303987" y="105924"/>
                  </a:cubicBezTo>
                  <a:lnTo>
                    <a:pt x="303987" y="105924"/>
                  </a:lnTo>
                  <a:cubicBezTo>
                    <a:pt x="303987" y="134016"/>
                    <a:pt x="292827" y="160958"/>
                    <a:pt x="272963" y="180823"/>
                  </a:cubicBezTo>
                  <a:cubicBezTo>
                    <a:pt x="253098" y="200687"/>
                    <a:pt x="226156" y="211847"/>
                    <a:pt x="19806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3987" cy="240422"/>
            </a:xfrm>
            <a:prstGeom prst="rect">
              <a:avLst/>
            </a:prstGeom>
          </p:spPr>
          <p:txBody>
            <a:bodyPr anchor="ctr" rtlCol="false" tIns="50800" lIns="50800" bIns="50800" rIns="50800"/>
            <a:lstStyle/>
            <a:p>
              <a:pPr algn="ctr">
                <a:lnSpc>
                  <a:spcPts val="2015"/>
                </a:lnSpc>
              </a:pPr>
            </a:p>
          </p:txBody>
        </p:sp>
      </p:grpSp>
      <p:sp>
        <p:nvSpPr>
          <p:cNvPr name="TextBox 10" id="10"/>
          <p:cNvSpPr txBox="true"/>
          <p:nvPr/>
        </p:nvSpPr>
        <p:spPr>
          <a:xfrm rot="0">
            <a:off x="1329054" y="3484462"/>
            <a:ext cx="819524" cy="452247"/>
          </a:xfrm>
          <a:prstGeom prst="rect">
            <a:avLst/>
          </a:prstGeom>
        </p:spPr>
        <p:txBody>
          <a:bodyPr anchor="t" rtlCol="false" tIns="0" lIns="0" bIns="0" rIns="0">
            <a:spAutoFit/>
          </a:bodyPr>
          <a:lstStyle/>
          <a:p>
            <a:pPr algn="ctr">
              <a:lnSpc>
                <a:spcPts val="3383"/>
              </a:lnSpc>
            </a:pPr>
            <a:r>
              <a:rPr lang="en-US" b="true" sz="3600" spc="-169">
                <a:solidFill>
                  <a:srgbClr val="424242"/>
                </a:solidFill>
                <a:latin typeface="Open Sauce Heavy"/>
                <a:ea typeface="Open Sauce Heavy"/>
                <a:cs typeface="Open Sauce Heavy"/>
                <a:sym typeface="Open Sauce Heavy"/>
              </a:rPr>
              <a:t>09</a:t>
            </a:r>
          </a:p>
        </p:txBody>
      </p:sp>
      <p:sp>
        <p:nvSpPr>
          <p:cNvPr name="TextBox 11" id="11"/>
          <p:cNvSpPr txBox="true"/>
          <p:nvPr/>
        </p:nvSpPr>
        <p:spPr>
          <a:xfrm rot="0">
            <a:off x="2663943" y="3460643"/>
            <a:ext cx="13971517" cy="452247"/>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Performa Staf Berdasarkan Total Pendapatan </a:t>
            </a:r>
          </a:p>
        </p:txBody>
      </p:sp>
      <p:sp>
        <p:nvSpPr>
          <p:cNvPr name="TextBox 12" id="12"/>
          <p:cNvSpPr txBox="true"/>
          <p:nvPr/>
        </p:nvSpPr>
        <p:spPr>
          <a:xfrm rot="0">
            <a:off x="1177090" y="4096930"/>
            <a:ext cx="15849968" cy="1044575"/>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spc="-93">
                <a:solidFill>
                  <a:srgbClr val="424242"/>
                </a:solidFill>
                <a:latin typeface="Open Sauce Bold"/>
                <a:ea typeface="Open Sauce Bold"/>
                <a:cs typeface="Open Sauce Bold"/>
                <a:sym typeface="Open Sauce Bold"/>
              </a:rPr>
              <a:t>Penerapan Bonus Berbasis Tim. Karena selisihnya tidak signifikan, manajemen sebaiknya tidak memberikan bonus individu yang dapat memicu kecemburuan sosial. Lebih baik memberikan insentif kelompok karena kedua staf terbukti telah bekerja sama dengan sangat solid dalam menjaga kestabilan pendapatan toko.</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028700" y="1057770"/>
            <a:ext cx="16230600" cy="1409834"/>
          </a:xfrm>
          <a:prstGeom prst="rect">
            <a:avLst/>
          </a:prstGeom>
        </p:spPr>
        <p:txBody>
          <a:bodyPr anchor="t" rtlCol="false" tIns="0" lIns="0" bIns="0" rIns="0">
            <a:spAutoFit/>
          </a:bodyPr>
          <a:lstStyle/>
          <a:p>
            <a:pPr algn="l">
              <a:lnSpc>
                <a:spcPts val="10307"/>
              </a:lnSpc>
            </a:pPr>
            <a:r>
              <a:rPr lang="en-US" sz="10965" spc="-515" b="true">
                <a:solidFill>
                  <a:srgbClr val="000000"/>
                </a:solidFill>
                <a:latin typeface="Open Sauce Heavy"/>
                <a:ea typeface="Open Sauce Heavy"/>
                <a:cs typeface="Open Sauce Heavy"/>
                <a:sym typeface="Open Sauce Heavy"/>
              </a:rPr>
              <a:t>Kesimpulan</a:t>
            </a:r>
          </a:p>
        </p:txBody>
      </p:sp>
      <p:grpSp>
        <p:nvGrpSpPr>
          <p:cNvPr name="Group 4" id="4"/>
          <p:cNvGrpSpPr/>
          <p:nvPr/>
        </p:nvGrpSpPr>
        <p:grpSpPr>
          <a:xfrm rot="0">
            <a:off x="901975" y="3061729"/>
            <a:ext cx="16357325" cy="6869898"/>
            <a:chOff x="0" y="0"/>
            <a:chExt cx="4308102" cy="1809356"/>
          </a:xfrm>
        </p:grpSpPr>
        <p:sp>
          <p:nvSpPr>
            <p:cNvPr name="Freeform 5" id="5"/>
            <p:cNvSpPr/>
            <p:nvPr/>
          </p:nvSpPr>
          <p:spPr>
            <a:xfrm flipH="false" flipV="false" rot="0">
              <a:off x="0" y="0"/>
              <a:ext cx="4308102" cy="1809356"/>
            </a:xfrm>
            <a:custGeom>
              <a:avLst/>
              <a:gdLst/>
              <a:ahLst/>
              <a:cxnLst/>
              <a:rect r="r" b="b" t="t" l="l"/>
              <a:pathLst>
                <a:path h="1809356" w="4308102">
                  <a:moveTo>
                    <a:pt x="31238" y="0"/>
                  </a:moveTo>
                  <a:lnTo>
                    <a:pt x="4276865" y="0"/>
                  </a:lnTo>
                  <a:cubicBezTo>
                    <a:pt x="4285149" y="0"/>
                    <a:pt x="4293095" y="3291"/>
                    <a:pt x="4298953" y="9149"/>
                  </a:cubicBezTo>
                  <a:cubicBezTo>
                    <a:pt x="4304811" y="15008"/>
                    <a:pt x="4308102" y="22953"/>
                    <a:pt x="4308102" y="31238"/>
                  </a:cubicBezTo>
                  <a:lnTo>
                    <a:pt x="4308102" y="1778118"/>
                  </a:lnTo>
                  <a:cubicBezTo>
                    <a:pt x="4308102" y="1795370"/>
                    <a:pt x="4294117" y="1809356"/>
                    <a:pt x="4276865" y="1809356"/>
                  </a:cubicBezTo>
                  <a:lnTo>
                    <a:pt x="31238" y="1809356"/>
                  </a:lnTo>
                  <a:cubicBezTo>
                    <a:pt x="22953" y="1809356"/>
                    <a:pt x="15008" y="1806065"/>
                    <a:pt x="9149" y="1800207"/>
                  </a:cubicBezTo>
                  <a:cubicBezTo>
                    <a:pt x="3291" y="1794348"/>
                    <a:pt x="0" y="1786403"/>
                    <a:pt x="0" y="1778118"/>
                  </a:cubicBezTo>
                  <a:lnTo>
                    <a:pt x="0" y="31238"/>
                  </a:lnTo>
                  <a:cubicBezTo>
                    <a:pt x="0" y="22953"/>
                    <a:pt x="3291" y="15008"/>
                    <a:pt x="9149" y="9149"/>
                  </a:cubicBezTo>
                  <a:cubicBezTo>
                    <a:pt x="15008" y="3291"/>
                    <a:pt x="22953" y="0"/>
                    <a:pt x="31238"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4308102" cy="1837931"/>
            </a:xfrm>
            <a:prstGeom prst="rect">
              <a:avLst/>
            </a:prstGeom>
          </p:spPr>
          <p:txBody>
            <a:bodyPr anchor="ctr" rtlCol="false" tIns="50800" lIns="50800" bIns="50800" rIns="50800"/>
            <a:lstStyle/>
            <a:p>
              <a:pPr algn="ctr">
                <a:lnSpc>
                  <a:spcPts val="2015"/>
                </a:lnSpc>
              </a:pPr>
            </a:p>
          </p:txBody>
        </p:sp>
      </p:grpSp>
      <p:sp>
        <p:nvSpPr>
          <p:cNvPr name="TextBox 7" id="7"/>
          <p:cNvSpPr txBox="true"/>
          <p:nvPr/>
        </p:nvSpPr>
        <p:spPr>
          <a:xfrm rot="0">
            <a:off x="1155653" y="3303082"/>
            <a:ext cx="15849968" cy="5854066"/>
          </a:xfrm>
          <a:prstGeom prst="rect">
            <a:avLst/>
          </a:prstGeom>
        </p:spPr>
        <p:txBody>
          <a:bodyPr anchor="t" rtlCol="false" tIns="0" lIns="0" bIns="0" rIns="0">
            <a:spAutoFit/>
          </a:bodyPr>
          <a:lstStyle/>
          <a:p>
            <a:pPr algn="l" marL="518155" indent="-259078" lvl="1">
              <a:lnSpc>
                <a:spcPts val="3359"/>
              </a:lnSpc>
              <a:buFont typeface="Arial"/>
              <a:buChar char="•"/>
            </a:pPr>
            <a:r>
              <a:rPr lang="en-US" b="true" sz="2399" spc="-112">
                <a:solidFill>
                  <a:srgbClr val="424242"/>
                </a:solidFill>
                <a:latin typeface="Open Sauce Bold"/>
                <a:ea typeface="Open Sauce Bold"/>
                <a:cs typeface="Open Sauce Bold"/>
                <a:sym typeface="Open Sauce Bold"/>
              </a:rPr>
              <a:t>Pendapatan toko fluktuatif.</a:t>
            </a:r>
          </a:p>
          <a:p>
            <a:pPr algn="l" marL="518155" indent="-259078" lvl="1">
              <a:lnSpc>
                <a:spcPts val="3359"/>
              </a:lnSpc>
              <a:buFont typeface="Arial"/>
              <a:buChar char="•"/>
            </a:pPr>
            <a:r>
              <a:rPr lang="en-US" b="true" sz="2399" spc="-112">
                <a:solidFill>
                  <a:srgbClr val="424242"/>
                </a:solidFill>
                <a:latin typeface="Open Sauce Bold"/>
                <a:ea typeface="Open Sauce Bold"/>
                <a:cs typeface="Open Sauce Bold"/>
                <a:sym typeface="Open Sauce Bold"/>
              </a:rPr>
              <a:t>Pasar memiliki preferensi kuat pada genre Sports, Sci-Fi, dan Animation, sementara genre Music dan Thriller kurang diminati. </a:t>
            </a:r>
          </a:p>
          <a:p>
            <a:pPr algn="l" marL="518155" indent="-259078" lvl="1">
              <a:lnSpc>
                <a:spcPts val="3359"/>
              </a:lnSpc>
              <a:buFont typeface="Arial"/>
              <a:buChar char="•"/>
            </a:pPr>
            <a:r>
              <a:rPr lang="en-US" b="true" sz="2399" spc="-112">
                <a:solidFill>
                  <a:srgbClr val="424242"/>
                </a:solidFill>
                <a:latin typeface="Open Sauce Bold"/>
                <a:ea typeface="Open Sauce Bold"/>
                <a:cs typeface="Open Sauce Bold"/>
                <a:sym typeface="Open Sauce Bold"/>
              </a:rPr>
              <a:t>Store 1 terbukti lebih menguntungkan dan memiliki perputaran uang yang lebih besar dibandingkan Store 2.</a:t>
            </a:r>
          </a:p>
          <a:p>
            <a:pPr algn="l" marL="518155" indent="-259078" lvl="1">
              <a:lnSpc>
                <a:spcPts val="3359"/>
              </a:lnSpc>
              <a:buFont typeface="Arial"/>
              <a:buChar char="•"/>
            </a:pPr>
            <a:r>
              <a:rPr lang="en-US" b="true" sz="2399" spc="-112">
                <a:solidFill>
                  <a:srgbClr val="424242"/>
                </a:solidFill>
                <a:latin typeface="Open Sauce Bold"/>
                <a:ea typeface="Open Sauce Bold"/>
                <a:cs typeface="Open Sauce Bold"/>
                <a:sym typeface="Open Sauce Bold"/>
              </a:rPr>
              <a:t>Perilaku pengembalian pelanggan relatif konsisten pada seluruh kategori rating film.</a:t>
            </a:r>
          </a:p>
          <a:p>
            <a:pPr algn="l" marL="518155" indent="-259078" lvl="1">
              <a:lnSpc>
                <a:spcPts val="3359"/>
              </a:lnSpc>
              <a:buFont typeface="Arial"/>
              <a:buChar char="•"/>
            </a:pPr>
            <a:r>
              <a:rPr lang="en-US" b="true" sz="2399" spc="-112">
                <a:solidFill>
                  <a:srgbClr val="424242"/>
                </a:solidFill>
                <a:latin typeface="Open Sauce Bold"/>
                <a:ea typeface="Open Sauce Bold"/>
                <a:cs typeface="Open Sauce Bold"/>
                <a:sym typeface="Open Sauce Bold"/>
              </a:rPr>
              <a:t>Pendapatan perusahaan tidak bergantung pada satu kategori rating film tertentu, meskipun PG-13 memberikan kontribusi revenue tertinggi.</a:t>
            </a:r>
          </a:p>
          <a:p>
            <a:pPr algn="l" marL="518155" indent="-259078" lvl="1">
              <a:lnSpc>
                <a:spcPts val="3359"/>
              </a:lnSpc>
              <a:buFont typeface="Arial"/>
              <a:buChar char="•"/>
            </a:pPr>
            <a:r>
              <a:rPr lang="en-US" b="true" sz="2399" spc="-112">
                <a:solidFill>
                  <a:srgbClr val="424242"/>
                </a:solidFill>
                <a:latin typeface="Open Sauce Bold"/>
                <a:ea typeface="Open Sauce Bold"/>
                <a:cs typeface="Open Sauce Bold"/>
                <a:sym typeface="Open Sauce Bold"/>
              </a:rPr>
              <a:t>India merupakan pasar utama DVD Rental dengan kontribusi transaksi dan pendapatan tertinggi, sehingga menjadi wilayah yang paling potensial untuk diprioritaskan dalam strategi pemasaran dan retensi pelanggan.</a:t>
            </a:r>
          </a:p>
          <a:p>
            <a:pPr algn="l" marL="518155" indent="-259078" lvl="1">
              <a:lnSpc>
                <a:spcPts val="3359"/>
              </a:lnSpc>
              <a:buFont typeface="Arial"/>
              <a:buChar char="•"/>
            </a:pPr>
            <a:r>
              <a:rPr lang="en-US" b="true" sz="2399" spc="-112">
                <a:solidFill>
                  <a:srgbClr val="424242"/>
                </a:solidFill>
                <a:latin typeface="Open Sauce Bold"/>
                <a:ea typeface="Open Sauce Bold"/>
                <a:cs typeface="Open Sauce Bold"/>
                <a:sym typeface="Open Sauce Bold"/>
              </a:rPr>
              <a:t>Mayoritas pelanggan berada pada segmen Silver, sementara pelanggan Gold memberikan rata-rata nilai transaksi yang lebih tinggi, sehingga penguatan program loyalitas dapat menjadi strategi efektif untuk meningkatkan pendapatan dan mempertahankan pelanggan bernilai tinggi.</a:t>
            </a:r>
          </a:p>
          <a:p>
            <a:pPr algn="l" marL="518155" indent="-259078" lvl="1">
              <a:lnSpc>
                <a:spcPts val="3359"/>
              </a:lnSpc>
              <a:buFont typeface="Arial"/>
              <a:buChar char="•"/>
            </a:pPr>
            <a:r>
              <a:rPr lang="en-US" b="true" sz="2399" spc="-112">
                <a:solidFill>
                  <a:srgbClr val="424242"/>
                </a:solidFill>
                <a:latin typeface="Open Sauce Bold"/>
                <a:ea typeface="Open Sauce Bold"/>
                <a:cs typeface="Open Sauce Bold"/>
                <a:sym typeface="Open Sauce Bold"/>
              </a:rPr>
              <a:t>Sistem denda harian berjalan linear dan adil di 3 klaster harga film.</a:t>
            </a:r>
          </a:p>
          <a:p>
            <a:pPr algn="l" marL="518155" indent="-259078" lvl="1">
              <a:lnSpc>
                <a:spcPts val="3359"/>
              </a:lnSpc>
              <a:buFont typeface="Arial"/>
              <a:buChar char="•"/>
            </a:pPr>
            <a:r>
              <a:rPr lang="en-US" b="true" sz="2399" spc="-112">
                <a:solidFill>
                  <a:srgbClr val="424242"/>
                </a:solidFill>
                <a:latin typeface="Open Sauce Bold"/>
                <a:ea typeface="Open Sauce Bold"/>
                <a:cs typeface="Open Sauce Bold"/>
                <a:sym typeface="Open Sauce Bold"/>
              </a:rPr>
              <a:t>Produktivitas staf lini depan sangat konsisten dan seimbang.</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42000"/>
            </a:blip>
            <a:stretch>
              <a:fillRect l="0" t="0" r="0" b="0"/>
            </a:stretch>
          </a:blipFill>
        </p:spPr>
      </p:sp>
      <p:sp>
        <p:nvSpPr>
          <p:cNvPr name="Freeform 3" id="3"/>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3">
              <a:alphaModFix amt="2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3692569"/>
            <a:ext cx="9672886" cy="6055133"/>
          </a:xfrm>
          <a:prstGeom prst="rect">
            <a:avLst/>
          </a:prstGeom>
        </p:spPr>
        <p:txBody>
          <a:bodyPr anchor="t" rtlCol="false" tIns="0" lIns="0" bIns="0" rIns="0">
            <a:spAutoFit/>
          </a:bodyPr>
          <a:lstStyle/>
          <a:p>
            <a:pPr algn="l">
              <a:lnSpc>
                <a:spcPts val="23095"/>
              </a:lnSpc>
            </a:pPr>
            <a:r>
              <a:rPr lang="en-US" b="true" sz="24569" spc="-1154">
                <a:solidFill>
                  <a:srgbClr val="000000"/>
                </a:solidFill>
                <a:latin typeface="Open Sauce Heavy"/>
                <a:ea typeface="Open Sauce Heavy"/>
                <a:cs typeface="Open Sauce Heavy"/>
                <a:sym typeface="Open Sauce Heav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DAHKvYW9iLc</dc:identifier>
  <dcterms:modified xsi:type="dcterms:W3CDTF">2011-08-01T06:04:30Z</dcterms:modified>
  <cp:revision>1</cp:revision>
  <dc:title>White Blue and Grey Modern Startup Pitch Deck Presentation</dc:title>
</cp:coreProperties>
</file>